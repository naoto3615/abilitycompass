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4952" cy="3200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eiryo"/>
              </a:rPr>
              <a:t>ステップアップナビ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5D5B2"/>
                </a:solidFill>
                <a:latin typeface="Meiryo"/>
              </a:rPr>
              <a:t>軽度知的障害者の就労を、テクノロジーで支援する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すべての人に、はたらく一歩を。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eiryo"/>
              </a:rPr>
              <a:t>PITCH DECK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解決する社会課題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なぜ、いま「ステップアップナビ」が必要なのか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83464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約100万人以上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日本の軽度知的障害者数（潜在含む）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283464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約40万人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就労系障害福祉サービス利用者（2023年）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283464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毎年増加中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就労継続支援A型・B型の利用者数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42316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700" b="0">
                <a:solidFill>
                  <a:srgbClr val="1A1A2E"/>
                </a:solidFill>
                <a:latin typeface="Meiryo"/>
              </a:rPr>
              <a:t>「どんな仕事に向いているかわからない」—— 就職先を選ぶ根拠が乏しい</a:t>
            </a:r>
          </a:p>
          <a:p>
            <a:pPr algn="l">
              <a:lnSpc>
                <a:spcPts val="3000"/>
              </a:lnSpc>
            </a:pPr>
            <a:r>
              <a:rPr sz="1700" b="0">
                <a:solidFill>
                  <a:srgbClr val="1A1A2E"/>
                </a:solidFill>
                <a:latin typeface="Meiryo"/>
              </a:rPr>
              <a:t>「成長の見通しが立てられない」—— 毎日の積み重ねが見えない</a:t>
            </a:r>
          </a:p>
          <a:p>
            <a:pPr algn="l">
              <a:lnSpc>
                <a:spcPts val="3000"/>
              </a:lnSpc>
            </a:pPr>
            <a:r>
              <a:rPr sz="1700" b="0">
                <a:solidFill>
                  <a:srgbClr val="1A1A2E"/>
                </a:solidFill>
                <a:latin typeface="Meiryo"/>
              </a:rPr>
              <a:t>「支援者間で情報が分断される」—— 家族・支援員・企業がバラバラに動く</a:t>
            </a:r>
          </a:p>
          <a:p>
            <a:pPr algn="l">
              <a:lnSpc>
                <a:spcPts val="3000"/>
              </a:lnSpc>
            </a:pPr>
            <a:r>
              <a:rPr sz="1700" b="0">
                <a:solidFill>
                  <a:srgbClr val="1A1A2E"/>
                </a:solidFill>
                <a:latin typeface="Meiryo"/>
              </a:rPr>
              <a:t>現状の支援は紙・口頭が中心 —— デジタル化が10年以上遅れている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669280"/>
            <a:ext cx="11521440" cy="5486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532"/>
                </a:solidFill>
                <a:latin typeface="Meiryo"/>
              </a:rPr>
              <a:t>▶  これらの課題を、ひとつのプラットフォームで解決するのが「ステップアップナビ」です。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ターゲットユーザー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誰のためのサービスか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30352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532"/>
                </a:solidFill>
                <a:latin typeface="Meiryo"/>
              </a:rPr>
              <a:t>主ユーザー（利用者本人）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軽度知的障害を持つ 18〜40代の大人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就労継続支援A型・B型の利用者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就労移行支援サービスを探している方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ひらがな表示で安心して使えるUI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5852160" cy="2286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532"/>
                </a:solidFill>
                <a:latin typeface="Meiryo"/>
              </a:rPr>
              <a:t>サブユーザー（支援者・関係者）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7373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家族（保護者）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就労支援員・作業所スタッフ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ジョブコーチ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eiryo"/>
              </a:rPr>
              <a:t>・ 就労移行支援事業所の管理者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49039"/>
            <a:ext cx="11521440" cy="246888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532"/>
                </a:solidFill>
                <a:latin typeface="Meiryo"/>
              </a:rPr>
              <a:t>市場規模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3474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約 40万人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就労系障害福祉サービス利用者（2023年）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206240"/>
            <a:ext cx="3474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約 4,000億円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800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就労移行支援市場規模（2023年）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206240"/>
            <a:ext cx="3474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2.7%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800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法定雇用率（2026年目標）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プロダクト概要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ステップアップナビとは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1152144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4532"/>
                </a:solidFill>
                <a:latin typeface="Meiryo"/>
              </a:rPr>
              <a:t>「特性診断 → 成長ロードマップ → 日々の記録 → 就職マッチング」を一気通貫でサポートするWebアプリ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68880"/>
            <a:ext cx="11521440" cy="5486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42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eiryo"/>
              </a:rPr>
              <a:t>アプリ名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42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ステップアップナビ（Step Up Navi）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40"/>
            <a:ext cx="11521440" cy="54864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363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eiryo"/>
              </a:rPr>
              <a:t>対象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1363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軽度知的障害を持つ大人 + 支援者（家族・支援員・事業所スタッフ）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11521440" cy="5486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7307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eiryo"/>
              </a:rPr>
              <a:t>技術スタック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7307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Django（Python）/ PostgreSQL / OpenAI GPT-4o-mini / Railway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51960"/>
            <a:ext cx="11521440" cy="54864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3251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eiryo"/>
              </a:rPr>
              <a:t>現在の状況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325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β版 稼働中 — Railway 本番環境にてサービス提供中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46320"/>
            <a:ext cx="11521440" cy="5486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19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eiryo"/>
              </a:rPr>
              <a:t>本番URL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9194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https://web-production-c0abe.up.railway.app/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440680"/>
            <a:ext cx="11521440" cy="54864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5138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eiryo"/>
              </a:rPr>
              <a:t>ひらがな対応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5138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全ページでひらがな ↔ 漢字切り替え（セッション保持）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主要機能（完成形）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6つのコア機能が連動する統合プラットフォーム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99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🔍  特性診断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6特性×AIで強み・課題を分析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13問のやさしい日本語で実施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399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🗺️  成長ロードマップ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仕事タイプ別3ステップ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具体的な行動指針を提示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32588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32588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99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🤖  AIアバターコーチ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自分似のアバターとAIチャット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GPT-4o-miniで個別アドバイス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1188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85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📊  支援者ダッシュボード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多角的評価・連携ノート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支援チーム間で情報共有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61188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61188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685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🏢  企業マッチング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97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地元企業との特性マッチング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福祉的就労・一般就労に対応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61188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611880"/>
            <a:ext cx="36576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685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👥  先輩事例DB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297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似た特性の先輩の就職先を紹介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就労の現実的イメージを提供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技術的差別化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RAG × AI で「あなただけのアドバイス」を実現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11521440" cy="91440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単なる診断ツールではなく、継続的な成長支援プラットフォーム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5577840" cy="17373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532"/>
                </a:solidFill>
                <a:latin typeface="Meiryo"/>
              </a:rPr>
              <a:t>個人データ ×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診断結果・日々の記録・支援者評価をベクトルDBに蓄積。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OpenAI GPT-4o-mini が「あなたの文脈」に合わせた回答を生成。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5577840" cy="17373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532"/>
                </a:solidFill>
                <a:latin typeface="Meiryo"/>
              </a:rPr>
              <a:t>pgvector で低コスト高品質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PostgreSQL 拡張の pgvector を採用。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クラウドDBコストを最小化しながら、高品質なセマンティック検索を実現。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06240"/>
            <a:ext cx="5577840" cy="17373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532"/>
                </a:solidFill>
                <a:latin typeface="Meiryo"/>
              </a:rPr>
              <a:t>フォールバック設計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APIキー未設定でもルールベースで動作。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どんな事業所でも導入ゼロコストで開始可能。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206240"/>
            <a:ext cx="5577840" cy="17373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532"/>
                </a:solidFill>
                <a:latin typeface="Meiryo"/>
              </a:rPr>
              <a:t>時系列パターン認識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感情ログ・タスク完了率の変化をAIが自動分析。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eiryo"/>
              </a:rPr>
              <a:t>「月曜日に気分が落ちやすい」などの洞察を支援者に提供。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ユーザー体験フロー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Before → After で変わる就労支援体験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029200" cy="50292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02920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BEFORE（現状の課題）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😞  「自分に向いている仕事がわからない」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📞  支援者に毎回口頭で状況を説明する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📝  紙の記録が散在し、引き継ぎが困難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😔  「成長している実感がない」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🔄  家族・支援員・企業が別々に動く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📄  デジタル記録がなく振り返れない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76F51"/>
                </a:solidFill>
                <a:latin typeface="Meiry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234440"/>
            <a:ext cx="5303520" cy="5029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234440"/>
            <a:ext cx="5303520" cy="50292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AFTER（ステップアップナビ）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✅  診断で強みが可視化される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📱  支援者と記録をリアルタイム共有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📅  進捗カレンダーで継続が見える化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🌱  毎日のタスクで成長が実感できる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🤝  支援チーム全員が同じ情報を共有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🤖  AIが個別アドバイスを24時間提供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市場機会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拡大する障害者就労支援市場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74320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約4,000億円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就労移行支援市場規模
（2023年）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34440"/>
            <a:ext cx="274320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法定雇用率の引き上げ
（2026年）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274320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+35%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就労継続支援
利用者数増加率（5年）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234440"/>
            <a:ext cx="274320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数兆円規模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アジア圏就労支援市場
（推計）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65176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📈  障害者雇用促進法改正 — 企業の法定雇用率が段階的に引き上げ（2.5%→2.7%）。
    企業側の障害者採用ニーズが急増。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🏛️  行政のデジタル化推進 — 障害福祉サービスのDX支援が国・自治体レベルで加速。
    補助金・実証事業の機会が拡大中。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🌏  海外展開可能性 — アジア圏（韓国・台湾・タイ等）でも知的障害者就労支援の
    デジタル化ニーズは高く、日本モデルの横展開が可能。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1A1A2E"/>
                </a:solidFill>
                <a:latin typeface="Meiryo"/>
              </a:rPr>
              <a:t>🤝  企業の ESG・D&amp;I 意識の高まり — 障害者雇用をブランド価値につなげたい
    企業とのマッチング需要が増加。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ビジネスモデル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3つの収益源で安定・拡張性のある事業設計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65760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💰 SaaS月額課金（事業所向け）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3657600" cy="46177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基本プラン（20名まで）：¥9,800 / 月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スタンダード（100名まで）：¥29,800 / 月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エンタープライズ：要相談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▶ 安定した月次収益（MRR）の柱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234440"/>
            <a:ext cx="3657600" cy="5486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🤝 企業マッチング手数料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828800"/>
            <a:ext cx="3657600" cy="46177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採用成立時に成功報酬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¥50,000 〜 ¥100,000 / 件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福祉的就労・一般就労の両対応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▶ 企業・利用者・事業所の三方よし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234440"/>
            <a:ext cx="3657600" cy="54864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📊 データ分析レポート（行政・研究機関向け）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1828800"/>
            <a:ext cx="3657600" cy="46177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匿名化した就労成功データの提供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厚生労働省・自治体・大学との連携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政策立案・福祉研究への貢献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▶ 社会的信頼性の向上にも寄与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収益シミュレーション（3年計画）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段階的な成長戦略と売上見通し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80160"/>
          <a:ext cx="11521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1年目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2年目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3年目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導入事業所数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10所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50所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200所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SaaS月額収入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98万円/月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490万円/月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1,960万円/月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マッチング収入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50万円/年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500万円/年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3,000万円/年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年間売上（合計）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約1,200万円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約6,400万円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Meiryo"/>
                        </a:rPr>
                        <a:t>約2.65億円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886200"/>
            <a:ext cx="365760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977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約2.65億円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3年目 年間売上目標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886200"/>
            <a:ext cx="365760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977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200所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3年目 導入事業所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3886200"/>
            <a:ext cx="365760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3977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98万円〜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事業所あたり
平均月額収入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66360"/>
            <a:ext cx="11521440" cy="6400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Meiryo"/>
              </a:rPr>
              <a:t>※ 収益は SaaS 月額 × 導入事業所数 + マッチング成功報酬の積み上げ。エンタープライズ契約・行政案件は含まず。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競合比較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ステップアップナビが持つ唯一無二の強み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3444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比較項目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ステップアップナビ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既存支援ツール
（紙・Excel）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一般就活アプリ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知的障害者特化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AI個別アドバイス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支援者連携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企業マッチング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ひらがな対応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成長ロードマップ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✅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❌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月額コスト（事業所）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低（SaaS）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0（非効率）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Meiryo"/>
                        </a:rPr>
                        <a:t>中〜高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開発ロードマップ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フェーズ別の資金使途と機能展開計画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743200" cy="68580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現在
稼働中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65960"/>
            <a:ext cx="2743200" cy="3931920"/>
          </a:xfrm>
          <a:prstGeom prst="rect">
            <a:avLst/>
          </a:prstGeom>
          <a:solidFill>
            <a:srgbClr val="F8FAF8"/>
          </a:solidFill>
          <a:ln w="19050">
            <a:solidFill>
              <a:srgbClr val="1B4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✅ 特性診断（6特性・13問）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✅ 成長ロードマップ（3ステップ）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✅ AIアバターチャット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✅ 支援者ダッシュボード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✅ Railway本番稼働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349240"/>
            <a:ext cx="2743200" cy="45720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3766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β版稼働中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74320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280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フェーズ2
〜6ヶ月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965960"/>
            <a:ext cx="2743200" cy="3931920"/>
          </a:xfrm>
          <a:prstGeom prst="rect">
            <a:avLst/>
          </a:prstGeom>
          <a:solidFill>
            <a:srgbClr val="F8FAF8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◎ 支援者評価レーダーチャート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◎ 進捗カレンダー・ストリーク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◎ 支援者間連携ノート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◎ 先輩事例データベース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◎ ルーティンチェックリスト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5349240"/>
            <a:ext cx="274320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53766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必要資金：500万円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34440"/>
            <a:ext cx="2743200" cy="685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280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フェーズ3
〜12ヶ月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2743200" cy="3931920"/>
          </a:xfrm>
          <a:prstGeom prst="rect">
            <a:avLst/>
          </a:prstGeom>
          <a:solidFill>
            <a:srgbClr val="F8FAF8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0574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△ RAG実装（pgvector）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△ AI時系列パターン分析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△ 職場ロールプレイ練習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企業マッチング機能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多職種連携プラットフォーム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5349240"/>
            <a:ext cx="2743200" cy="4572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3766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必要資金：1,500万円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234440"/>
            <a:ext cx="2743200" cy="6858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280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フェーズ4
〜24ヶ月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965960"/>
            <a:ext cx="2743200" cy="3931920"/>
          </a:xfrm>
          <a:prstGeom prst="rect">
            <a:avLst/>
          </a:prstGeom>
          <a:solidFill>
            <a:srgbClr val="F8FAF8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0574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地元企業タイアップ展開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スマートフォンアプリ化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アジア圏への海外展開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行政・研究機関データ提供</a:t>
            </a: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1A1A2E"/>
                </a:solidFill>
                <a:latin typeface="Meiryo"/>
              </a:rPr>
              <a:t>◇ 多言語対応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5349240"/>
            <a:ext cx="2743200" cy="457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53766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必要資金：5,000万円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チーム・開発体制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現場の声を反映し続ける開発チーム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21945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532"/>
                </a:solidFill>
                <a:latin typeface="Meiryo"/>
              </a:rPr>
              <a:t>👤  プロダクトオーナー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就労支援現場 10年以上の経験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利用者・支援者の声を直接収集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プロダクト戦略・事業開発担当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577840" cy="21945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532"/>
                </a:solidFill>
                <a:latin typeface="Meiryo"/>
              </a:rPr>
              <a:t>💻  テックリード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Python / Django / AI実装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OpenAI API × pgvector 設計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Railway インフラ・CI/CD 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57600"/>
            <a:ext cx="5577840" cy="21945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532"/>
                </a:solidFill>
                <a:latin typeface="Meiryo"/>
              </a:rPr>
              <a:t>🏥  福祉専門家アドバイザー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社会福祉士・精神保健福祉士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就労支援プログラムの監修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ユーザーテスト・フィードバック収集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5577840" cy="219456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4532"/>
                </a:solidFill>
                <a:latin typeface="Meiryo"/>
              </a:rPr>
              <a:t>📊  ビジネス開発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事業所・企業との連携交渉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行政・補助金申請サポート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Meiryo"/>
              </a:rPr>
              <a:t>・ マーケティング・PR戦略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126480"/>
            <a:ext cx="11521440" cy="45720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539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「障害のある方の現場経験」と「最先端AI技術」を掛け合わせた開発体制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82880"/>
            <a:ext cx="11731752" cy="822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5486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532"/>
                </a:solidFill>
                <a:latin typeface="Meiryo"/>
              </a:rPr>
              <a:t>求める支援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Meiryo"/>
              </a:rPr>
              <a:t>シードラウンドで実現すること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Meiryo"/>
              </a:rPr>
              <a:t>ステップアップナビ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11521440" cy="118872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資金調達目標：シードラウンド  3,000万円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D5B2"/>
                </a:solidFill>
                <a:latin typeface="Meiryo"/>
              </a:rPr>
              <a:t>（エクイティ / 補助金 / 融資の組み合わせ対応可）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34440"/>
            <a:ext cx="356616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3,000万円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4532"/>
                </a:solidFill>
                <a:latin typeface="Meiryo"/>
              </a:rPr>
              <a:t>シードラウンド目標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532"/>
                </a:solidFill>
                <a:latin typeface="Meiryo"/>
              </a:rPr>
              <a:t>【資金使途】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71800"/>
            <a:ext cx="1152144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035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Meiryo"/>
              </a:rPr>
              <a:t>開発人員強化（50%）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35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エンジニア2名採用・フリーランス連携強化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74720"/>
            <a:ext cx="1152144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38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Meiryo"/>
              </a:rPr>
              <a:t>事業所トライアル提供（20%）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538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初期50事業所に3ヶ月無料導入・改善フィードバック収集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77640"/>
            <a:ext cx="1152144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Meiryo"/>
              </a:rPr>
              <a:t>マーケティング（15%）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041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福祉業界メディア・展示会への出展・PR活動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80560"/>
            <a:ext cx="1152144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44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Meiryo"/>
              </a:rPr>
              <a:t>インフラ・AIコスト（10%）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44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Railway本番スケール・OpenAI API費用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83480"/>
            <a:ext cx="1152144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047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Meiryo"/>
              </a:rPr>
              <a:t>法務・コンプライアンス（5%）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0474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"/>
              </a:rPr>
              <a:t>個人情報保護・障害福祉関連法規対応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77840"/>
            <a:ext cx="11521440" cy="731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532"/>
                </a:solidFill>
                <a:latin typeface="Meiryo"/>
              </a:rPr>
              <a:t>資金以外に求めるもの：  就労支援事業所とのネットワーク  ／  地元企業との連携  ／  福祉・医療の専門知識・人脈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4952" cy="3657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5D5B2"/>
                </a:solidFill>
                <a:latin typeface="Meiryo"/>
              </a:rPr>
              <a:t>ビジョン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eiryo"/>
              </a:rPr>
              <a:t>障害のある方が、
自分らしくはたらける社会へ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5029200" cy="182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Meiryo"/>
              </a:rPr>
              <a:t>3年後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"/>
              </a:rPr>
              <a:t>全国の就労支援事業所の 10% に導入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"/>
              </a:rPr>
              <a:t>年間売上 約2.65億円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926080"/>
            <a:ext cx="5029200" cy="182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017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Meiryo"/>
              </a:rPr>
              <a:t>5年後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74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"/>
              </a:rPr>
              <a:t>アジア圏（韓国・台湾・タイ等）への海外展開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"/>
              </a:rPr>
              <a:t>利用者 10万人突破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一人ひとりの『はたらく一歩』を、テクノロジーで支える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eiryo"/>
              </a:rPr>
              <a:t>ステップアップナビ  |  https://web-production-c0abe.up.railway.app/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