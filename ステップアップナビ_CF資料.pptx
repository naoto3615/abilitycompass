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0058400" y="-914400"/>
            <a:ext cx="2743200" cy="2743200"/>
          </a:xfrm>
          <a:prstGeom prst="ellipse">
            <a:avLst/>
          </a:prstGeom>
          <a:solidFill>
            <a:srgbClr val="10B981">
              <a:alpha val="9999"/>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0" y="594360"/>
            <a:ext cx="2130552" cy="1005840"/>
          </a:xfrm>
          <a:prstGeom prst="rect">
            <a:avLst/>
          </a:prstGeom>
          <a:noFill/>
        </p:spPr>
        <p:txBody>
          <a:bodyPr wrap="square">
            <a:spAutoFit/>
          </a:bodyPr>
          <a:lstStyle/>
          <a:p>
            <a:pPr algn="ctr"/>
            <a:r>
              <a:rPr sz="6400" b="0">
                <a:solidFill>
                  <a:srgbClr val="F8FAFC"/>
                </a:solidFill>
                <a:latin typeface="Meiryo"/>
              </a:rPr>
              <a:t>🌱</a:t>
            </a:r>
          </a:p>
        </p:txBody>
      </p:sp>
      <p:sp>
        <p:nvSpPr>
          <p:cNvPr id="5" name="TextBox 4"/>
          <p:cNvSpPr txBox="1"/>
          <p:nvPr/>
        </p:nvSpPr>
        <p:spPr>
          <a:xfrm>
            <a:off x="1371600" y="1691640"/>
            <a:ext cx="9445752" cy="914400"/>
          </a:xfrm>
          <a:prstGeom prst="rect">
            <a:avLst/>
          </a:prstGeom>
          <a:noFill/>
        </p:spPr>
        <p:txBody>
          <a:bodyPr wrap="square">
            <a:spAutoFit/>
          </a:bodyPr>
          <a:lstStyle/>
          <a:p>
            <a:pPr algn="ctr"/>
            <a:r>
              <a:rPr sz="4400" b="1">
                <a:solidFill>
                  <a:srgbClr val="10B981"/>
                </a:solidFill>
                <a:latin typeface="Meiryo"/>
              </a:rPr>
              <a:t>ステップアップナビ</a:t>
            </a:r>
          </a:p>
        </p:txBody>
      </p:sp>
      <p:sp>
        <p:nvSpPr>
          <p:cNvPr id="6" name="TextBox 5"/>
          <p:cNvSpPr txBox="1"/>
          <p:nvPr/>
        </p:nvSpPr>
        <p:spPr>
          <a:xfrm>
            <a:off x="914400" y="2788920"/>
            <a:ext cx="10360152" cy="777240"/>
          </a:xfrm>
          <a:prstGeom prst="rect">
            <a:avLst/>
          </a:prstGeom>
          <a:noFill/>
        </p:spPr>
        <p:txBody>
          <a:bodyPr wrap="square">
            <a:spAutoFit/>
          </a:bodyPr>
          <a:lstStyle/>
          <a:p>
            <a:pPr algn="ctr"/>
            <a:r>
              <a:rPr sz="2000" b="0">
                <a:solidFill>
                  <a:srgbClr val="CBD5E1"/>
                </a:solidFill>
                <a:latin typeface="Meiryo"/>
              </a:rPr>
              <a:t>障害のある方の『はたらく一歩』を支えるアプリを、一緒に作ってください</a:t>
            </a:r>
          </a:p>
        </p:txBody>
      </p:sp>
      <p:sp>
        <p:nvSpPr>
          <p:cNvPr id="7" name="Rectangle 6"/>
          <p:cNvSpPr/>
          <p:nvPr/>
        </p:nvSpPr>
        <p:spPr>
          <a:xfrm>
            <a:off x="3383280" y="5669280"/>
            <a:ext cx="5422392" cy="50292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429000" y="5669280"/>
            <a:ext cx="5330952" cy="502920"/>
          </a:xfrm>
          <a:prstGeom prst="rect">
            <a:avLst/>
          </a:prstGeom>
          <a:noFill/>
        </p:spPr>
        <p:txBody>
          <a:bodyPr wrap="square">
            <a:spAutoFit/>
          </a:bodyPr>
          <a:lstStyle/>
          <a:p>
            <a:pPr algn="ctr"/>
            <a:r>
              <a:rPr sz="1400" b="1">
                <a:solidFill>
                  <a:srgbClr val="0F172A"/>
                </a:solidFill>
                <a:latin typeface="Meiryo"/>
              </a:rPr>
              <a:t>Readyfor クラウドファンディング プロジェクト</a:t>
            </a:r>
          </a:p>
        </p:txBody>
      </p:sp>
      <p:sp>
        <p:nvSpPr>
          <p:cNvPr id="9" name="TextBox 8"/>
          <p:cNvSpPr txBox="1"/>
          <p:nvPr/>
        </p:nvSpPr>
        <p:spPr>
          <a:xfrm>
            <a:off x="9601200" y="6492240"/>
            <a:ext cx="2468880" cy="320040"/>
          </a:xfrm>
          <a:prstGeom prst="rect">
            <a:avLst/>
          </a:prstGeom>
          <a:noFill/>
        </p:spPr>
        <p:txBody>
          <a:bodyPr wrap="square">
            <a:spAutoFit/>
          </a:bodyPr>
          <a:lstStyle/>
          <a:p>
            <a:pPr algn="r"/>
            <a:r>
              <a:rPr sz="800" b="0">
                <a:solidFill>
                  <a:srgbClr val="94A3B8"/>
                </a:solidFill>
                <a:latin typeface="Meiryo"/>
              </a:rPr>
              <a:t>🌱 ステップアップナビ</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0058400" y="-914400"/>
            <a:ext cx="2743200" cy="2743200"/>
          </a:xfrm>
          <a:prstGeom prst="ellipse">
            <a:avLst/>
          </a:prstGeom>
          <a:solidFill>
            <a:srgbClr val="10B981">
              <a:alpha val="9999"/>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274320" y="201168"/>
            <a:ext cx="73152" cy="475488"/>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38912" y="201168"/>
            <a:ext cx="9144000" cy="548640"/>
          </a:xfrm>
          <a:prstGeom prst="rect">
            <a:avLst/>
          </a:prstGeom>
          <a:noFill/>
        </p:spPr>
        <p:txBody>
          <a:bodyPr wrap="square">
            <a:spAutoFit/>
          </a:bodyPr>
          <a:lstStyle/>
          <a:p>
            <a:pPr algn="l"/>
            <a:r>
              <a:rPr sz="2800" b="1">
                <a:solidFill>
                  <a:srgbClr val="F8FAFC"/>
                </a:solidFill>
                <a:latin typeface="Meiryo"/>
              </a:rPr>
              <a:t>このプロジェクトで解決したいこと</a:t>
            </a:r>
          </a:p>
        </p:txBody>
      </p:sp>
      <p:sp>
        <p:nvSpPr>
          <p:cNvPr id="6" name="TextBox 5"/>
          <p:cNvSpPr txBox="1"/>
          <p:nvPr/>
        </p:nvSpPr>
        <p:spPr>
          <a:xfrm>
            <a:off x="438912" y="777240"/>
            <a:ext cx="10058400" cy="365760"/>
          </a:xfrm>
          <a:prstGeom prst="rect">
            <a:avLst/>
          </a:prstGeom>
          <a:noFill/>
        </p:spPr>
        <p:txBody>
          <a:bodyPr wrap="square">
            <a:spAutoFit/>
          </a:bodyPr>
          <a:lstStyle/>
          <a:p>
            <a:pPr algn="l"/>
            <a:r>
              <a:rPr sz="1600" b="0">
                <a:solidFill>
                  <a:srgbClr val="10B981"/>
                </a:solidFill>
                <a:latin typeface="Meiryo"/>
              </a:rPr>
              <a:t>現場で起きているリアルな困りごと</a:t>
            </a:r>
          </a:p>
        </p:txBody>
      </p:sp>
      <p:sp>
        <p:nvSpPr>
          <p:cNvPr id="7" name="TextBox 6"/>
          <p:cNvSpPr txBox="1"/>
          <p:nvPr/>
        </p:nvSpPr>
        <p:spPr>
          <a:xfrm>
            <a:off x="9601200" y="6492240"/>
            <a:ext cx="2468880" cy="320040"/>
          </a:xfrm>
          <a:prstGeom prst="rect">
            <a:avLst/>
          </a:prstGeom>
          <a:noFill/>
        </p:spPr>
        <p:txBody>
          <a:bodyPr wrap="square">
            <a:spAutoFit/>
          </a:bodyPr>
          <a:lstStyle/>
          <a:p>
            <a:pPr algn="r"/>
            <a:r>
              <a:rPr sz="800" b="0">
                <a:solidFill>
                  <a:srgbClr val="94A3B8"/>
                </a:solidFill>
                <a:latin typeface="Meiryo"/>
              </a:rPr>
              <a:t>🌱 ステップアップナビ</a:t>
            </a:r>
          </a:p>
        </p:txBody>
      </p:sp>
      <p:sp>
        <p:nvSpPr>
          <p:cNvPr id="8" name="Rectangle 7"/>
          <p:cNvSpPr/>
          <p:nvPr/>
        </p:nvSpPr>
        <p:spPr>
          <a:xfrm>
            <a:off x="320040" y="1188720"/>
            <a:ext cx="11521440" cy="640080"/>
          </a:xfrm>
          <a:prstGeom prst="rect">
            <a:avLst/>
          </a:prstGeom>
          <a:solidFill>
            <a:srgbClr val="1E293B"/>
          </a:solidFill>
          <a:ln w="15240">
            <a:solidFill>
              <a:srgbClr val="104A3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 y="1252728"/>
            <a:ext cx="11247120" cy="530352"/>
          </a:xfrm>
          <a:prstGeom prst="rect">
            <a:avLst/>
          </a:prstGeom>
          <a:noFill/>
        </p:spPr>
        <p:txBody>
          <a:bodyPr wrap="square">
            <a:spAutoFit/>
          </a:bodyPr>
          <a:lstStyle/>
          <a:p>
            <a:pPr algn="ctr"/>
            <a:r>
              <a:rPr sz="1500" b="1">
                <a:solidFill>
                  <a:srgbClr val="10B981"/>
                </a:solidFill>
                <a:latin typeface="Meiryo"/>
              </a:rPr>
              <a:t>「自分に何が向いているかわからないまま、就職活動に臨んでいる方がいます。」</a:t>
            </a:r>
          </a:p>
        </p:txBody>
      </p:sp>
      <p:sp>
        <p:nvSpPr>
          <p:cNvPr id="10" name="Rectangle 9"/>
          <p:cNvSpPr/>
          <p:nvPr/>
        </p:nvSpPr>
        <p:spPr>
          <a:xfrm>
            <a:off x="320040" y="1965960"/>
            <a:ext cx="5577840" cy="1828800"/>
          </a:xfrm>
          <a:prstGeom prst="rect">
            <a:avLst/>
          </a:prstGeom>
          <a:solidFill>
            <a:srgbClr val="1E293B"/>
          </a:solidFill>
          <a:ln w="15240">
            <a:solidFill>
              <a:srgbClr val="104A3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320040" y="1965960"/>
            <a:ext cx="5577840" cy="411480"/>
          </a:xfrm>
          <a:prstGeom prst="rect">
            <a:avLst/>
          </a:prstGeom>
          <a:solidFill>
            <a:srgbClr val="104A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7200" y="2011680"/>
            <a:ext cx="5303520" cy="347472"/>
          </a:xfrm>
          <a:prstGeom prst="rect">
            <a:avLst/>
          </a:prstGeom>
          <a:noFill/>
        </p:spPr>
        <p:txBody>
          <a:bodyPr wrap="square">
            <a:spAutoFit/>
          </a:bodyPr>
          <a:lstStyle/>
          <a:p>
            <a:pPr algn="l"/>
            <a:r>
              <a:rPr sz="1400" b="1">
                <a:solidFill>
                  <a:srgbClr val="10B981"/>
                </a:solidFill>
                <a:latin typeface="Meiryo"/>
              </a:rPr>
              <a:t>😕  利用者本人の声</a:t>
            </a:r>
          </a:p>
        </p:txBody>
      </p:sp>
      <p:sp>
        <p:nvSpPr>
          <p:cNvPr id="13" name="TextBox 12"/>
          <p:cNvSpPr txBox="1"/>
          <p:nvPr/>
        </p:nvSpPr>
        <p:spPr>
          <a:xfrm>
            <a:off x="457200" y="2468880"/>
            <a:ext cx="5303520" cy="1188720"/>
          </a:xfrm>
          <a:prstGeom prst="rect">
            <a:avLst/>
          </a:prstGeom>
          <a:noFill/>
        </p:spPr>
        <p:txBody>
          <a:bodyPr wrap="square">
            <a:spAutoFit/>
          </a:bodyPr>
          <a:lstStyle/>
          <a:p>
            <a:pPr algn="l">
              <a:lnSpc>
                <a:spcPts val="2200"/>
              </a:lnSpc>
            </a:pPr>
            <a:r>
              <a:rPr sz="1300" b="0">
                <a:solidFill>
                  <a:srgbClr val="CBD5E1"/>
                </a:solidFill>
                <a:latin typeface="Meiryo"/>
              </a:rPr>
              <a:t>「どんな仕事に向いているかわからない」——</a:t>
            </a:r>
          </a:p>
          <a:p>
            <a:pPr algn="l">
              <a:lnSpc>
                <a:spcPts val="2200"/>
              </a:lnSpc>
            </a:pPr>
            <a:r>
              <a:rPr sz="1300" b="0">
                <a:solidFill>
                  <a:srgbClr val="CBD5E1"/>
                </a:solidFill>
                <a:latin typeface="Meiryo"/>
              </a:rPr>
              <a:t>就職先を選ぶ根拠がなく、不安なまま就活に臨んでいます。</a:t>
            </a:r>
          </a:p>
        </p:txBody>
      </p:sp>
      <p:sp>
        <p:nvSpPr>
          <p:cNvPr id="14" name="Rectangle 13"/>
          <p:cNvSpPr/>
          <p:nvPr/>
        </p:nvSpPr>
        <p:spPr>
          <a:xfrm>
            <a:off x="6263640" y="1965960"/>
            <a:ext cx="5577840" cy="1828800"/>
          </a:xfrm>
          <a:prstGeom prst="rect">
            <a:avLst/>
          </a:prstGeom>
          <a:solidFill>
            <a:srgbClr val="1E293B"/>
          </a:solidFill>
          <a:ln w="15240">
            <a:solidFill>
              <a:srgbClr val="104A3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263640" y="1965960"/>
            <a:ext cx="5577840" cy="411480"/>
          </a:xfrm>
          <a:prstGeom prst="rect">
            <a:avLst/>
          </a:prstGeom>
          <a:solidFill>
            <a:srgbClr val="104A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0" y="2011680"/>
            <a:ext cx="5303520" cy="347472"/>
          </a:xfrm>
          <a:prstGeom prst="rect">
            <a:avLst/>
          </a:prstGeom>
          <a:noFill/>
        </p:spPr>
        <p:txBody>
          <a:bodyPr wrap="square">
            <a:spAutoFit/>
          </a:bodyPr>
          <a:lstStyle/>
          <a:p>
            <a:pPr algn="l"/>
            <a:r>
              <a:rPr sz="1400" b="1">
                <a:solidFill>
                  <a:srgbClr val="10B981"/>
                </a:solidFill>
                <a:latin typeface="Meiryo"/>
              </a:rPr>
              <a:t>🤔  支援者（家族・支援員）の声</a:t>
            </a:r>
          </a:p>
        </p:txBody>
      </p:sp>
      <p:sp>
        <p:nvSpPr>
          <p:cNvPr id="17" name="TextBox 16"/>
          <p:cNvSpPr txBox="1"/>
          <p:nvPr/>
        </p:nvSpPr>
        <p:spPr>
          <a:xfrm>
            <a:off x="6400800" y="2468880"/>
            <a:ext cx="5303520" cy="1188720"/>
          </a:xfrm>
          <a:prstGeom prst="rect">
            <a:avLst/>
          </a:prstGeom>
          <a:noFill/>
        </p:spPr>
        <p:txBody>
          <a:bodyPr wrap="square">
            <a:spAutoFit/>
          </a:bodyPr>
          <a:lstStyle/>
          <a:p>
            <a:pPr algn="l">
              <a:lnSpc>
                <a:spcPts val="2200"/>
              </a:lnSpc>
            </a:pPr>
            <a:r>
              <a:rPr sz="1300" b="0">
                <a:solidFill>
                  <a:srgbClr val="CBD5E1"/>
                </a:solidFill>
                <a:latin typeface="Meiryo"/>
              </a:rPr>
              <a:t>「何をどう教えればいいか、手探りです」——</a:t>
            </a:r>
          </a:p>
          <a:p>
            <a:pPr algn="l">
              <a:lnSpc>
                <a:spcPts val="2200"/>
              </a:lnSpc>
            </a:pPr>
            <a:r>
              <a:rPr sz="1300" b="0">
                <a:solidFill>
                  <a:srgbClr val="CBD5E1"/>
                </a:solidFill>
                <a:latin typeface="Meiryo"/>
              </a:rPr>
              <a:t>個別に合わせた支援の方法がわからず、疲弊しています。</a:t>
            </a:r>
          </a:p>
        </p:txBody>
      </p:sp>
      <p:sp>
        <p:nvSpPr>
          <p:cNvPr id="18" name="Rectangle 17"/>
          <p:cNvSpPr/>
          <p:nvPr/>
        </p:nvSpPr>
        <p:spPr>
          <a:xfrm>
            <a:off x="320040" y="3977640"/>
            <a:ext cx="5577840" cy="1828800"/>
          </a:xfrm>
          <a:prstGeom prst="rect">
            <a:avLst/>
          </a:prstGeom>
          <a:solidFill>
            <a:srgbClr val="1E293B"/>
          </a:solidFill>
          <a:ln w="15240">
            <a:solidFill>
              <a:srgbClr val="104A3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320040" y="3977640"/>
            <a:ext cx="5577840" cy="411480"/>
          </a:xfrm>
          <a:prstGeom prst="rect">
            <a:avLst/>
          </a:prstGeom>
          <a:solidFill>
            <a:srgbClr val="104A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57200" y="4023360"/>
            <a:ext cx="5303520" cy="347472"/>
          </a:xfrm>
          <a:prstGeom prst="rect">
            <a:avLst/>
          </a:prstGeom>
          <a:noFill/>
        </p:spPr>
        <p:txBody>
          <a:bodyPr wrap="square">
            <a:spAutoFit/>
          </a:bodyPr>
          <a:lstStyle/>
          <a:p>
            <a:pPr algn="l"/>
            <a:r>
              <a:rPr sz="1400" b="1">
                <a:solidFill>
                  <a:srgbClr val="10B981"/>
                </a:solidFill>
                <a:latin typeface="Meiryo"/>
              </a:rPr>
              <a:t>📝  現場の課題</a:t>
            </a:r>
          </a:p>
        </p:txBody>
      </p:sp>
      <p:sp>
        <p:nvSpPr>
          <p:cNvPr id="21" name="TextBox 20"/>
          <p:cNvSpPr txBox="1"/>
          <p:nvPr/>
        </p:nvSpPr>
        <p:spPr>
          <a:xfrm>
            <a:off x="457200" y="4480560"/>
            <a:ext cx="5303520" cy="1188720"/>
          </a:xfrm>
          <a:prstGeom prst="rect">
            <a:avLst/>
          </a:prstGeom>
          <a:noFill/>
        </p:spPr>
        <p:txBody>
          <a:bodyPr wrap="square">
            <a:spAutoFit/>
          </a:bodyPr>
          <a:lstStyle/>
          <a:p>
            <a:pPr algn="l">
              <a:lnSpc>
                <a:spcPts val="2200"/>
              </a:lnSpc>
            </a:pPr>
            <a:r>
              <a:rPr sz="1300" b="0">
                <a:solidFill>
                  <a:srgbClr val="CBD5E1"/>
                </a:solidFill>
                <a:latin typeface="Meiryo"/>
              </a:rPr>
              <a:t>紙とExcelで管理される支援記録——</a:t>
            </a:r>
          </a:p>
          <a:p>
            <a:pPr algn="l">
              <a:lnSpc>
                <a:spcPts val="2200"/>
              </a:lnSpc>
            </a:pPr>
            <a:r>
              <a:rPr sz="1300" b="0">
                <a:solidFill>
                  <a:srgbClr val="CBD5E1"/>
                </a:solidFill>
                <a:latin typeface="Meiryo"/>
              </a:rPr>
              <a:t>情報が共有されず、引き継ぎのたびに記録が途切れます。</a:t>
            </a:r>
          </a:p>
        </p:txBody>
      </p:sp>
      <p:sp>
        <p:nvSpPr>
          <p:cNvPr id="22" name="Rectangle 21"/>
          <p:cNvSpPr/>
          <p:nvPr/>
        </p:nvSpPr>
        <p:spPr>
          <a:xfrm>
            <a:off x="6263640" y="3977640"/>
            <a:ext cx="5577840" cy="1828800"/>
          </a:xfrm>
          <a:prstGeom prst="rect">
            <a:avLst/>
          </a:prstGeom>
          <a:solidFill>
            <a:srgbClr val="1E293B"/>
          </a:solidFill>
          <a:ln w="15240">
            <a:solidFill>
              <a:srgbClr val="104A3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63640" y="3977640"/>
            <a:ext cx="5577840" cy="411480"/>
          </a:xfrm>
          <a:prstGeom prst="rect">
            <a:avLst/>
          </a:prstGeom>
          <a:solidFill>
            <a:srgbClr val="104A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00800" y="4023360"/>
            <a:ext cx="5303520" cy="347472"/>
          </a:xfrm>
          <a:prstGeom prst="rect">
            <a:avLst/>
          </a:prstGeom>
          <a:noFill/>
        </p:spPr>
        <p:txBody>
          <a:bodyPr wrap="square">
            <a:spAutoFit/>
          </a:bodyPr>
          <a:lstStyle/>
          <a:p>
            <a:pPr algn="l"/>
            <a:r>
              <a:rPr sz="1400" b="1">
                <a:solidFill>
                  <a:srgbClr val="10B981"/>
                </a:solidFill>
                <a:latin typeface="Meiryo"/>
              </a:rPr>
              <a:t>💡  可能性</a:t>
            </a:r>
          </a:p>
        </p:txBody>
      </p:sp>
      <p:sp>
        <p:nvSpPr>
          <p:cNvPr id="25" name="TextBox 24"/>
          <p:cNvSpPr txBox="1"/>
          <p:nvPr/>
        </p:nvSpPr>
        <p:spPr>
          <a:xfrm>
            <a:off x="6400800" y="4480560"/>
            <a:ext cx="5303520" cy="1188720"/>
          </a:xfrm>
          <a:prstGeom prst="rect">
            <a:avLst/>
          </a:prstGeom>
          <a:noFill/>
        </p:spPr>
        <p:txBody>
          <a:bodyPr wrap="square">
            <a:spAutoFit/>
          </a:bodyPr>
          <a:lstStyle/>
          <a:p>
            <a:pPr algn="l">
              <a:lnSpc>
                <a:spcPts val="2200"/>
              </a:lnSpc>
            </a:pPr>
            <a:r>
              <a:rPr sz="1300" b="0">
                <a:solidFill>
                  <a:srgbClr val="CBD5E1"/>
                </a:solidFill>
                <a:latin typeface="Meiryo"/>
              </a:rPr>
              <a:t>テクノロジーを使えば、もっと一人ひとりに合った支援ができるはず。</a:t>
            </a:r>
          </a:p>
          <a:p>
            <a:pPr algn="l">
              <a:lnSpc>
                <a:spcPts val="2200"/>
              </a:lnSpc>
            </a:pPr>
            <a:r>
              <a:rPr sz="1300" b="0">
                <a:solidFill>
                  <a:srgbClr val="CBD5E1"/>
                </a:solidFill>
                <a:latin typeface="Meiryo"/>
              </a:rPr>
              <a:t>それをカタチにしたのが「ステップアップナビ」です。</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0058400" y="-914400"/>
            <a:ext cx="2743200" cy="2743200"/>
          </a:xfrm>
          <a:prstGeom prst="ellipse">
            <a:avLst/>
          </a:prstGeom>
          <a:solidFill>
            <a:srgbClr val="10B981">
              <a:alpha val="9999"/>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274320" y="201168"/>
            <a:ext cx="73152" cy="475488"/>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38912" y="201168"/>
            <a:ext cx="9144000" cy="548640"/>
          </a:xfrm>
          <a:prstGeom prst="rect">
            <a:avLst/>
          </a:prstGeom>
          <a:noFill/>
        </p:spPr>
        <p:txBody>
          <a:bodyPr wrap="square">
            <a:spAutoFit/>
          </a:bodyPr>
          <a:lstStyle/>
          <a:p>
            <a:pPr algn="l"/>
            <a:r>
              <a:rPr sz="2800" b="1">
                <a:solidFill>
                  <a:srgbClr val="F8FAFC"/>
                </a:solidFill>
                <a:latin typeface="Meiryo"/>
              </a:rPr>
              <a:t>解決策 — ステップアップナビとは</a:t>
            </a:r>
          </a:p>
        </p:txBody>
      </p:sp>
      <p:sp>
        <p:nvSpPr>
          <p:cNvPr id="6" name="TextBox 5"/>
          <p:cNvSpPr txBox="1"/>
          <p:nvPr/>
        </p:nvSpPr>
        <p:spPr>
          <a:xfrm>
            <a:off x="438912" y="777240"/>
            <a:ext cx="10058400" cy="365760"/>
          </a:xfrm>
          <a:prstGeom prst="rect">
            <a:avLst/>
          </a:prstGeom>
          <a:noFill/>
        </p:spPr>
        <p:txBody>
          <a:bodyPr wrap="square">
            <a:spAutoFit/>
          </a:bodyPr>
          <a:lstStyle/>
          <a:p>
            <a:pPr algn="l"/>
            <a:r>
              <a:rPr sz="1600" b="0">
                <a:solidFill>
                  <a:srgbClr val="10B981"/>
                </a:solidFill>
                <a:latin typeface="Meiryo"/>
              </a:rPr>
              <a:t>「はたらく一歩」を一気通貫でサポートするWebアプリ</a:t>
            </a:r>
          </a:p>
        </p:txBody>
      </p:sp>
      <p:sp>
        <p:nvSpPr>
          <p:cNvPr id="7" name="TextBox 6"/>
          <p:cNvSpPr txBox="1"/>
          <p:nvPr/>
        </p:nvSpPr>
        <p:spPr>
          <a:xfrm>
            <a:off x="9601200" y="6492240"/>
            <a:ext cx="2468880" cy="320040"/>
          </a:xfrm>
          <a:prstGeom prst="rect">
            <a:avLst/>
          </a:prstGeom>
          <a:noFill/>
        </p:spPr>
        <p:txBody>
          <a:bodyPr wrap="square">
            <a:spAutoFit/>
          </a:bodyPr>
          <a:lstStyle/>
          <a:p>
            <a:pPr algn="r"/>
            <a:r>
              <a:rPr sz="800" b="0">
                <a:solidFill>
                  <a:srgbClr val="94A3B8"/>
                </a:solidFill>
                <a:latin typeface="Meiryo"/>
              </a:rPr>
              <a:t>🌱 ステップアップナビ</a:t>
            </a:r>
          </a:p>
        </p:txBody>
      </p:sp>
      <p:sp>
        <p:nvSpPr>
          <p:cNvPr id="8" name="Rectangle 7"/>
          <p:cNvSpPr/>
          <p:nvPr/>
        </p:nvSpPr>
        <p:spPr>
          <a:xfrm>
            <a:off x="320040" y="1188720"/>
            <a:ext cx="11521440" cy="731520"/>
          </a:xfrm>
          <a:prstGeom prst="rect">
            <a:avLst/>
          </a:prstGeom>
          <a:solidFill>
            <a:srgbClr val="1E293B"/>
          </a:solidFill>
          <a:ln w="15240">
            <a:solidFill>
              <a:srgbClr val="104A3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 y="1261872"/>
            <a:ext cx="11247120" cy="594360"/>
          </a:xfrm>
          <a:prstGeom prst="rect">
            <a:avLst/>
          </a:prstGeom>
          <a:noFill/>
        </p:spPr>
        <p:txBody>
          <a:bodyPr wrap="square">
            <a:spAutoFit/>
          </a:bodyPr>
          <a:lstStyle/>
          <a:p>
            <a:pPr algn="ctr"/>
            <a:r>
              <a:rPr sz="1600" b="1">
                <a:solidFill>
                  <a:srgbClr val="F8FAFC"/>
                </a:solidFill>
                <a:latin typeface="Meiryo"/>
              </a:rPr>
              <a:t>「特性診断 → 成長ロードマップ → 日々の記録 → 支援者との連携」を一気通貫でサポート</a:t>
            </a:r>
          </a:p>
        </p:txBody>
      </p:sp>
      <p:sp>
        <p:nvSpPr>
          <p:cNvPr id="10" name="Rectangle 9"/>
          <p:cNvSpPr/>
          <p:nvPr/>
        </p:nvSpPr>
        <p:spPr>
          <a:xfrm>
            <a:off x="320040" y="2103120"/>
            <a:ext cx="2743200" cy="2514600"/>
          </a:xfrm>
          <a:prstGeom prst="rect">
            <a:avLst/>
          </a:prstGeom>
          <a:solidFill>
            <a:srgbClr val="1E293B"/>
          </a:solidFill>
          <a:ln w="15240">
            <a:solidFill>
              <a:srgbClr val="104A3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320040" y="2103120"/>
            <a:ext cx="2743200" cy="502920"/>
          </a:xfrm>
          <a:prstGeom prst="rect">
            <a:avLst/>
          </a:prstGeom>
          <a:solidFill>
            <a:srgbClr val="104A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11480" y="2157984"/>
            <a:ext cx="2560320" cy="420624"/>
          </a:xfrm>
          <a:prstGeom prst="rect">
            <a:avLst/>
          </a:prstGeom>
          <a:noFill/>
        </p:spPr>
        <p:txBody>
          <a:bodyPr wrap="square">
            <a:spAutoFit/>
          </a:bodyPr>
          <a:lstStyle/>
          <a:p>
            <a:pPr algn="l"/>
            <a:r>
              <a:rPr sz="1400" b="1">
                <a:solidFill>
                  <a:srgbClr val="10B981"/>
                </a:solidFill>
                <a:latin typeface="Meiryo"/>
              </a:rPr>
              <a:t>🔍  特性診断</a:t>
            </a:r>
          </a:p>
        </p:txBody>
      </p:sp>
      <p:sp>
        <p:nvSpPr>
          <p:cNvPr id="13" name="TextBox 12"/>
          <p:cNvSpPr txBox="1"/>
          <p:nvPr/>
        </p:nvSpPr>
        <p:spPr>
          <a:xfrm>
            <a:off x="457200" y="2743200"/>
            <a:ext cx="2468880" cy="1645920"/>
          </a:xfrm>
          <a:prstGeom prst="rect">
            <a:avLst/>
          </a:prstGeom>
          <a:noFill/>
        </p:spPr>
        <p:txBody>
          <a:bodyPr wrap="square">
            <a:spAutoFit/>
          </a:bodyPr>
          <a:lstStyle/>
          <a:p>
            <a:pPr algn="l">
              <a:lnSpc>
                <a:spcPts val="2200"/>
              </a:lnSpc>
            </a:pPr>
            <a:r>
              <a:rPr sz="1300" b="0">
                <a:solidFill>
                  <a:srgbClr val="CBD5E1"/>
                </a:solidFill>
                <a:latin typeface="Meiryo"/>
              </a:rPr>
              <a:t>13問のやさしい質問で</a:t>
            </a:r>
          </a:p>
          <a:p>
            <a:pPr algn="l">
              <a:lnSpc>
                <a:spcPts val="2200"/>
              </a:lnSpc>
            </a:pPr>
            <a:r>
              <a:rPr sz="1300" b="0">
                <a:solidFill>
                  <a:srgbClr val="CBD5E1"/>
                </a:solidFill>
                <a:latin typeface="Meiryo"/>
              </a:rPr>
              <a:t>自分の強みと課題を分析</a:t>
            </a:r>
          </a:p>
        </p:txBody>
      </p:sp>
      <p:sp>
        <p:nvSpPr>
          <p:cNvPr id="14" name="Rectangle 13"/>
          <p:cNvSpPr/>
          <p:nvPr/>
        </p:nvSpPr>
        <p:spPr>
          <a:xfrm>
            <a:off x="3291840" y="2103120"/>
            <a:ext cx="2743200" cy="2514600"/>
          </a:xfrm>
          <a:prstGeom prst="rect">
            <a:avLst/>
          </a:prstGeom>
          <a:solidFill>
            <a:srgbClr val="1E293B"/>
          </a:solidFill>
          <a:ln w="15240">
            <a:solidFill>
              <a:srgbClr val="104A3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291840" y="2103120"/>
            <a:ext cx="2743200" cy="502920"/>
          </a:xfrm>
          <a:prstGeom prst="rect">
            <a:avLst/>
          </a:prstGeom>
          <a:solidFill>
            <a:srgbClr val="104A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383280" y="2157984"/>
            <a:ext cx="2560320" cy="420624"/>
          </a:xfrm>
          <a:prstGeom prst="rect">
            <a:avLst/>
          </a:prstGeom>
          <a:noFill/>
        </p:spPr>
        <p:txBody>
          <a:bodyPr wrap="square">
            <a:spAutoFit/>
          </a:bodyPr>
          <a:lstStyle/>
          <a:p>
            <a:pPr algn="l"/>
            <a:r>
              <a:rPr sz="1400" b="1">
                <a:solidFill>
                  <a:srgbClr val="10B981"/>
                </a:solidFill>
                <a:latin typeface="Meiryo"/>
              </a:rPr>
              <a:t>🗺️  成長ロードマップ</a:t>
            </a:r>
          </a:p>
        </p:txBody>
      </p:sp>
      <p:sp>
        <p:nvSpPr>
          <p:cNvPr id="17" name="TextBox 16"/>
          <p:cNvSpPr txBox="1"/>
          <p:nvPr/>
        </p:nvSpPr>
        <p:spPr>
          <a:xfrm>
            <a:off x="3429000" y="2743200"/>
            <a:ext cx="2468880" cy="1645920"/>
          </a:xfrm>
          <a:prstGeom prst="rect">
            <a:avLst/>
          </a:prstGeom>
          <a:noFill/>
        </p:spPr>
        <p:txBody>
          <a:bodyPr wrap="square">
            <a:spAutoFit/>
          </a:bodyPr>
          <a:lstStyle/>
          <a:p>
            <a:pPr algn="l">
              <a:lnSpc>
                <a:spcPts val="2200"/>
              </a:lnSpc>
            </a:pPr>
            <a:r>
              <a:rPr sz="1300" b="0">
                <a:solidFill>
                  <a:srgbClr val="CBD5E1"/>
                </a:solidFill>
                <a:latin typeface="Meiryo"/>
              </a:rPr>
              <a:t>仕事タイプ別の3ステップで</a:t>
            </a:r>
          </a:p>
          <a:p>
            <a:pPr algn="l">
              <a:lnSpc>
                <a:spcPts val="2200"/>
              </a:lnSpc>
            </a:pPr>
            <a:r>
              <a:rPr sz="1300" b="0">
                <a:solidFill>
                  <a:srgbClr val="CBD5E1"/>
                </a:solidFill>
                <a:latin typeface="Meiryo"/>
              </a:rPr>
              <a:t>具体的な行動指針を提示</a:t>
            </a:r>
          </a:p>
        </p:txBody>
      </p:sp>
      <p:sp>
        <p:nvSpPr>
          <p:cNvPr id="18" name="Rectangle 17"/>
          <p:cNvSpPr/>
          <p:nvPr/>
        </p:nvSpPr>
        <p:spPr>
          <a:xfrm>
            <a:off x="6263640" y="2103120"/>
            <a:ext cx="2743200" cy="2514600"/>
          </a:xfrm>
          <a:prstGeom prst="rect">
            <a:avLst/>
          </a:prstGeom>
          <a:solidFill>
            <a:srgbClr val="1E293B"/>
          </a:solidFill>
          <a:ln w="15240">
            <a:solidFill>
              <a:srgbClr val="104A3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263640" y="2103120"/>
            <a:ext cx="2743200" cy="502920"/>
          </a:xfrm>
          <a:prstGeom prst="rect">
            <a:avLst/>
          </a:prstGeom>
          <a:solidFill>
            <a:srgbClr val="104A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55080" y="2157984"/>
            <a:ext cx="2560320" cy="420624"/>
          </a:xfrm>
          <a:prstGeom prst="rect">
            <a:avLst/>
          </a:prstGeom>
          <a:noFill/>
        </p:spPr>
        <p:txBody>
          <a:bodyPr wrap="square">
            <a:spAutoFit/>
          </a:bodyPr>
          <a:lstStyle/>
          <a:p>
            <a:pPr algn="l"/>
            <a:r>
              <a:rPr sz="1400" b="1">
                <a:solidFill>
                  <a:srgbClr val="10B981"/>
                </a:solidFill>
                <a:latin typeface="Meiryo"/>
              </a:rPr>
              <a:t>🤖  AIアバターコーチ</a:t>
            </a:r>
          </a:p>
        </p:txBody>
      </p:sp>
      <p:sp>
        <p:nvSpPr>
          <p:cNvPr id="21" name="TextBox 20"/>
          <p:cNvSpPr txBox="1"/>
          <p:nvPr/>
        </p:nvSpPr>
        <p:spPr>
          <a:xfrm>
            <a:off x="6400800" y="2743200"/>
            <a:ext cx="2468880" cy="1645920"/>
          </a:xfrm>
          <a:prstGeom prst="rect">
            <a:avLst/>
          </a:prstGeom>
          <a:noFill/>
        </p:spPr>
        <p:txBody>
          <a:bodyPr wrap="square">
            <a:spAutoFit/>
          </a:bodyPr>
          <a:lstStyle/>
          <a:p>
            <a:pPr algn="l">
              <a:lnSpc>
                <a:spcPts val="2200"/>
              </a:lnSpc>
            </a:pPr>
            <a:r>
              <a:rPr sz="1300" b="0">
                <a:solidFill>
                  <a:srgbClr val="CBD5E1"/>
                </a:solidFill>
                <a:latin typeface="Meiryo"/>
              </a:rPr>
              <a:t>自分に似たアバターと会話</a:t>
            </a:r>
          </a:p>
          <a:p>
            <a:pPr algn="l">
              <a:lnSpc>
                <a:spcPts val="2200"/>
              </a:lnSpc>
            </a:pPr>
            <a:r>
              <a:rPr sz="1300" b="0">
                <a:solidFill>
                  <a:srgbClr val="CBD5E1"/>
                </a:solidFill>
                <a:latin typeface="Meiryo"/>
              </a:rPr>
              <a:t>24時間個別アドバイス</a:t>
            </a:r>
          </a:p>
        </p:txBody>
      </p:sp>
      <p:sp>
        <p:nvSpPr>
          <p:cNvPr id="22" name="Rectangle 21"/>
          <p:cNvSpPr/>
          <p:nvPr/>
        </p:nvSpPr>
        <p:spPr>
          <a:xfrm>
            <a:off x="9235440" y="2103120"/>
            <a:ext cx="2743200" cy="2514600"/>
          </a:xfrm>
          <a:prstGeom prst="rect">
            <a:avLst/>
          </a:prstGeom>
          <a:solidFill>
            <a:srgbClr val="1E293B"/>
          </a:solidFill>
          <a:ln w="15240">
            <a:solidFill>
              <a:srgbClr val="104A3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9235440" y="2103120"/>
            <a:ext cx="2743200" cy="502920"/>
          </a:xfrm>
          <a:prstGeom prst="rect">
            <a:avLst/>
          </a:prstGeom>
          <a:solidFill>
            <a:srgbClr val="104A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326880" y="2157984"/>
            <a:ext cx="2560320" cy="420624"/>
          </a:xfrm>
          <a:prstGeom prst="rect">
            <a:avLst/>
          </a:prstGeom>
          <a:noFill/>
        </p:spPr>
        <p:txBody>
          <a:bodyPr wrap="square">
            <a:spAutoFit/>
          </a:bodyPr>
          <a:lstStyle/>
          <a:p>
            <a:pPr algn="l"/>
            <a:r>
              <a:rPr sz="1400" b="1">
                <a:solidFill>
                  <a:srgbClr val="10B981"/>
                </a:solidFill>
                <a:latin typeface="Meiryo"/>
              </a:rPr>
              <a:t>📊  支援者連携</a:t>
            </a:r>
          </a:p>
        </p:txBody>
      </p:sp>
      <p:sp>
        <p:nvSpPr>
          <p:cNvPr id="25" name="TextBox 24"/>
          <p:cNvSpPr txBox="1"/>
          <p:nvPr/>
        </p:nvSpPr>
        <p:spPr>
          <a:xfrm>
            <a:off x="9372600" y="2743200"/>
            <a:ext cx="2468880" cy="1645920"/>
          </a:xfrm>
          <a:prstGeom prst="rect">
            <a:avLst/>
          </a:prstGeom>
          <a:noFill/>
        </p:spPr>
        <p:txBody>
          <a:bodyPr wrap="square">
            <a:spAutoFit/>
          </a:bodyPr>
          <a:lstStyle/>
          <a:p>
            <a:pPr algn="l">
              <a:lnSpc>
                <a:spcPts val="2200"/>
              </a:lnSpc>
            </a:pPr>
            <a:r>
              <a:rPr sz="1300" b="0">
                <a:solidFill>
                  <a:srgbClr val="CBD5E1"/>
                </a:solidFill>
                <a:latin typeface="Meiryo"/>
              </a:rPr>
              <a:t>家族・支援員が同じ画面で</a:t>
            </a:r>
          </a:p>
          <a:p>
            <a:pPr algn="l">
              <a:lnSpc>
                <a:spcPts val="2200"/>
              </a:lnSpc>
            </a:pPr>
            <a:r>
              <a:rPr sz="1300" b="0">
                <a:solidFill>
                  <a:srgbClr val="CBD5E1"/>
                </a:solidFill>
                <a:latin typeface="Meiryo"/>
              </a:rPr>
              <a:t>情報をリアルタイム共有</a:t>
            </a:r>
          </a:p>
        </p:txBody>
      </p:sp>
      <p:sp>
        <p:nvSpPr>
          <p:cNvPr id="26" name="Rectangle 25"/>
          <p:cNvSpPr/>
          <p:nvPr/>
        </p:nvSpPr>
        <p:spPr>
          <a:xfrm>
            <a:off x="320040" y="4800600"/>
            <a:ext cx="11521440" cy="1783080"/>
          </a:xfrm>
          <a:prstGeom prst="rect">
            <a:avLst/>
          </a:prstGeom>
          <a:solidFill>
            <a:srgbClr val="1E293B"/>
          </a:solidFill>
          <a:ln w="15240">
            <a:solidFill>
              <a:srgbClr val="104A3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57200" y="4873752"/>
            <a:ext cx="3657600" cy="365760"/>
          </a:xfrm>
          <a:prstGeom prst="rect">
            <a:avLst/>
          </a:prstGeom>
          <a:noFill/>
        </p:spPr>
        <p:txBody>
          <a:bodyPr wrap="square">
            <a:spAutoFit/>
          </a:bodyPr>
          <a:lstStyle/>
          <a:p>
            <a:pPr algn="l"/>
            <a:r>
              <a:rPr sz="1300" b="1">
                <a:solidFill>
                  <a:srgbClr val="10B981"/>
                </a:solidFill>
                <a:latin typeface="Meiryo"/>
              </a:rPr>
              <a:t>このアプリの3つの特長：</a:t>
            </a:r>
          </a:p>
        </p:txBody>
      </p:sp>
      <p:sp>
        <p:nvSpPr>
          <p:cNvPr id="28" name="TextBox 27"/>
          <p:cNvSpPr txBox="1"/>
          <p:nvPr/>
        </p:nvSpPr>
        <p:spPr>
          <a:xfrm>
            <a:off x="457200" y="5285232"/>
            <a:ext cx="11155680" cy="1188720"/>
          </a:xfrm>
          <a:prstGeom prst="rect">
            <a:avLst/>
          </a:prstGeom>
          <a:noFill/>
        </p:spPr>
        <p:txBody>
          <a:bodyPr wrap="square">
            <a:spAutoFit/>
          </a:bodyPr>
          <a:lstStyle/>
          <a:p>
            <a:pPr algn="l">
              <a:lnSpc>
                <a:spcPts val="2400"/>
              </a:lnSpc>
            </a:pPr>
            <a:r>
              <a:rPr sz="1300" b="0">
                <a:solidFill>
                  <a:srgbClr val="CBD5E1"/>
                </a:solidFill>
                <a:latin typeface="Meiryo"/>
              </a:rPr>
              <a:t>🌐  スマホ・PCから使える</a:t>
            </a:r>
          </a:p>
          <a:p>
            <a:pPr algn="l">
              <a:lnSpc>
                <a:spcPts val="2400"/>
              </a:lnSpc>
            </a:pPr>
            <a:r>
              <a:rPr sz="1300" b="0">
                <a:solidFill>
                  <a:srgbClr val="CBD5E1"/>
                </a:solidFill>
                <a:latin typeface="Meiryo"/>
              </a:rPr>
              <a:t>ひ  難しい言葉を使わない「ひらがなモード」搭載</a:t>
            </a:r>
          </a:p>
          <a:p>
            <a:pPr algn="l">
              <a:lnSpc>
                <a:spcPts val="2400"/>
              </a:lnSpc>
            </a:pPr>
            <a:r>
              <a:rPr sz="1300" b="0">
                <a:solidFill>
                  <a:srgbClr val="CBD5E1"/>
                </a:solidFill>
                <a:latin typeface="Meiryo"/>
              </a:rPr>
              <a:t>👤  自分に似たアバターと会話しながら就労を目指せる</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0058400" y="-914400"/>
            <a:ext cx="2743200" cy="2743200"/>
          </a:xfrm>
          <a:prstGeom prst="ellipse">
            <a:avLst/>
          </a:prstGeom>
          <a:solidFill>
            <a:srgbClr val="10B981">
              <a:alpha val="9999"/>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274320" y="201168"/>
            <a:ext cx="73152" cy="475488"/>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38912" y="201168"/>
            <a:ext cx="9144000" cy="548640"/>
          </a:xfrm>
          <a:prstGeom prst="rect">
            <a:avLst/>
          </a:prstGeom>
          <a:noFill/>
        </p:spPr>
        <p:txBody>
          <a:bodyPr wrap="square">
            <a:spAutoFit/>
          </a:bodyPr>
          <a:lstStyle/>
          <a:p>
            <a:pPr algn="l"/>
            <a:r>
              <a:rPr sz="2800" b="1">
                <a:solidFill>
                  <a:srgbClr val="F8FAFC"/>
                </a:solidFill>
                <a:latin typeface="Meiryo"/>
              </a:rPr>
              <a:t>現在すでに動いているもの（β版）</a:t>
            </a:r>
          </a:p>
        </p:txBody>
      </p:sp>
      <p:sp>
        <p:nvSpPr>
          <p:cNvPr id="6" name="TextBox 5"/>
          <p:cNvSpPr txBox="1"/>
          <p:nvPr/>
        </p:nvSpPr>
        <p:spPr>
          <a:xfrm>
            <a:off x="438912" y="777240"/>
            <a:ext cx="10058400" cy="365760"/>
          </a:xfrm>
          <a:prstGeom prst="rect">
            <a:avLst/>
          </a:prstGeom>
          <a:noFill/>
        </p:spPr>
        <p:txBody>
          <a:bodyPr wrap="square">
            <a:spAutoFit/>
          </a:bodyPr>
          <a:lstStyle/>
          <a:p>
            <a:pPr algn="l"/>
            <a:r>
              <a:rPr sz="1600" b="0">
                <a:solidFill>
                  <a:srgbClr val="10B981"/>
                </a:solidFill>
                <a:latin typeface="Meiryo"/>
              </a:rPr>
              <a:t>1人のエンジニアが自己資金で開発してきました</a:t>
            </a:r>
          </a:p>
        </p:txBody>
      </p:sp>
      <p:sp>
        <p:nvSpPr>
          <p:cNvPr id="7" name="TextBox 6"/>
          <p:cNvSpPr txBox="1"/>
          <p:nvPr/>
        </p:nvSpPr>
        <p:spPr>
          <a:xfrm>
            <a:off x="9601200" y="6492240"/>
            <a:ext cx="2468880" cy="320040"/>
          </a:xfrm>
          <a:prstGeom prst="rect">
            <a:avLst/>
          </a:prstGeom>
          <a:noFill/>
        </p:spPr>
        <p:txBody>
          <a:bodyPr wrap="square">
            <a:spAutoFit/>
          </a:bodyPr>
          <a:lstStyle/>
          <a:p>
            <a:pPr algn="r"/>
            <a:r>
              <a:rPr sz="800" b="0">
                <a:solidFill>
                  <a:srgbClr val="94A3B8"/>
                </a:solidFill>
                <a:latin typeface="Meiryo"/>
              </a:rPr>
              <a:t>🌱 ステップアップナビ</a:t>
            </a:r>
          </a:p>
        </p:txBody>
      </p:sp>
      <p:sp>
        <p:nvSpPr>
          <p:cNvPr id="8" name="Rectangle 7"/>
          <p:cNvSpPr/>
          <p:nvPr/>
        </p:nvSpPr>
        <p:spPr>
          <a:xfrm>
            <a:off x="320040" y="1188720"/>
            <a:ext cx="11521440" cy="731520"/>
          </a:xfrm>
          <a:prstGeom prst="rect">
            <a:avLst/>
          </a:prstGeom>
          <a:solidFill>
            <a:srgbClr val="1E293B"/>
          </a:solidFill>
          <a:ln w="15240">
            <a:solidFill>
              <a:srgbClr val="104A3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320040" y="1188720"/>
            <a:ext cx="73152" cy="73152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2920" y="1298448"/>
            <a:ext cx="11247120" cy="530352"/>
          </a:xfrm>
          <a:prstGeom prst="rect">
            <a:avLst/>
          </a:prstGeom>
          <a:noFill/>
        </p:spPr>
        <p:txBody>
          <a:bodyPr wrap="square">
            <a:spAutoFit/>
          </a:bodyPr>
          <a:lstStyle/>
          <a:p>
            <a:pPr algn="ctr"/>
            <a:r>
              <a:rPr sz="1600" b="1">
                <a:solidFill>
                  <a:srgbClr val="10B981"/>
                </a:solidFill>
                <a:latin typeface="Meiryo"/>
              </a:rPr>
              <a:t>β版URL：  https://web-production-c0abe.up.railway.app/</a:t>
            </a:r>
          </a:p>
        </p:txBody>
      </p:sp>
      <p:sp>
        <p:nvSpPr>
          <p:cNvPr id="11" name="Rectangle 10"/>
          <p:cNvSpPr/>
          <p:nvPr/>
        </p:nvSpPr>
        <p:spPr>
          <a:xfrm>
            <a:off x="320040" y="2057400"/>
            <a:ext cx="1645920" cy="36576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65760" y="2057400"/>
            <a:ext cx="1554480" cy="365760"/>
          </a:xfrm>
          <a:prstGeom prst="rect">
            <a:avLst/>
          </a:prstGeom>
          <a:noFill/>
        </p:spPr>
        <p:txBody>
          <a:bodyPr wrap="square">
            <a:spAutoFit/>
          </a:bodyPr>
          <a:lstStyle/>
          <a:p>
            <a:pPr algn="ctr"/>
            <a:r>
              <a:rPr sz="1200" b="1">
                <a:solidFill>
                  <a:srgbClr val="0F172A"/>
                </a:solidFill>
                <a:latin typeface="Meiryo"/>
              </a:rPr>
              <a:t>β版稼働中</a:t>
            </a:r>
          </a:p>
        </p:txBody>
      </p:sp>
      <p:sp>
        <p:nvSpPr>
          <p:cNvPr id="13" name="TextBox 12"/>
          <p:cNvSpPr txBox="1"/>
          <p:nvPr/>
        </p:nvSpPr>
        <p:spPr>
          <a:xfrm>
            <a:off x="2103120" y="2084831"/>
            <a:ext cx="4572000" cy="347472"/>
          </a:xfrm>
          <a:prstGeom prst="rect">
            <a:avLst/>
          </a:prstGeom>
          <a:noFill/>
        </p:spPr>
        <p:txBody>
          <a:bodyPr wrap="square">
            <a:spAutoFit/>
          </a:bodyPr>
          <a:lstStyle/>
          <a:p>
            <a:pPr algn="l"/>
            <a:r>
              <a:rPr sz="1400" b="1">
                <a:solidFill>
                  <a:srgbClr val="10B981"/>
                </a:solidFill>
                <a:latin typeface="Meiryo"/>
              </a:rPr>
              <a:t>✅  現在実装済みの機能（9機能）</a:t>
            </a:r>
          </a:p>
        </p:txBody>
      </p:sp>
      <p:sp>
        <p:nvSpPr>
          <p:cNvPr id="14" name="Rectangle 13"/>
          <p:cNvSpPr/>
          <p:nvPr/>
        </p:nvSpPr>
        <p:spPr>
          <a:xfrm>
            <a:off x="320040" y="2560320"/>
            <a:ext cx="5486400" cy="2697480"/>
          </a:xfrm>
          <a:prstGeom prst="rect">
            <a:avLst/>
          </a:prstGeom>
          <a:solidFill>
            <a:srgbClr val="1E293B"/>
          </a:solidFill>
          <a:ln w="15240">
            <a:solidFill>
              <a:srgbClr val="104A3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7200" y="2697480"/>
            <a:ext cx="5212080" cy="2423160"/>
          </a:xfrm>
          <a:prstGeom prst="rect">
            <a:avLst/>
          </a:prstGeom>
          <a:noFill/>
        </p:spPr>
        <p:txBody>
          <a:bodyPr wrap="square">
            <a:spAutoFit/>
          </a:bodyPr>
          <a:lstStyle/>
          <a:p>
            <a:pPr algn="l">
              <a:lnSpc>
                <a:spcPts val="2600"/>
              </a:lnSpc>
            </a:pPr>
            <a:r>
              <a:rPr sz="1400" b="0">
                <a:solidFill>
                  <a:srgbClr val="CBD5E1"/>
                </a:solidFill>
                <a:latin typeface="Meiryo"/>
              </a:rPr>
              <a:t>✅  特性診断（6特性・13問）</a:t>
            </a:r>
          </a:p>
          <a:p>
            <a:pPr algn="l">
              <a:lnSpc>
                <a:spcPts val="2600"/>
              </a:lnSpc>
            </a:pPr>
            <a:r>
              <a:rPr sz="1400" b="0">
                <a:solidFill>
                  <a:srgbClr val="CBD5E1"/>
                </a:solidFill>
                <a:latin typeface="Meiryo"/>
              </a:rPr>
              <a:t>✅  成長ロードマップ（3ステップ）</a:t>
            </a:r>
          </a:p>
          <a:p>
            <a:pPr algn="l">
              <a:lnSpc>
                <a:spcPts val="2600"/>
              </a:lnSpc>
            </a:pPr>
            <a:r>
              <a:rPr sz="1400" b="0">
                <a:solidFill>
                  <a:srgbClr val="CBD5E1"/>
                </a:solidFill>
                <a:latin typeface="Meiryo"/>
              </a:rPr>
              <a:t>✅  AIアバターチャット（GPT-4o-mini）</a:t>
            </a:r>
          </a:p>
          <a:p>
            <a:pPr algn="l">
              <a:lnSpc>
                <a:spcPts val="2600"/>
              </a:lnSpc>
            </a:pPr>
            <a:r>
              <a:rPr sz="1400" b="0">
                <a:solidFill>
                  <a:srgbClr val="CBD5E1"/>
                </a:solidFill>
                <a:latin typeface="Meiryo"/>
              </a:rPr>
              <a:t>✅  支援者ダッシュボード</a:t>
            </a:r>
          </a:p>
          <a:p>
            <a:pPr algn="l">
              <a:lnSpc>
                <a:spcPts val="2600"/>
              </a:lnSpc>
            </a:pPr>
            <a:r>
              <a:rPr sz="1400" b="0">
                <a:solidFill>
                  <a:srgbClr val="CBD5E1"/>
                </a:solidFill>
                <a:latin typeface="Meiryo"/>
              </a:rPr>
              <a:t>✅  ひらがなモード（全ページ対応）</a:t>
            </a:r>
          </a:p>
        </p:txBody>
      </p:sp>
      <p:sp>
        <p:nvSpPr>
          <p:cNvPr id="16" name="Rectangle 15"/>
          <p:cNvSpPr/>
          <p:nvPr/>
        </p:nvSpPr>
        <p:spPr>
          <a:xfrm>
            <a:off x="6080760" y="2560320"/>
            <a:ext cx="5486400" cy="2697480"/>
          </a:xfrm>
          <a:prstGeom prst="rect">
            <a:avLst/>
          </a:prstGeom>
          <a:solidFill>
            <a:srgbClr val="1E293B"/>
          </a:solidFill>
          <a:ln w="15240">
            <a:solidFill>
              <a:srgbClr val="104A3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217920" y="2697480"/>
            <a:ext cx="5212080" cy="2423160"/>
          </a:xfrm>
          <a:prstGeom prst="rect">
            <a:avLst/>
          </a:prstGeom>
          <a:noFill/>
        </p:spPr>
        <p:txBody>
          <a:bodyPr wrap="square">
            <a:spAutoFit/>
          </a:bodyPr>
          <a:lstStyle/>
          <a:p>
            <a:pPr algn="l">
              <a:lnSpc>
                <a:spcPts val="2600"/>
              </a:lnSpc>
            </a:pPr>
            <a:r>
              <a:rPr sz="1400" b="0">
                <a:solidFill>
                  <a:srgbClr val="CBD5E1"/>
                </a:solidFill>
                <a:latin typeface="Meiryo"/>
              </a:rPr>
              <a:t>✅  進捗カレンダー・記録機能</a:t>
            </a:r>
          </a:p>
          <a:p>
            <a:pPr algn="l">
              <a:lnSpc>
                <a:spcPts val="2600"/>
              </a:lnSpc>
            </a:pPr>
            <a:r>
              <a:rPr sz="1400" b="0">
                <a:solidFill>
                  <a:srgbClr val="CBD5E1"/>
                </a:solidFill>
                <a:latin typeface="Meiryo"/>
              </a:rPr>
              <a:t>✅  日々のタスク管理</a:t>
            </a:r>
          </a:p>
          <a:p>
            <a:pPr algn="l">
              <a:lnSpc>
                <a:spcPts val="2600"/>
              </a:lnSpc>
            </a:pPr>
            <a:r>
              <a:rPr sz="1400" b="0">
                <a:solidFill>
                  <a:srgbClr val="CBD5E1"/>
                </a:solidFill>
                <a:latin typeface="Meiryo"/>
              </a:rPr>
              <a:t>✅  感情ログ記録</a:t>
            </a:r>
          </a:p>
          <a:p>
            <a:pPr algn="l">
              <a:lnSpc>
                <a:spcPts val="2600"/>
              </a:lnSpc>
            </a:pPr>
            <a:r>
              <a:rPr sz="1400" b="0">
                <a:solidFill>
                  <a:srgbClr val="CBD5E1"/>
                </a:solidFill>
                <a:latin typeface="Meiryo"/>
              </a:rPr>
              <a:t>✅  Railway本番環境稼働中</a:t>
            </a:r>
          </a:p>
        </p:txBody>
      </p:sp>
      <p:sp>
        <p:nvSpPr>
          <p:cNvPr id="18" name="Rectangle 17"/>
          <p:cNvSpPr/>
          <p:nvPr/>
        </p:nvSpPr>
        <p:spPr>
          <a:xfrm>
            <a:off x="320040" y="5440680"/>
            <a:ext cx="11521440" cy="731520"/>
          </a:xfrm>
          <a:prstGeom prst="rect">
            <a:avLst/>
          </a:prstGeom>
          <a:solidFill>
            <a:srgbClr val="1E293B"/>
          </a:solidFill>
          <a:ln w="15240">
            <a:solidFill>
              <a:srgbClr val="104A3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320040" y="5440680"/>
            <a:ext cx="54864" cy="73152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02920" y="5532120"/>
            <a:ext cx="11247120" cy="548640"/>
          </a:xfrm>
          <a:prstGeom prst="rect">
            <a:avLst/>
          </a:prstGeom>
          <a:noFill/>
        </p:spPr>
        <p:txBody>
          <a:bodyPr wrap="square">
            <a:spAutoFit/>
          </a:bodyPr>
          <a:lstStyle/>
          <a:p>
            <a:pPr algn="ctr"/>
            <a:r>
              <a:rPr sz="1200" b="1">
                <a:solidFill>
                  <a:srgbClr val="CBD5E1"/>
                </a:solidFill>
                <a:latin typeface="Meiryo"/>
              </a:rPr>
              <a:t>「1人のフリーランス開発者が自己資金で開発してきました。クラウドファンディングで次のステップへ進みたいと思っています。」</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0058400" y="-914400"/>
            <a:ext cx="2743200" cy="2743200"/>
          </a:xfrm>
          <a:prstGeom prst="ellipse">
            <a:avLst/>
          </a:prstGeom>
          <a:solidFill>
            <a:srgbClr val="10B981">
              <a:alpha val="9999"/>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274320" y="201168"/>
            <a:ext cx="73152" cy="475488"/>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38912" y="201168"/>
            <a:ext cx="9144000" cy="548640"/>
          </a:xfrm>
          <a:prstGeom prst="rect">
            <a:avLst/>
          </a:prstGeom>
          <a:noFill/>
        </p:spPr>
        <p:txBody>
          <a:bodyPr wrap="square">
            <a:spAutoFit/>
          </a:bodyPr>
          <a:lstStyle/>
          <a:p>
            <a:pPr algn="l"/>
            <a:r>
              <a:rPr sz="2800" b="1">
                <a:solidFill>
                  <a:srgbClr val="F8FAFC"/>
                </a:solidFill>
                <a:latin typeface="Meiryo"/>
              </a:rPr>
              <a:t>開発チーム紹介</a:t>
            </a:r>
          </a:p>
        </p:txBody>
      </p:sp>
      <p:sp>
        <p:nvSpPr>
          <p:cNvPr id="6" name="TextBox 5"/>
          <p:cNvSpPr txBox="1"/>
          <p:nvPr/>
        </p:nvSpPr>
        <p:spPr>
          <a:xfrm>
            <a:off x="438912" y="777240"/>
            <a:ext cx="10058400" cy="365760"/>
          </a:xfrm>
          <a:prstGeom prst="rect">
            <a:avLst/>
          </a:prstGeom>
          <a:noFill/>
        </p:spPr>
        <p:txBody>
          <a:bodyPr wrap="square">
            <a:spAutoFit/>
          </a:bodyPr>
          <a:lstStyle/>
          <a:p>
            <a:pPr algn="l"/>
            <a:r>
              <a:rPr sz="1600" b="0">
                <a:solidFill>
                  <a:srgbClr val="10B981"/>
                </a:solidFill>
                <a:latin typeface="Meiryo"/>
              </a:rPr>
              <a:t>2人で、現場とテクノロジーをつなぎます</a:t>
            </a:r>
          </a:p>
        </p:txBody>
      </p:sp>
      <p:sp>
        <p:nvSpPr>
          <p:cNvPr id="7" name="TextBox 6"/>
          <p:cNvSpPr txBox="1"/>
          <p:nvPr/>
        </p:nvSpPr>
        <p:spPr>
          <a:xfrm>
            <a:off x="9601200" y="6492240"/>
            <a:ext cx="2468880" cy="320040"/>
          </a:xfrm>
          <a:prstGeom prst="rect">
            <a:avLst/>
          </a:prstGeom>
          <a:noFill/>
        </p:spPr>
        <p:txBody>
          <a:bodyPr wrap="square">
            <a:spAutoFit/>
          </a:bodyPr>
          <a:lstStyle/>
          <a:p>
            <a:pPr algn="r"/>
            <a:r>
              <a:rPr sz="800" b="0">
                <a:solidFill>
                  <a:srgbClr val="94A3B8"/>
                </a:solidFill>
                <a:latin typeface="Meiryo"/>
              </a:rPr>
              <a:t>🌱 ステップアップナビ</a:t>
            </a:r>
          </a:p>
        </p:txBody>
      </p:sp>
      <p:sp>
        <p:nvSpPr>
          <p:cNvPr id="8" name="Rectangle 7"/>
          <p:cNvSpPr/>
          <p:nvPr/>
        </p:nvSpPr>
        <p:spPr>
          <a:xfrm>
            <a:off x="320040" y="1143000"/>
            <a:ext cx="5486400" cy="5212080"/>
          </a:xfrm>
          <a:prstGeom prst="rect">
            <a:avLst/>
          </a:prstGeom>
          <a:solidFill>
            <a:srgbClr val="1E293B"/>
          </a:solidFill>
          <a:ln w="15240">
            <a:solidFill>
              <a:srgbClr val="104A3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320040" y="1143000"/>
            <a:ext cx="5486400" cy="548640"/>
          </a:xfrm>
          <a:prstGeom prst="rect">
            <a:avLst/>
          </a:prstGeom>
          <a:solidFill>
            <a:srgbClr val="104A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1207008"/>
            <a:ext cx="5212080" cy="438912"/>
          </a:xfrm>
          <a:prstGeom prst="rect">
            <a:avLst/>
          </a:prstGeom>
          <a:noFill/>
        </p:spPr>
        <p:txBody>
          <a:bodyPr wrap="square">
            <a:spAutoFit/>
          </a:bodyPr>
          <a:lstStyle/>
          <a:p>
            <a:pPr algn="l"/>
            <a:r>
              <a:rPr sz="1600" b="1">
                <a:solidFill>
                  <a:srgbClr val="10B981"/>
                </a:solidFill>
                <a:latin typeface="Meiryo"/>
              </a:rPr>
              <a:t>💻  開発者（松永 直人）</a:t>
            </a:r>
          </a:p>
        </p:txBody>
      </p:sp>
      <p:sp>
        <p:nvSpPr>
          <p:cNvPr id="11" name="TextBox 10"/>
          <p:cNvSpPr txBox="1"/>
          <p:nvPr/>
        </p:nvSpPr>
        <p:spPr>
          <a:xfrm>
            <a:off x="457200" y="1874519"/>
            <a:ext cx="5212080" cy="4114800"/>
          </a:xfrm>
          <a:prstGeom prst="rect">
            <a:avLst/>
          </a:prstGeom>
          <a:noFill/>
        </p:spPr>
        <p:txBody>
          <a:bodyPr wrap="square">
            <a:spAutoFit/>
          </a:bodyPr>
          <a:lstStyle/>
          <a:p>
            <a:pPr algn="l">
              <a:lnSpc>
                <a:spcPts val="2200"/>
              </a:lnSpc>
            </a:pPr>
            <a:r>
              <a:rPr sz="1400" b="0">
                <a:solidFill>
                  <a:srgbClr val="CBD5E1"/>
                </a:solidFill>
                <a:latin typeface="Meiryo"/>
              </a:rPr>
              <a:t>フリーランスエンジニア（法人設立検討中）</a:t>
            </a:r>
          </a:p>
          <a:p>
            <a:pPr algn="l">
              <a:lnSpc>
                <a:spcPts val="2200"/>
              </a:lnSpc>
            </a:pPr>
            <a:r>
              <a:rPr sz="1400" b="0">
                <a:solidFill>
                  <a:srgbClr val="CBD5E1"/>
                </a:solidFill>
                <a:latin typeface="Meiryo"/>
              </a:rPr>
              <a:t/>
            </a:r>
          </a:p>
          <a:p>
            <a:pPr algn="l">
              <a:lnSpc>
                <a:spcPts val="2200"/>
              </a:lnSpc>
            </a:pPr>
            <a:r>
              <a:rPr sz="1400" b="0">
                <a:solidFill>
                  <a:srgbClr val="CBD5E1"/>
                </a:solidFill>
                <a:latin typeface="Meiryo"/>
              </a:rPr>
              <a:t>担当：Python / Django / AI実装</a:t>
            </a:r>
          </a:p>
          <a:p>
            <a:pPr algn="l">
              <a:lnSpc>
                <a:spcPts val="2200"/>
              </a:lnSpc>
            </a:pPr>
            <a:r>
              <a:rPr sz="1400" b="0">
                <a:solidFill>
                  <a:srgbClr val="CBD5E1"/>
                </a:solidFill>
                <a:latin typeface="Meiryo"/>
              </a:rPr>
              <a:t>       OpenAI API × Railway インフラ</a:t>
            </a:r>
          </a:p>
          <a:p>
            <a:pPr algn="l">
              <a:lnSpc>
                <a:spcPts val="2200"/>
              </a:lnSpc>
            </a:pPr>
            <a:r>
              <a:rPr sz="1400" b="0">
                <a:solidFill>
                  <a:srgbClr val="CBD5E1"/>
                </a:solidFill>
                <a:latin typeface="Meiryo"/>
              </a:rPr>
              <a:t/>
            </a:r>
          </a:p>
          <a:p>
            <a:pPr algn="l">
              <a:lnSpc>
                <a:spcPts val="2200"/>
              </a:lnSpc>
            </a:pPr>
            <a:r>
              <a:rPr sz="1400" b="0">
                <a:solidFill>
                  <a:srgbClr val="CBD5E1"/>
                </a:solidFill>
                <a:latin typeface="Meiryo"/>
              </a:rPr>
              <a:t>「テクノロジーで社会課題を解決したい」</a:t>
            </a:r>
          </a:p>
          <a:p>
            <a:pPr algn="l">
              <a:lnSpc>
                <a:spcPts val="2200"/>
              </a:lnSpc>
            </a:pPr>
            <a:r>
              <a:rPr sz="1400" b="0">
                <a:solidFill>
                  <a:srgbClr val="CBD5E1"/>
                </a:solidFill>
                <a:latin typeface="Meiryo"/>
              </a:rPr>
              <a:t>という想いでゼロから開発を始めました。</a:t>
            </a:r>
          </a:p>
          <a:p>
            <a:pPr algn="l">
              <a:lnSpc>
                <a:spcPts val="2200"/>
              </a:lnSpc>
            </a:pPr>
            <a:r>
              <a:rPr sz="1400" b="0">
                <a:solidFill>
                  <a:srgbClr val="CBD5E1"/>
                </a:solidFill>
                <a:latin typeface="Meiryo"/>
              </a:rPr>
              <a:t/>
            </a:r>
          </a:p>
          <a:p>
            <a:pPr algn="l">
              <a:lnSpc>
                <a:spcPts val="2200"/>
              </a:lnSpc>
            </a:pPr>
            <a:r>
              <a:rPr sz="1400" b="0">
                <a:solidFill>
                  <a:srgbClr val="CBD5E1"/>
                </a:solidFill>
                <a:latin typeface="Meiryo"/>
              </a:rPr>
              <a:t>自己資金でβ版を完成させ、現在も継続開発中。</a:t>
            </a:r>
          </a:p>
        </p:txBody>
      </p:sp>
      <p:sp>
        <p:nvSpPr>
          <p:cNvPr id="12" name="Rectangle 11"/>
          <p:cNvSpPr/>
          <p:nvPr/>
        </p:nvSpPr>
        <p:spPr>
          <a:xfrm>
            <a:off x="6400800" y="1143000"/>
            <a:ext cx="5486400" cy="5212080"/>
          </a:xfrm>
          <a:prstGeom prst="rect">
            <a:avLst/>
          </a:prstGeom>
          <a:solidFill>
            <a:srgbClr val="1E293B"/>
          </a:solidFill>
          <a:ln w="15240">
            <a:solidFill>
              <a:srgbClr val="104A3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400800" y="1143000"/>
            <a:ext cx="5486400" cy="548640"/>
          </a:xfrm>
          <a:prstGeom prst="rect">
            <a:avLst/>
          </a:prstGeom>
          <a:solidFill>
            <a:srgbClr val="104A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537960" y="1207008"/>
            <a:ext cx="5212080" cy="438912"/>
          </a:xfrm>
          <a:prstGeom prst="rect">
            <a:avLst/>
          </a:prstGeom>
          <a:noFill/>
        </p:spPr>
        <p:txBody>
          <a:bodyPr wrap="square">
            <a:spAutoFit/>
          </a:bodyPr>
          <a:lstStyle/>
          <a:p>
            <a:pPr algn="l"/>
            <a:r>
              <a:rPr sz="1500" b="1">
                <a:solidFill>
                  <a:srgbClr val="10B981"/>
                </a:solidFill>
                <a:latin typeface="Meiryo"/>
              </a:rPr>
              <a:t>🏥  パートナー（放課後デイサービス社長）</a:t>
            </a:r>
          </a:p>
        </p:txBody>
      </p:sp>
      <p:sp>
        <p:nvSpPr>
          <p:cNvPr id="15" name="TextBox 14"/>
          <p:cNvSpPr txBox="1"/>
          <p:nvPr/>
        </p:nvSpPr>
        <p:spPr>
          <a:xfrm>
            <a:off x="6537960" y="1874519"/>
            <a:ext cx="5212080" cy="4114800"/>
          </a:xfrm>
          <a:prstGeom prst="rect">
            <a:avLst/>
          </a:prstGeom>
          <a:noFill/>
        </p:spPr>
        <p:txBody>
          <a:bodyPr wrap="square">
            <a:spAutoFit/>
          </a:bodyPr>
          <a:lstStyle/>
          <a:p>
            <a:pPr algn="l">
              <a:lnSpc>
                <a:spcPts val="2200"/>
              </a:lnSpc>
            </a:pPr>
            <a:r>
              <a:rPr sz="1400" b="0">
                <a:solidFill>
                  <a:srgbClr val="CBD5E1"/>
                </a:solidFill>
                <a:latin typeface="Meiryo"/>
              </a:rPr>
              <a:t>放課後デイサービス運営・社長</a:t>
            </a:r>
          </a:p>
          <a:p>
            <a:pPr algn="l">
              <a:lnSpc>
                <a:spcPts val="2200"/>
              </a:lnSpc>
            </a:pPr>
            <a:r>
              <a:rPr sz="1400" b="0">
                <a:solidFill>
                  <a:srgbClr val="CBD5E1"/>
                </a:solidFill>
                <a:latin typeface="Meiryo"/>
              </a:rPr>
              <a:t/>
            </a:r>
          </a:p>
          <a:p>
            <a:pPr algn="l">
              <a:lnSpc>
                <a:spcPts val="2200"/>
              </a:lnSpc>
            </a:pPr>
            <a:r>
              <a:rPr sz="1400" b="0">
                <a:solidFill>
                  <a:srgbClr val="CBD5E1"/>
                </a:solidFill>
                <a:latin typeface="Meiryo"/>
              </a:rPr>
              <a:t>担当：現場の専門家として協力</a:t>
            </a:r>
          </a:p>
          <a:p>
            <a:pPr algn="l">
              <a:lnSpc>
                <a:spcPts val="2200"/>
              </a:lnSpc>
            </a:pPr>
            <a:r>
              <a:rPr sz="1400" b="0">
                <a:solidFill>
                  <a:srgbClr val="CBD5E1"/>
                </a:solidFill>
                <a:latin typeface="Meiryo"/>
              </a:rPr>
              <a:t>       ユーザーの声を開発に反映</a:t>
            </a:r>
          </a:p>
          <a:p>
            <a:pPr algn="l">
              <a:lnSpc>
                <a:spcPts val="2200"/>
              </a:lnSpc>
            </a:pPr>
            <a:r>
              <a:rPr sz="1400" b="0">
                <a:solidFill>
                  <a:srgbClr val="CBD5E1"/>
                </a:solidFill>
                <a:latin typeface="Meiryo"/>
              </a:rPr>
              <a:t/>
            </a:r>
          </a:p>
          <a:p>
            <a:pPr algn="l">
              <a:lnSpc>
                <a:spcPts val="2200"/>
              </a:lnSpc>
            </a:pPr>
            <a:r>
              <a:rPr sz="1400" b="0">
                <a:solidFill>
                  <a:srgbClr val="CBD5E1"/>
                </a:solidFill>
                <a:latin typeface="Meiryo"/>
              </a:rPr>
              <a:t>実際の支援現場で感じた課題を、</a:t>
            </a:r>
          </a:p>
          <a:p>
            <a:pPr algn="l">
              <a:lnSpc>
                <a:spcPts val="2200"/>
              </a:lnSpc>
            </a:pPr>
            <a:r>
              <a:rPr sz="1400" b="0">
                <a:solidFill>
                  <a:srgbClr val="CBD5E1"/>
                </a:solidFill>
                <a:latin typeface="Meiryo"/>
              </a:rPr>
              <a:t>リアルタイムで開発に伝えてくれます。</a:t>
            </a:r>
          </a:p>
          <a:p>
            <a:pPr algn="l">
              <a:lnSpc>
                <a:spcPts val="2200"/>
              </a:lnSpc>
            </a:pPr>
            <a:r>
              <a:rPr sz="1400" b="0">
                <a:solidFill>
                  <a:srgbClr val="CBD5E1"/>
                </a:solidFill>
                <a:latin typeface="Meiryo"/>
              </a:rPr>
              <a:t/>
            </a:r>
          </a:p>
          <a:p>
            <a:pPr algn="l">
              <a:lnSpc>
                <a:spcPts val="2200"/>
              </a:lnSpc>
            </a:pPr>
            <a:r>
              <a:rPr sz="1400" b="0">
                <a:solidFill>
                  <a:srgbClr val="CBD5E1"/>
                </a:solidFill>
                <a:latin typeface="Meiryo"/>
              </a:rPr>
              <a:t>「現場で使えるものを一緒に作りたい」</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0058400" y="-914400"/>
            <a:ext cx="2743200" cy="2743200"/>
          </a:xfrm>
          <a:prstGeom prst="ellipse">
            <a:avLst/>
          </a:prstGeom>
          <a:solidFill>
            <a:srgbClr val="10B981">
              <a:alpha val="9999"/>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274320" y="201168"/>
            <a:ext cx="73152" cy="475488"/>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38912" y="201168"/>
            <a:ext cx="9144000" cy="548640"/>
          </a:xfrm>
          <a:prstGeom prst="rect">
            <a:avLst/>
          </a:prstGeom>
          <a:noFill/>
        </p:spPr>
        <p:txBody>
          <a:bodyPr wrap="square">
            <a:spAutoFit/>
          </a:bodyPr>
          <a:lstStyle/>
          <a:p>
            <a:pPr algn="l"/>
            <a:r>
              <a:rPr sz="2800" b="1">
                <a:solidFill>
                  <a:srgbClr val="F8FAFC"/>
                </a:solidFill>
                <a:latin typeface="Meiryo"/>
              </a:rPr>
              <a:t>支援金の使い道</a:t>
            </a:r>
          </a:p>
        </p:txBody>
      </p:sp>
      <p:sp>
        <p:nvSpPr>
          <p:cNvPr id="6" name="TextBox 5"/>
          <p:cNvSpPr txBox="1"/>
          <p:nvPr/>
        </p:nvSpPr>
        <p:spPr>
          <a:xfrm>
            <a:off x="438912" y="777240"/>
            <a:ext cx="10058400" cy="365760"/>
          </a:xfrm>
          <a:prstGeom prst="rect">
            <a:avLst/>
          </a:prstGeom>
          <a:noFill/>
        </p:spPr>
        <p:txBody>
          <a:bodyPr wrap="square">
            <a:spAutoFit/>
          </a:bodyPr>
          <a:lstStyle/>
          <a:p>
            <a:pPr algn="l"/>
            <a:r>
              <a:rPr sz="1600" b="0">
                <a:solidFill>
                  <a:srgbClr val="10B981"/>
                </a:solidFill>
                <a:latin typeface="Meiryo"/>
              </a:rPr>
              <a:t>目標金額：300万円 — 1円の無駄なく、現場に届けます</a:t>
            </a:r>
          </a:p>
        </p:txBody>
      </p:sp>
      <p:sp>
        <p:nvSpPr>
          <p:cNvPr id="7" name="TextBox 6"/>
          <p:cNvSpPr txBox="1"/>
          <p:nvPr/>
        </p:nvSpPr>
        <p:spPr>
          <a:xfrm>
            <a:off x="9601200" y="6492240"/>
            <a:ext cx="2468880" cy="320040"/>
          </a:xfrm>
          <a:prstGeom prst="rect">
            <a:avLst/>
          </a:prstGeom>
          <a:noFill/>
        </p:spPr>
        <p:txBody>
          <a:bodyPr wrap="square">
            <a:spAutoFit/>
          </a:bodyPr>
          <a:lstStyle/>
          <a:p>
            <a:pPr algn="r"/>
            <a:r>
              <a:rPr sz="800" b="0">
                <a:solidFill>
                  <a:srgbClr val="94A3B8"/>
                </a:solidFill>
                <a:latin typeface="Meiryo"/>
              </a:rPr>
              <a:t>🌱 ステップアップナビ</a:t>
            </a:r>
          </a:p>
        </p:txBody>
      </p:sp>
      <p:sp>
        <p:nvSpPr>
          <p:cNvPr id="8" name="Rectangle 7"/>
          <p:cNvSpPr/>
          <p:nvPr/>
        </p:nvSpPr>
        <p:spPr>
          <a:xfrm>
            <a:off x="320040" y="1188720"/>
            <a:ext cx="1920240" cy="45720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65760" y="1188720"/>
            <a:ext cx="1828800" cy="457200"/>
          </a:xfrm>
          <a:prstGeom prst="rect">
            <a:avLst/>
          </a:prstGeom>
          <a:noFill/>
        </p:spPr>
        <p:txBody>
          <a:bodyPr wrap="square">
            <a:spAutoFit/>
          </a:bodyPr>
          <a:lstStyle/>
          <a:p>
            <a:pPr algn="ctr"/>
            <a:r>
              <a:rPr sz="1400" b="1">
                <a:solidFill>
                  <a:srgbClr val="0F172A"/>
                </a:solidFill>
                <a:latin typeface="Meiryo"/>
              </a:rPr>
              <a:t>目標 300万円</a:t>
            </a:r>
          </a:p>
        </p:txBody>
      </p:sp>
      <p:sp>
        <p:nvSpPr>
          <p:cNvPr id="10" name="TextBox 9"/>
          <p:cNvSpPr txBox="1"/>
          <p:nvPr/>
        </p:nvSpPr>
        <p:spPr>
          <a:xfrm>
            <a:off x="2377440" y="1234440"/>
            <a:ext cx="9144000" cy="411480"/>
          </a:xfrm>
          <a:prstGeom prst="rect">
            <a:avLst/>
          </a:prstGeom>
          <a:noFill/>
        </p:spPr>
        <p:txBody>
          <a:bodyPr wrap="square">
            <a:spAutoFit/>
          </a:bodyPr>
          <a:lstStyle/>
          <a:p>
            <a:pPr algn="l"/>
            <a:r>
              <a:rPr sz="1500" b="0">
                <a:solidFill>
                  <a:srgbClr val="CBD5E1"/>
                </a:solidFill>
                <a:latin typeface="Meiryo"/>
              </a:rPr>
              <a:t>すべて開発・導入・運営に充てます</a:t>
            </a:r>
          </a:p>
        </p:txBody>
      </p:sp>
      <p:sp>
        <p:nvSpPr>
          <p:cNvPr id="11" name="Rectangle 10"/>
          <p:cNvSpPr/>
          <p:nvPr/>
        </p:nvSpPr>
        <p:spPr>
          <a:xfrm>
            <a:off x="320040" y="1828800"/>
            <a:ext cx="11521440" cy="749808"/>
          </a:xfrm>
          <a:prstGeom prst="rect">
            <a:avLst/>
          </a:prstGeom>
          <a:solidFill>
            <a:srgbClr val="1E293B"/>
          </a:solidFill>
          <a:ln w="15240">
            <a:solidFill>
              <a:srgbClr val="104A3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20040" y="1828800"/>
            <a:ext cx="54864" cy="749808"/>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75488" y="1993392"/>
            <a:ext cx="731520" cy="411480"/>
          </a:xfrm>
          <a:prstGeom prst="rect">
            <a:avLst/>
          </a:prstGeom>
          <a:noFill/>
        </p:spPr>
        <p:txBody>
          <a:bodyPr wrap="square">
            <a:spAutoFit/>
          </a:bodyPr>
          <a:lstStyle/>
          <a:p>
            <a:pPr algn="l"/>
            <a:r>
              <a:rPr sz="1300" b="1">
                <a:solidFill>
                  <a:srgbClr val="10B981"/>
                </a:solidFill>
                <a:latin typeface="Meiryo"/>
              </a:rPr>
              <a:t>40%</a:t>
            </a:r>
          </a:p>
        </p:txBody>
      </p:sp>
      <p:sp>
        <p:nvSpPr>
          <p:cNvPr id="14" name="TextBox 13"/>
          <p:cNvSpPr txBox="1"/>
          <p:nvPr/>
        </p:nvSpPr>
        <p:spPr>
          <a:xfrm>
            <a:off x="1371600" y="1901952"/>
            <a:ext cx="4114800" cy="347472"/>
          </a:xfrm>
          <a:prstGeom prst="rect">
            <a:avLst/>
          </a:prstGeom>
          <a:noFill/>
        </p:spPr>
        <p:txBody>
          <a:bodyPr wrap="square">
            <a:spAutoFit/>
          </a:bodyPr>
          <a:lstStyle/>
          <a:p>
            <a:pPr algn="l"/>
            <a:r>
              <a:rPr sz="1400" b="1">
                <a:solidFill>
                  <a:srgbClr val="F8FAFC"/>
                </a:solidFill>
                <a:latin typeface="Meiryo"/>
              </a:rPr>
              <a:t>AI機能強化（RAG実装）</a:t>
            </a:r>
          </a:p>
        </p:txBody>
      </p:sp>
      <p:sp>
        <p:nvSpPr>
          <p:cNvPr id="15" name="TextBox 14"/>
          <p:cNvSpPr txBox="1"/>
          <p:nvPr/>
        </p:nvSpPr>
        <p:spPr>
          <a:xfrm>
            <a:off x="1371600" y="2249424"/>
            <a:ext cx="6858000" cy="292608"/>
          </a:xfrm>
          <a:prstGeom prst="rect">
            <a:avLst/>
          </a:prstGeom>
          <a:noFill/>
        </p:spPr>
        <p:txBody>
          <a:bodyPr wrap="square">
            <a:spAutoFit/>
          </a:bodyPr>
          <a:lstStyle/>
          <a:p>
            <a:pPr algn="l"/>
            <a:r>
              <a:rPr sz="1100" b="0">
                <a:solidFill>
                  <a:srgbClr val="94A3B8"/>
                </a:solidFill>
                <a:latin typeface="Meiryo"/>
              </a:rPr>
              <a:t>個別に最適化されたAIアドバイス機能を実装します</a:t>
            </a:r>
          </a:p>
        </p:txBody>
      </p:sp>
      <p:sp>
        <p:nvSpPr>
          <p:cNvPr id="16" name="TextBox 15"/>
          <p:cNvSpPr txBox="1"/>
          <p:nvPr/>
        </p:nvSpPr>
        <p:spPr>
          <a:xfrm>
            <a:off x="9601200" y="1965960"/>
            <a:ext cx="2011680" cy="457200"/>
          </a:xfrm>
          <a:prstGeom prst="rect">
            <a:avLst/>
          </a:prstGeom>
          <a:noFill/>
        </p:spPr>
        <p:txBody>
          <a:bodyPr wrap="square">
            <a:spAutoFit/>
          </a:bodyPr>
          <a:lstStyle/>
          <a:p>
            <a:pPr algn="r"/>
            <a:r>
              <a:rPr sz="2000" b="1">
                <a:solidFill>
                  <a:srgbClr val="10B981"/>
                </a:solidFill>
                <a:latin typeface="Meiryo"/>
              </a:rPr>
              <a:t>120万円</a:t>
            </a:r>
          </a:p>
        </p:txBody>
      </p:sp>
      <p:sp>
        <p:nvSpPr>
          <p:cNvPr id="17" name="Rectangle 16"/>
          <p:cNvSpPr/>
          <p:nvPr/>
        </p:nvSpPr>
        <p:spPr>
          <a:xfrm>
            <a:off x="320040" y="2633472"/>
            <a:ext cx="11521440" cy="749808"/>
          </a:xfrm>
          <a:prstGeom prst="rect">
            <a:avLst/>
          </a:prstGeom>
          <a:solidFill>
            <a:srgbClr val="1E293B"/>
          </a:solidFill>
          <a:ln w="15240">
            <a:solidFill>
              <a:srgbClr val="104A3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320040" y="2633472"/>
            <a:ext cx="54864" cy="749808"/>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75488" y="2798064"/>
            <a:ext cx="731520" cy="411480"/>
          </a:xfrm>
          <a:prstGeom prst="rect">
            <a:avLst/>
          </a:prstGeom>
          <a:noFill/>
        </p:spPr>
        <p:txBody>
          <a:bodyPr wrap="square">
            <a:spAutoFit/>
          </a:bodyPr>
          <a:lstStyle/>
          <a:p>
            <a:pPr algn="l"/>
            <a:r>
              <a:rPr sz="1300" b="1">
                <a:solidFill>
                  <a:srgbClr val="10B981"/>
                </a:solidFill>
                <a:latin typeface="Meiryo"/>
              </a:rPr>
              <a:t>20%</a:t>
            </a:r>
          </a:p>
        </p:txBody>
      </p:sp>
      <p:sp>
        <p:nvSpPr>
          <p:cNvPr id="20" name="TextBox 19"/>
          <p:cNvSpPr txBox="1"/>
          <p:nvPr/>
        </p:nvSpPr>
        <p:spPr>
          <a:xfrm>
            <a:off x="1371600" y="2706624"/>
            <a:ext cx="4114800" cy="347472"/>
          </a:xfrm>
          <a:prstGeom prst="rect">
            <a:avLst/>
          </a:prstGeom>
          <a:noFill/>
        </p:spPr>
        <p:txBody>
          <a:bodyPr wrap="square">
            <a:spAutoFit/>
          </a:bodyPr>
          <a:lstStyle/>
          <a:p>
            <a:pPr algn="l"/>
            <a:r>
              <a:rPr sz="1400" b="1">
                <a:solidFill>
                  <a:srgbClr val="F8FAFC"/>
                </a:solidFill>
                <a:latin typeface="Meiryo"/>
              </a:rPr>
              <a:t>スマホ最適化・UI改善</a:t>
            </a:r>
          </a:p>
        </p:txBody>
      </p:sp>
      <p:sp>
        <p:nvSpPr>
          <p:cNvPr id="21" name="TextBox 20"/>
          <p:cNvSpPr txBox="1"/>
          <p:nvPr/>
        </p:nvSpPr>
        <p:spPr>
          <a:xfrm>
            <a:off x="1371600" y="3054096"/>
            <a:ext cx="6858000" cy="292608"/>
          </a:xfrm>
          <a:prstGeom prst="rect">
            <a:avLst/>
          </a:prstGeom>
          <a:noFill/>
        </p:spPr>
        <p:txBody>
          <a:bodyPr wrap="square">
            <a:spAutoFit/>
          </a:bodyPr>
          <a:lstStyle/>
          <a:p>
            <a:pPr algn="l"/>
            <a:r>
              <a:rPr sz="1100" b="0">
                <a:solidFill>
                  <a:srgbClr val="94A3B8"/>
                </a:solidFill>
                <a:latin typeface="Meiryo"/>
              </a:rPr>
              <a:t>スマートフォンでも快適に使えるよう全面改善します</a:t>
            </a:r>
          </a:p>
        </p:txBody>
      </p:sp>
      <p:sp>
        <p:nvSpPr>
          <p:cNvPr id="22" name="TextBox 21"/>
          <p:cNvSpPr txBox="1"/>
          <p:nvPr/>
        </p:nvSpPr>
        <p:spPr>
          <a:xfrm>
            <a:off x="9601200" y="2770632"/>
            <a:ext cx="2011680" cy="457200"/>
          </a:xfrm>
          <a:prstGeom prst="rect">
            <a:avLst/>
          </a:prstGeom>
          <a:noFill/>
        </p:spPr>
        <p:txBody>
          <a:bodyPr wrap="square">
            <a:spAutoFit/>
          </a:bodyPr>
          <a:lstStyle/>
          <a:p>
            <a:pPr algn="r"/>
            <a:r>
              <a:rPr sz="2000" b="1">
                <a:solidFill>
                  <a:srgbClr val="10B981"/>
                </a:solidFill>
                <a:latin typeface="Meiryo"/>
              </a:rPr>
              <a:t>60万円</a:t>
            </a:r>
          </a:p>
        </p:txBody>
      </p:sp>
      <p:sp>
        <p:nvSpPr>
          <p:cNvPr id="23" name="Rectangle 22"/>
          <p:cNvSpPr/>
          <p:nvPr/>
        </p:nvSpPr>
        <p:spPr>
          <a:xfrm>
            <a:off x="320040" y="3438144"/>
            <a:ext cx="11521440" cy="749808"/>
          </a:xfrm>
          <a:prstGeom prst="rect">
            <a:avLst/>
          </a:prstGeom>
          <a:solidFill>
            <a:srgbClr val="1E293B"/>
          </a:solidFill>
          <a:ln w="15240">
            <a:solidFill>
              <a:srgbClr val="104A3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320040" y="3438144"/>
            <a:ext cx="54864" cy="749808"/>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75488" y="3602736"/>
            <a:ext cx="731520" cy="411480"/>
          </a:xfrm>
          <a:prstGeom prst="rect">
            <a:avLst/>
          </a:prstGeom>
          <a:noFill/>
        </p:spPr>
        <p:txBody>
          <a:bodyPr wrap="square">
            <a:spAutoFit/>
          </a:bodyPr>
          <a:lstStyle/>
          <a:p>
            <a:pPr algn="l"/>
            <a:r>
              <a:rPr sz="1300" b="1">
                <a:solidFill>
                  <a:srgbClr val="10B981"/>
                </a:solidFill>
                <a:latin typeface="Meiryo"/>
              </a:rPr>
              <a:t>15%</a:t>
            </a:r>
          </a:p>
        </p:txBody>
      </p:sp>
      <p:sp>
        <p:nvSpPr>
          <p:cNvPr id="26" name="TextBox 25"/>
          <p:cNvSpPr txBox="1"/>
          <p:nvPr/>
        </p:nvSpPr>
        <p:spPr>
          <a:xfrm>
            <a:off x="1371600" y="3511296"/>
            <a:ext cx="4114800" cy="347472"/>
          </a:xfrm>
          <a:prstGeom prst="rect">
            <a:avLst/>
          </a:prstGeom>
          <a:noFill/>
        </p:spPr>
        <p:txBody>
          <a:bodyPr wrap="square">
            <a:spAutoFit/>
          </a:bodyPr>
          <a:lstStyle/>
          <a:p>
            <a:pPr algn="l"/>
            <a:r>
              <a:rPr sz="1400" b="1">
                <a:solidFill>
                  <a:srgbClr val="F8FAFC"/>
                </a:solidFill>
                <a:latin typeface="Meiryo"/>
              </a:rPr>
              <a:t>サーバー・運営費（1年分）</a:t>
            </a:r>
          </a:p>
        </p:txBody>
      </p:sp>
      <p:sp>
        <p:nvSpPr>
          <p:cNvPr id="27" name="TextBox 26"/>
          <p:cNvSpPr txBox="1"/>
          <p:nvPr/>
        </p:nvSpPr>
        <p:spPr>
          <a:xfrm>
            <a:off x="1371600" y="3858768"/>
            <a:ext cx="6858000" cy="292608"/>
          </a:xfrm>
          <a:prstGeom prst="rect">
            <a:avLst/>
          </a:prstGeom>
          <a:noFill/>
        </p:spPr>
        <p:txBody>
          <a:bodyPr wrap="square">
            <a:spAutoFit/>
          </a:bodyPr>
          <a:lstStyle/>
          <a:p>
            <a:pPr algn="l"/>
            <a:r>
              <a:rPr sz="1100" b="0">
                <a:solidFill>
                  <a:srgbClr val="94A3B8"/>
                </a:solidFill>
                <a:latin typeface="Meiryo"/>
              </a:rPr>
              <a:t>安定したサービス提供のための基盤費用です</a:t>
            </a:r>
          </a:p>
        </p:txBody>
      </p:sp>
      <p:sp>
        <p:nvSpPr>
          <p:cNvPr id="28" name="TextBox 27"/>
          <p:cNvSpPr txBox="1"/>
          <p:nvPr/>
        </p:nvSpPr>
        <p:spPr>
          <a:xfrm>
            <a:off x="9601200" y="3575304"/>
            <a:ext cx="2011680" cy="457200"/>
          </a:xfrm>
          <a:prstGeom prst="rect">
            <a:avLst/>
          </a:prstGeom>
          <a:noFill/>
        </p:spPr>
        <p:txBody>
          <a:bodyPr wrap="square">
            <a:spAutoFit/>
          </a:bodyPr>
          <a:lstStyle/>
          <a:p>
            <a:pPr algn="r"/>
            <a:r>
              <a:rPr sz="2000" b="1">
                <a:solidFill>
                  <a:srgbClr val="10B981"/>
                </a:solidFill>
                <a:latin typeface="Meiryo"/>
              </a:rPr>
              <a:t>45万円</a:t>
            </a:r>
          </a:p>
        </p:txBody>
      </p:sp>
      <p:sp>
        <p:nvSpPr>
          <p:cNvPr id="29" name="Rectangle 28"/>
          <p:cNvSpPr/>
          <p:nvPr/>
        </p:nvSpPr>
        <p:spPr>
          <a:xfrm>
            <a:off x="320040" y="4242816"/>
            <a:ext cx="11521440" cy="749808"/>
          </a:xfrm>
          <a:prstGeom prst="rect">
            <a:avLst/>
          </a:prstGeom>
          <a:solidFill>
            <a:srgbClr val="1E293B"/>
          </a:solidFill>
          <a:ln w="15240">
            <a:solidFill>
              <a:srgbClr val="104A3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320040" y="4242816"/>
            <a:ext cx="54864" cy="749808"/>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75488" y="4407408"/>
            <a:ext cx="731520" cy="411480"/>
          </a:xfrm>
          <a:prstGeom prst="rect">
            <a:avLst/>
          </a:prstGeom>
          <a:noFill/>
        </p:spPr>
        <p:txBody>
          <a:bodyPr wrap="square">
            <a:spAutoFit/>
          </a:bodyPr>
          <a:lstStyle/>
          <a:p>
            <a:pPr algn="l"/>
            <a:r>
              <a:rPr sz="1300" b="1">
                <a:solidFill>
                  <a:srgbClr val="10B981"/>
                </a:solidFill>
                <a:latin typeface="Meiryo"/>
              </a:rPr>
              <a:t>15%</a:t>
            </a:r>
          </a:p>
        </p:txBody>
      </p:sp>
      <p:sp>
        <p:nvSpPr>
          <p:cNvPr id="32" name="TextBox 31"/>
          <p:cNvSpPr txBox="1"/>
          <p:nvPr/>
        </p:nvSpPr>
        <p:spPr>
          <a:xfrm>
            <a:off x="1371600" y="4315968"/>
            <a:ext cx="4114800" cy="347472"/>
          </a:xfrm>
          <a:prstGeom prst="rect">
            <a:avLst/>
          </a:prstGeom>
          <a:noFill/>
        </p:spPr>
        <p:txBody>
          <a:bodyPr wrap="square">
            <a:spAutoFit/>
          </a:bodyPr>
          <a:lstStyle/>
          <a:p>
            <a:pPr algn="l"/>
            <a:r>
              <a:rPr sz="1400" b="1">
                <a:solidFill>
                  <a:srgbClr val="F8FAFC"/>
                </a:solidFill>
                <a:latin typeface="Meiryo"/>
              </a:rPr>
              <a:t>放課後デイ・事業所テスト導入</a:t>
            </a:r>
          </a:p>
        </p:txBody>
      </p:sp>
      <p:sp>
        <p:nvSpPr>
          <p:cNvPr id="33" name="TextBox 32"/>
          <p:cNvSpPr txBox="1"/>
          <p:nvPr/>
        </p:nvSpPr>
        <p:spPr>
          <a:xfrm>
            <a:off x="1371600" y="4663440"/>
            <a:ext cx="6858000" cy="292608"/>
          </a:xfrm>
          <a:prstGeom prst="rect">
            <a:avLst/>
          </a:prstGeom>
          <a:noFill/>
        </p:spPr>
        <p:txBody>
          <a:bodyPr wrap="square">
            <a:spAutoFit/>
          </a:bodyPr>
          <a:lstStyle/>
          <a:p>
            <a:pPr algn="l"/>
            <a:r>
              <a:rPr sz="1100" b="0">
                <a:solidFill>
                  <a:srgbClr val="94A3B8"/>
                </a:solidFill>
                <a:latin typeface="Meiryo"/>
              </a:rPr>
              <a:t>現場3〜5施設での実証テストと改善サイクルを回します</a:t>
            </a:r>
          </a:p>
        </p:txBody>
      </p:sp>
      <p:sp>
        <p:nvSpPr>
          <p:cNvPr id="34" name="TextBox 33"/>
          <p:cNvSpPr txBox="1"/>
          <p:nvPr/>
        </p:nvSpPr>
        <p:spPr>
          <a:xfrm>
            <a:off x="9601200" y="4379976"/>
            <a:ext cx="2011680" cy="457200"/>
          </a:xfrm>
          <a:prstGeom prst="rect">
            <a:avLst/>
          </a:prstGeom>
          <a:noFill/>
        </p:spPr>
        <p:txBody>
          <a:bodyPr wrap="square">
            <a:spAutoFit/>
          </a:bodyPr>
          <a:lstStyle/>
          <a:p>
            <a:pPr algn="r"/>
            <a:r>
              <a:rPr sz="2000" b="1">
                <a:solidFill>
                  <a:srgbClr val="10B981"/>
                </a:solidFill>
                <a:latin typeface="Meiryo"/>
              </a:rPr>
              <a:t>45万円</a:t>
            </a:r>
          </a:p>
        </p:txBody>
      </p:sp>
      <p:sp>
        <p:nvSpPr>
          <p:cNvPr id="35" name="Rectangle 34"/>
          <p:cNvSpPr/>
          <p:nvPr/>
        </p:nvSpPr>
        <p:spPr>
          <a:xfrm>
            <a:off x="320040" y="5047488"/>
            <a:ext cx="11521440" cy="749808"/>
          </a:xfrm>
          <a:prstGeom prst="rect">
            <a:avLst/>
          </a:prstGeom>
          <a:solidFill>
            <a:srgbClr val="1E293B"/>
          </a:solidFill>
          <a:ln w="15240">
            <a:solidFill>
              <a:srgbClr val="104A3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320040" y="5047488"/>
            <a:ext cx="54864" cy="749808"/>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475488" y="5212080"/>
            <a:ext cx="731520" cy="411480"/>
          </a:xfrm>
          <a:prstGeom prst="rect">
            <a:avLst/>
          </a:prstGeom>
          <a:noFill/>
        </p:spPr>
        <p:txBody>
          <a:bodyPr wrap="square">
            <a:spAutoFit/>
          </a:bodyPr>
          <a:lstStyle/>
          <a:p>
            <a:pPr algn="l"/>
            <a:r>
              <a:rPr sz="1300" b="1">
                <a:solidFill>
                  <a:srgbClr val="10B981"/>
                </a:solidFill>
                <a:latin typeface="Meiryo"/>
              </a:rPr>
              <a:t>10%</a:t>
            </a:r>
          </a:p>
        </p:txBody>
      </p:sp>
      <p:sp>
        <p:nvSpPr>
          <p:cNvPr id="38" name="TextBox 37"/>
          <p:cNvSpPr txBox="1"/>
          <p:nvPr/>
        </p:nvSpPr>
        <p:spPr>
          <a:xfrm>
            <a:off x="1371600" y="5120640"/>
            <a:ext cx="4114800" cy="347472"/>
          </a:xfrm>
          <a:prstGeom prst="rect">
            <a:avLst/>
          </a:prstGeom>
          <a:noFill/>
        </p:spPr>
        <p:txBody>
          <a:bodyPr wrap="square">
            <a:spAutoFit/>
          </a:bodyPr>
          <a:lstStyle/>
          <a:p>
            <a:pPr algn="l"/>
            <a:r>
              <a:rPr sz="1400" b="1">
                <a:solidFill>
                  <a:srgbClr val="F8FAFC"/>
                </a:solidFill>
                <a:latin typeface="Meiryo"/>
              </a:rPr>
              <a:t>広報・動画制作</a:t>
            </a:r>
          </a:p>
        </p:txBody>
      </p:sp>
      <p:sp>
        <p:nvSpPr>
          <p:cNvPr id="39" name="TextBox 38"/>
          <p:cNvSpPr txBox="1"/>
          <p:nvPr/>
        </p:nvSpPr>
        <p:spPr>
          <a:xfrm>
            <a:off x="1371600" y="5468112"/>
            <a:ext cx="6858000" cy="292608"/>
          </a:xfrm>
          <a:prstGeom prst="rect">
            <a:avLst/>
          </a:prstGeom>
          <a:noFill/>
        </p:spPr>
        <p:txBody>
          <a:bodyPr wrap="square">
            <a:spAutoFit/>
          </a:bodyPr>
          <a:lstStyle/>
          <a:p>
            <a:pPr algn="l"/>
            <a:r>
              <a:rPr sz="1100" b="0">
                <a:solidFill>
                  <a:srgbClr val="94A3B8"/>
                </a:solidFill>
                <a:latin typeface="Meiryo"/>
              </a:rPr>
              <a:t>活動報告・支援者への感謝動画などを制作します</a:t>
            </a:r>
          </a:p>
        </p:txBody>
      </p:sp>
      <p:sp>
        <p:nvSpPr>
          <p:cNvPr id="40" name="TextBox 39"/>
          <p:cNvSpPr txBox="1"/>
          <p:nvPr/>
        </p:nvSpPr>
        <p:spPr>
          <a:xfrm>
            <a:off x="9601200" y="5184648"/>
            <a:ext cx="2011680" cy="457200"/>
          </a:xfrm>
          <a:prstGeom prst="rect">
            <a:avLst/>
          </a:prstGeom>
          <a:noFill/>
        </p:spPr>
        <p:txBody>
          <a:bodyPr wrap="square">
            <a:spAutoFit/>
          </a:bodyPr>
          <a:lstStyle/>
          <a:p>
            <a:pPr algn="r"/>
            <a:r>
              <a:rPr sz="2000" b="1">
                <a:solidFill>
                  <a:srgbClr val="10B981"/>
                </a:solidFill>
                <a:latin typeface="Meiryo"/>
              </a:rPr>
              <a:t>30万円</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0058400" y="-914400"/>
            <a:ext cx="2743200" cy="2743200"/>
          </a:xfrm>
          <a:prstGeom prst="ellipse">
            <a:avLst/>
          </a:prstGeom>
          <a:solidFill>
            <a:srgbClr val="10B981">
              <a:alpha val="9999"/>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274320" y="201168"/>
            <a:ext cx="73152" cy="475488"/>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38912" y="201168"/>
            <a:ext cx="9144000" cy="548640"/>
          </a:xfrm>
          <a:prstGeom prst="rect">
            <a:avLst/>
          </a:prstGeom>
          <a:noFill/>
        </p:spPr>
        <p:txBody>
          <a:bodyPr wrap="square">
            <a:spAutoFit/>
          </a:bodyPr>
          <a:lstStyle/>
          <a:p>
            <a:pPr algn="l"/>
            <a:r>
              <a:rPr sz="2800" b="1">
                <a:solidFill>
                  <a:srgbClr val="F8FAFC"/>
                </a:solidFill>
                <a:latin typeface="Meiryo"/>
              </a:rPr>
              <a:t>支援金でできること（マイルストーン）</a:t>
            </a:r>
          </a:p>
        </p:txBody>
      </p:sp>
      <p:sp>
        <p:nvSpPr>
          <p:cNvPr id="6" name="TextBox 5"/>
          <p:cNvSpPr txBox="1"/>
          <p:nvPr/>
        </p:nvSpPr>
        <p:spPr>
          <a:xfrm>
            <a:off x="438912" y="777240"/>
            <a:ext cx="10058400" cy="365760"/>
          </a:xfrm>
          <a:prstGeom prst="rect">
            <a:avLst/>
          </a:prstGeom>
          <a:noFill/>
        </p:spPr>
        <p:txBody>
          <a:bodyPr wrap="square">
            <a:spAutoFit/>
          </a:bodyPr>
          <a:lstStyle/>
          <a:p>
            <a:pPr algn="l"/>
            <a:r>
              <a:rPr sz="1600" b="0">
                <a:solidFill>
                  <a:srgbClr val="10B981"/>
                </a:solidFill>
                <a:latin typeface="Meiryo"/>
              </a:rPr>
              <a:t>達成額に応じて、できることが広がります</a:t>
            </a:r>
          </a:p>
        </p:txBody>
      </p:sp>
      <p:sp>
        <p:nvSpPr>
          <p:cNvPr id="7" name="TextBox 6"/>
          <p:cNvSpPr txBox="1"/>
          <p:nvPr/>
        </p:nvSpPr>
        <p:spPr>
          <a:xfrm>
            <a:off x="9601200" y="6492240"/>
            <a:ext cx="2468880" cy="320040"/>
          </a:xfrm>
          <a:prstGeom prst="rect">
            <a:avLst/>
          </a:prstGeom>
          <a:noFill/>
        </p:spPr>
        <p:txBody>
          <a:bodyPr wrap="square">
            <a:spAutoFit/>
          </a:bodyPr>
          <a:lstStyle/>
          <a:p>
            <a:pPr algn="r"/>
            <a:r>
              <a:rPr sz="800" b="0">
                <a:solidFill>
                  <a:srgbClr val="94A3B8"/>
                </a:solidFill>
                <a:latin typeface="Meiryo"/>
              </a:rPr>
              <a:t>🌱 ステップアップナビ</a:t>
            </a:r>
          </a:p>
        </p:txBody>
      </p:sp>
      <p:sp>
        <p:nvSpPr>
          <p:cNvPr id="8" name="Rectangle 7"/>
          <p:cNvSpPr/>
          <p:nvPr/>
        </p:nvSpPr>
        <p:spPr>
          <a:xfrm>
            <a:off x="320040" y="1143000"/>
            <a:ext cx="3703320" cy="5394960"/>
          </a:xfrm>
          <a:prstGeom prst="rect">
            <a:avLst/>
          </a:prstGeom>
          <a:solidFill>
            <a:srgbClr val="1E293B"/>
          </a:solidFill>
          <a:ln w="15240">
            <a:solidFill>
              <a:srgbClr val="104A3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320040" y="1143000"/>
            <a:ext cx="3703320" cy="594360"/>
          </a:xfrm>
          <a:prstGeom prst="rect">
            <a:avLst/>
          </a:prstGeom>
          <a:solidFill>
            <a:srgbClr val="104A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11480" y="1234440"/>
            <a:ext cx="3520440" cy="457200"/>
          </a:xfrm>
          <a:prstGeom prst="rect">
            <a:avLst/>
          </a:prstGeom>
          <a:noFill/>
        </p:spPr>
        <p:txBody>
          <a:bodyPr wrap="square">
            <a:spAutoFit/>
          </a:bodyPr>
          <a:lstStyle/>
          <a:p>
            <a:pPr algn="ctr"/>
            <a:r>
              <a:rPr sz="1500" b="1">
                <a:solidFill>
                  <a:srgbClr val="F8FAFC"/>
                </a:solidFill>
                <a:latin typeface="Meiryo"/>
              </a:rPr>
              <a:t>100万円達成時</a:t>
            </a:r>
          </a:p>
        </p:txBody>
      </p:sp>
      <p:sp>
        <p:nvSpPr>
          <p:cNvPr id="11" name="TextBox 10"/>
          <p:cNvSpPr txBox="1"/>
          <p:nvPr/>
        </p:nvSpPr>
        <p:spPr>
          <a:xfrm>
            <a:off x="457200" y="1920240"/>
            <a:ext cx="3429000" cy="4389120"/>
          </a:xfrm>
          <a:prstGeom prst="rect">
            <a:avLst/>
          </a:prstGeom>
          <a:noFill/>
        </p:spPr>
        <p:txBody>
          <a:bodyPr wrap="square">
            <a:spAutoFit/>
          </a:bodyPr>
          <a:lstStyle/>
          <a:p>
            <a:pPr algn="l">
              <a:lnSpc>
                <a:spcPts val="2600"/>
              </a:lnSpc>
            </a:pPr>
            <a:r>
              <a:rPr sz="1300" b="0">
                <a:solidFill>
                  <a:srgbClr val="CBD5E1"/>
                </a:solidFill>
                <a:latin typeface="Meiryo"/>
              </a:rPr>
              <a:t>✅  AI個別アドバイス機能（RAG）を実装</a:t>
            </a:r>
          </a:p>
          <a:p>
            <a:pPr algn="l">
              <a:lnSpc>
                <a:spcPts val="2600"/>
              </a:lnSpc>
            </a:pPr>
            <a:r>
              <a:rPr sz="1300" b="0">
                <a:solidFill>
                  <a:srgbClr val="CBD5E1"/>
                </a:solidFill>
                <a:latin typeface="Meiryo"/>
              </a:rPr>
              <a:t>✅  支援者評価×多角的分析を追加</a:t>
            </a:r>
          </a:p>
          <a:p>
            <a:pPr algn="l">
              <a:lnSpc>
                <a:spcPts val="2600"/>
              </a:lnSpc>
            </a:pPr>
            <a:r>
              <a:rPr sz="1300" b="0">
                <a:solidFill>
                  <a:srgbClr val="CBD5E1"/>
                </a:solidFill>
                <a:latin typeface="Meiryo"/>
              </a:rPr>
              <a:t>✅  基本的なスマホ対応を完了</a:t>
            </a:r>
          </a:p>
        </p:txBody>
      </p:sp>
      <p:sp>
        <p:nvSpPr>
          <p:cNvPr id="12" name="Rectangle 11"/>
          <p:cNvSpPr/>
          <p:nvPr/>
        </p:nvSpPr>
        <p:spPr>
          <a:xfrm>
            <a:off x="4297679" y="1143000"/>
            <a:ext cx="3703320" cy="5394960"/>
          </a:xfrm>
          <a:prstGeom prst="rect">
            <a:avLst/>
          </a:prstGeom>
          <a:solidFill>
            <a:srgbClr val="1E293B"/>
          </a:solidFill>
          <a:ln w="15240">
            <a:solidFill>
              <a:srgbClr val="104A3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297679" y="1143000"/>
            <a:ext cx="3703320" cy="594360"/>
          </a:xfrm>
          <a:prstGeom prst="rect">
            <a:avLst/>
          </a:prstGeom>
          <a:solidFill>
            <a:srgbClr val="107A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389119" y="1234440"/>
            <a:ext cx="3520440" cy="457200"/>
          </a:xfrm>
          <a:prstGeom prst="rect">
            <a:avLst/>
          </a:prstGeom>
          <a:noFill/>
        </p:spPr>
        <p:txBody>
          <a:bodyPr wrap="square">
            <a:spAutoFit/>
          </a:bodyPr>
          <a:lstStyle/>
          <a:p>
            <a:pPr algn="ctr"/>
            <a:r>
              <a:rPr sz="1500" b="1">
                <a:solidFill>
                  <a:srgbClr val="F8FAFC"/>
                </a:solidFill>
                <a:latin typeface="Meiryo"/>
              </a:rPr>
              <a:t>200万円達成時</a:t>
            </a:r>
          </a:p>
        </p:txBody>
      </p:sp>
      <p:sp>
        <p:nvSpPr>
          <p:cNvPr id="15" name="TextBox 14"/>
          <p:cNvSpPr txBox="1"/>
          <p:nvPr/>
        </p:nvSpPr>
        <p:spPr>
          <a:xfrm>
            <a:off x="4434839" y="1920240"/>
            <a:ext cx="3429000" cy="4389120"/>
          </a:xfrm>
          <a:prstGeom prst="rect">
            <a:avLst/>
          </a:prstGeom>
          <a:noFill/>
        </p:spPr>
        <p:txBody>
          <a:bodyPr wrap="square">
            <a:spAutoFit/>
          </a:bodyPr>
          <a:lstStyle/>
          <a:p>
            <a:pPr algn="l">
              <a:lnSpc>
                <a:spcPts val="2600"/>
              </a:lnSpc>
            </a:pPr>
            <a:r>
              <a:rPr sz="1300" b="0">
                <a:solidFill>
                  <a:srgbClr val="CBD5E1"/>
                </a:solidFill>
                <a:latin typeface="Meiryo"/>
              </a:rPr>
              <a:t>✅  スマートフォン最適化を完了</a:t>
            </a:r>
          </a:p>
          <a:p>
            <a:pPr algn="l">
              <a:lnSpc>
                <a:spcPts val="2600"/>
              </a:lnSpc>
            </a:pPr>
            <a:r>
              <a:rPr sz="1300" b="0">
                <a:solidFill>
                  <a:srgbClr val="CBD5E1"/>
                </a:solidFill>
                <a:latin typeface="Meiryo"/>
              </a:rPr>
              <a:t>✅  放課後デイサービス3施設での実証テスト開始</a:t>
            </a:r>
          </a:p>
          <a:p>
            <a:pPr algn="l">
              <a:lnSpc>
                <a:spcPts val="2600"/>
              </a:lnSpc>
            </a:pPr>
            <a:r>
              <a:rPr sz="1300" b="0">
                <a:solidFill>
                  <a:srgbClr val="CBD5E1"/>
                </a:solidFill>
                <a:latin typeface="Meiryo"/>
              </a:rPr>
              <a:t>✅  現場フィードバックによる改善</a:t>
            </a:r>
          </a:p>
        </p:txBody>
      </p:sp>
      <p:sp>
        <p:nvSpPr>
          <p:cNvPr id="16" name="Rectangle 15"/>
          <p:cNvSpPr/>
          <p:nvPr/>
        </p:nvSpPr>
        <p:spPr>
          <a:xfrm>
            <a:off x="8275318" y="1143000"/>
            <a:ext cx="3703320" cy="5394960"/>
          </a:xfrm>
          <a:prstGeom prst="rect">
            <a:avLst/>
          </a:prstGeom>
          <a:solidFill>
            <a:srgbClr val="1E293B"/>
          </a:solidFill>
          <a:ln w="15240">
            <a:solidFill>
              <a:srgbClr val="104A3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275318" y="1143000"/>
            <a:ext cx="3703320" cy="59436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366758" y="1234440"/>
            <a:ext cx="3520440" cy="457200"/>
          </a:xfrm>
          <a:prstGeom prst="rect">
            <a:avLst/>
          </a:prstGeom>
          <a:noFill/>
        </p:spPr>
        <p:txBody>
          <a:bodyPr wrap="square">
            <a:spAutoFit/>
          </a:bodyPr>
          <a:lstStyle/>
          <a:p>
            <a:pPr algn="ctr"/>
            <a:r>
              <a:rPr sz="1500" b="1">
                <a:solidFill>
                  <a:srgbClr val="F8FAFC"/>
                </a:solidFill>
                <a:latin typeface="Meiryo"/>
              </a:rPr>
              <a:t>300万円達成時（目標）</a:t>
            </a:r>
          </a:p>
        </p:txBody>
      </p:sp>
      <p:sp>
        <p:nvSpPr>
          <p:cNvPr id="19" name="TextBox 18"/>
          <p:cNvSpPr txBox="1"/>
          <p:nvPr/>
        </p:nvSpPr>
        <p:spPr>
          <a:xfrm>
            <a:off x="8412478" y="1920240"/>
            <a:ext cx="3429000" cy="4389120"/>
          </a:xfrm>
          <a:prstGeom prst="rect">
            <a:avLst/>
          </a:prstGeom>
          <a:noFill/>
        </p:spPr>
        <p:txBody>
          <a:bodyPr wrap="square">
            <a:spAutoFit/>
          </a:bodyPr>
          <a:lstStyle/>
          <a:p>
            <a:pPr algn="l">
              <a:lnSpc>
                <a:spcPts val="2600"/>
              </a:lnSpc>
            </a:pPr>
            <a:r>
              <a:rPr sz="1300" b="0">
                <a:solidFill>
                  <a:srgbClr val="CBD5E1"/>
                </a:solidFill>
                <a:latin typeface="Meiryo"/>
              </a:rPr>
              <a:t>✅  就労支援事業所10施設に無料導入</a:t>
            </a:r>
          </a:p>
          <a:p>
            <a:pPr algn="l">
              <a:lnSpc>
                <a:spcPts val="2600"/>
              </a:lnSpc>
            </a:pPr>
            <a:r>
              <a:rPr sz="1300" b="0">
                <a:solidFill>
                  <a:srgbClr val="CBD5E1"/>
                </a:solidFill>
                <a:latin typeface="Meiryo"/>
              </a:rPr>
              <a:t>✅  先輩事例データベース構築開始</a:t>
            </a:r>
          </a:p>
          <a:p>
            <a:pPr algn="l">
              <a:lnSpc>
                <a:spcPts val="2600"/>
              </a:lnSpc>
            </a:pPr>
            <a:r>
              <a:rPr sz="1300" b="0">
                <a:solidFill>
                  <a:srgbClr val="CBD5E1"/>
                </a:solidFill>
                <a:latin typeface="Meiryo"/>
              </a:rPr>
              <a:t>✅  1年間の継続運営を保証</a:t>
            </a:r>
          </a:p>
          <a:p>
            <a:pPr algn="l">
              <a:lnSpc>
                <a:spcPts val="2600"/>
              </a:lnSpc>
            </a:pPr>
            <a:r>
              <a:rPr sz="1300" b="0">
                <a:solidFill>
                  <a:srgbClr val="CBD5E1"/>
                </a:solidFill>
                <a:latin typeface="Meiryo"/>
              </a:rPr>
              <a:t>✅  開発報告動画・活動報告を継続</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0058400" y="-914400"/>
            <a:ext cx="2743200" cy="2743200"/>
          </a:xfrm>
          <a:prstGeom prst="ellipse">
            <a:avLst/>
          </a:prstGeom>
          <a:solidFill>
            <a:srgbClr val="10B981">
              <a:alpha val="9999"/>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274320" y="201168"/>
            <a:ext cx="73152" cy="475488"/>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38912" y="201168"/>
            <a:ext cx="9144000" cy="548640"/>
          </a:xfrm>
          <a:prstGeom prst="rect">
            <a:avLst/>
          </a:prstGeom>
          <a:noFill/>
        </p:spPr>
        <p:txBody>
          <a:bodyPr wrap="square">
            <a:spAutoFit/>
          </a:bodyPr>
          <a:lstStyle/>
          <a:p>
            <a:pPr algn="l"/>
            <a:r>
              <a:rPr sz="2800" b="1">
                <a:solidFill>
                  <a:srgbClr val="F8FAFC"/>
                </a:solidFill>
                <a:latin typeface="Meiryo"/>
              </a:rPr>
              <a:t>リターン（支援者へのお礼）</a:t>
            </a:r>
          </a:p>
        </p:txBody>
      </p:sp>
      <p:sp>
        <p:nvSpPr>
          <p:cNvPr id="6" name="TextBox 5"/>
          <p:cNvSpPr txBox="1"/>
          <p:nvPr/>
        </p:nvSpPr>
        <p:spPr>
          <a:xfrm>
            <a:off x="438912" y="777240"/>
            <a:ext cx="10058400" cy="365760"/>
          </a:xfrm>
          <a:prstGeom prst="rect">
            <a:avLst/>
          </a:prstGeom>
          <a:noFill/>
        </p:spPr>
        <p:txBody>
          <a:bodyPr wrap="square">
            <a:spAutoFit/>
          </a:bodyPr>
          <a:lstStyle/>
          <a:p>
            <a:pPr algn="l"/>
            <a:r>
              <a:rPr sz="1600" b="0">
                <a:solidFill>
                  <a:srgbClr val="10B981"/>
                </a:solidFill>
                <a:latin typeface="Meiryo"/>
              </a:rPr>
              <a:t>ご支援いただいた方へ、感謝を込めて</a:t>
            </a:r>
          </a:p>
        </p:txBody>
      </p:sp>
      <p:sp>
        <p:nvSpPr>
          <p:cNvPr id="7" name="TextBox 6"/>
          <p:cNvSpPr txBox="1"/>
          <p:nvPr/>
        </p:nvSpPr>
        <p:spPr>
          <a:xfrm>
            <a:off x="9601200" y="6492240"/>
            <a:ext cx="2468880" cy="320040"/>
          </a:xfrm>
          <a:prstGeom prst="rect">
            <a:avLst/>
          </a:prstGeom>
          <a:noFill/>
        </p:spPr>
        <p:txBody>
          <a:bodyPr wrap="square">
            <a:spAutoFit/>
          </a:bodyPr>
          <a:lstStyle/>
          <a:p>
            <a:pPr algn="r"/>
            <a:r>
              <a:rPr sz="800" b="0">
                <a:solidFill>
                  <a:srgbClr val="94A3B8"/>
                </a:solidFill>
                <a:latin typeface="Meiryo"/>
              </a:rPr>
              <a:t>🌱 ステップアップナビ</a:t>
            </a:r>
          </a:p>
        </p:txBody>
      </p:sp>
      <p:sp>
        <p:nvSpPr>
          <p:cNvPr id="8" name="Rectangle 7"/>
          <p:cNvSpPr/>
          <p:nvPr/>
        </p:nvSpPr>
        <p:spPr>
          <a:xfrm>
            <a:off x="320040" y="1188720"/>
            <a:ext cx="11521440" cy="594360"/>
          </a:xfrm>
          <a:prstGeom prst="rect">
            <a:avLst/>
          </a:prstGeom>
          <a:solidFill>
            <a:srgbClr val="1E293B"/>
          </a:solidFill>
          <a:ln w="15240">
            <a:solidFill>
              <a:srgbClr val="104A3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 y="1243584"/>
            <a:ext cx="11247120" cy="475488"/>
          </a:xfrm>
          <a:prstGeom prst="rect">
            <a:avLst/>
          </a:prstGeom>
          <a:noFill/>
        </p:spPr>
        <p:txBody>
          <a:bodyPr wrap="square">
            <a:spAutoFit/>
          </a:bodyPr>
          <a:lstStyle/>
          <a:p>
            <a:pPr algn="ctr"/>
            <a:r>
              <a:rPr sz="1400" b="1">
                <a:solidFill>
                  <a:srgbClr val="10B981"/>
                </a:solidFill>
                <a:latin typeface="Meiryo"/>
              </a:rPr>
              <a:t>皆さまのご支援が、このアプリを現場に届ける力になります。心よりお礼申し上げます。</a:t>
            </a:r>
          </a:p>
        </p:txBody>
      </p:sp>
      <p:graphicFrame>
        <p:nvGraphicFramePr>
          <p:cNvPr id="10" name="Table 9"/>
          <p:cNvGraphicFramePr>
            <a:graphicFrameLocks noGrp="1"/>
          </p:cNvGraphicFramePr>
          <p:nvPr/>
        </p:nvGraphicFramePr>
        <p:xfrm>
          <a:off x="320040" y="1920240"/>
          <a:ext cx="11521439" cy="4297680"/>
        </p:xfrm>
        <a:graphic>
          <a:graphicData uri="http://schemas.openxmlformats.org/drawingml/2006/table">
            <a:tbl>
              <a:tblPr firstRow="1" bandRow="1">
                <a:tableStyleId>{5C22544A-7EE6-4342-B048-85BDC9FD1C3A}</a:tableStyleId>
              </a:tblPr>
              <a:tblGrid>
                <a:gridCol w="2073859"/>
                <a:gridCol w="9447580"/>
              </a:tblGrid>
              <a:tr h="716280">
                <a:tc>
                  <a:txBody>
                    <a:bodyPr wrap="square"/>
                    <a:lstStyle/>
                    <a:p>
                      <a:pPr algn="ctr"/>
                      <a:r>
                        <a:rPr sz="1300" b="1">
                          <a:solidFill>
                            <a:srgbClr val="0F172A"/>
                          </a:solidFill>
                          <a:latin typeface="Meiryo"/>
                        </a:rPr>
                        <a:t>支援額</a:t>
                      </a:r>
                    </a:p>
                  </a:txBody>
                  <a:tcPr>
                    <a:solidFill>
                      <a:srgbClr val="10B981"/>
                    </a:solidFill>
                  </a:tcPr>
                </a:tc>
                <a:tc>
                  <a:txBody>
                    <a:bodyPr wrap="square"/>
                    <a:lstStyle/>
                    <a:p>
                      <a:pPr algn="ctr"/>
                      <a:r>
                        <a:rPr sz="1300" b="1">
                          <a:solidFill>
                            <a:srgbClr val="0F172A"/>
                          </a:solidFill>
                          <a:latin typeface="Meiryo"/>
                        </a:rPr>
                        <a:t>リターン内容</a:t>
                      </a:r>
                    </a:p>
                  </a:txBody>
                  <a:tcPr>
                    <a:solidFill>
                      <a:srgbClr val="10B981"/>
                    </a:solidFill>
                  </a:tcPr>
                </a:tc>
              </a:tr>
              <a:tr h="716280">
                <a:tc>
                  <a:txBody>
                    <a:bodyPr wrap="square"/>
                    <a:lstStyle/>
                    <a:p>
                      <a:pPr algn="ctr"/>
                      <a:r>
                        <a:rPr sz="1300" b="0">
                          <a:solidFill>
                            <a:srgbClr val="CBD5E1"/>
                          </a:solidFill>
                          <a:latin typeface="Meiryo"/>
                        </a:rPr>
                        <a:t>1,000円</a:t>
                      </a:r>
                    </a:p>
                  </a:txBody>
                  <a:tcPr>
                    <a:solidFill>
                      <a:srgbClr val="1E293B"/>
                    </a:solidFill>
                  </a:tcPr>
                </a:tc>
                <a:tc>
                  <a:txBody>
                    <a:bodyPr wrap="square"/>
                    <a:lstStyle/>
                    <a:p>
                      <a:pPr algn="l"/>
                      <a:r>
                        <a:rPr sz="1300" b="0">
                          <a:solidFill>
                            <a:srgbClr val="CBD5E1"/>
                          </a:solidFill>
                          <a:latin typeface="Meiryo"/>
                        </a:rPr>
                        <a:t>お礼メール＋アプリ開発報告（月1回）</a:t>
                      </a:r>
                    </a:p>
                  </a:txBody>
                  <a:tcPr>
                    <a:solidFill>
                      <a:srgbClr val="1E293B"/>
                    </a:solidFill>
                  </a:tcPr>
                </a:tc>
              </a:tr>
              <a:tr h="716280">
                <a:tc>
                  <a:txBody>
                    <a:bodyPr wrap="square"/>
                    <a:lstStyle/>
                    <a:p>
                      <a:pPr algn="ctr"/>
                      <a:r>
                        <a:rPr sz="1300" b="0">
                          <a:solidFill>
                            <a:srgbClr val="CBD5E1"/>
                          </a:solidFill>
                          <a:latin typeface="Meiryo"/>
                        </a:rPr>
                        <a:t>3,000円</a:t>
                      </a:r>
                    </a:p>
                  </a:txBody>
                  <a:tcPr>
                    <a:solidFill>
                      <a:srgbClr val="0F172A"/>
                    </a:solidFill>
                  </a:tcPr>
                </a:tc>
                <a:tc>
                  <a:txBody>
                    <a:bodyPr wrap="square"/>
                    <a:lstStyle/>
                    <a:p>
                      <a:pPr algn="l"/>
                      <a:r>
                        <a:rPr sz="1300" b="0">
                          <a:solidFill>
                            <a:srgbClr val="CBD5E1"/>
                          </a:solidFill>
                          <a:latin typeface="Meiryo"/>
                        </a:rPr>
                        <a:t>支援者クレジット掲載（アプリ内の「つくった人」ページに記名）</a:t>
                      </a:r>
                    </a:p>
                  </a:txBody>
                  <a:tcPr>
                    <a:solidFill>
                      <a:srgbClr val="0F172A"/>
                    </a:solidFill>
                  </a:tcPr>
                </a:tc>
              </a:tr>
              <a:tr h="716280">
                <a:tc>
                  <a:txBody>
                    <a:bodyPr wrap="square"/>
                    <a:lstStyle/>
                    <a:p>
                      <a:pPr algn="ctr"/>
                      <a:r>
                        <a:rPr sz="1300" b="0">
                          <a:solidFill>
                            <a:srgbClr val="CBD5E1"/>
                          </a:solidFill>
                          <a:latin typeface="Meiryo"/>
                        </a:rPr>
                        <a:t>10,000円</a:t>
                      </a:r>
                    </a:p>
                  </a:txBody>
                  <a:tcPr>
                    <a:solidFill>
                      <a:srgbClr val="1E293B"/>
                    </a:solidFill>
                  </a:tcPr>
                </a:tc>
                <a:tc>
                  <a:txBody>
                    <a:bodyPr wrap="square"/>
                    <a:lstStyle/>
                    <a:p>
                      <a:pPr algn="l"/>
                      <a:r>
                        <a:rPr sz="1300" b="0">
                          <a:solidFill>
                            <a:srgbClr val="CBD5E1"/>
                          </a:solidFill>
                          <a:latin typeface="Meiryo"/>
                        </a:rPr>
                        <a:t>アプリ内『応援者一覧ページ』にお名前を永久掲載＋開発進捗レポートをメールで送付（完成まで）</a:t>
                      </a:r>
                    </a:p>
                  </a:txBody>
                  <a:tcPr>
                    <a:solidFill>
                      <a:srgbClr val="1E293B"/>
                    </a:solidFill>
                  </a:tcPr>
                </a:tc>
              </a:tr>
              <a:tr h="716280">
                <a:tc>
                  <a:txBody>
                    <a:bodyPr wrap="square"/>
                    <a:lstStyle/>
                    <a:p>
                      <a:pPr algn="ctr"/>
                      <a:r>
                        <a:rPr sz="1300" b="0">
                          <a:solidFill>
                            <a:srgbClr val="CBD5E1"/>
                          </a:solidFill>
                          <a:latin typeface="Meiryo"/>
                        </a:rPr>
                        <a:t>30,000円</a:t>
                      </a:r>
                    </a:p>
                  </a:txBody>
                  <a:tcPr>
                    <a:solidFill>
                      <a:srgbClr val="0F172A"/>
                    </a:solidFill>
                  </a:tcPr>
                </a:tc>
                <a:tc>
                  <a:txBody>
                    <a:bodyPr wrap="square"/>
                    <a:lstStyle/>
                    <a:p>
                      <a:pPr algn="l"/>
                      <a:r>
                        <a:rPr sz="1300" b="0">
                          <a:solidFill>
                            <a:srgbClr val="CBD5E1"/>
                          </a:solidFill>
                          <a:latin typeface="Meiryo"/>
                        </a:rPr>
                        <a:t>アプリ内『スポンサー』としてお名前・団体名を目立つ形で永久掲載＋現場レポートPDF（年2回）</a:t>
                      </a:r>
                    </a:p>
                  </a:txBody>
                  <a:tcPr>
                    <a:solidFill>
                      <a:srgbClr val="0F172A"/>
                    </a:solidFill>
                  </a:tcPr>
                </a:tc>
              </a:tr>
              <a:tr h="716280">
                <a:tc>
                  <a:txBody>
                    <a:bodyPr wrap="square"/>
                    <a:lstStyle/>
                    <a:p>
                      <a:pPr algn="ctr"/>
                      <a:r>
                        <a:rPr sz="1300" b="0">
                          <a:solidFill>
                            <a:srgbClr val="CBD5E1"/>
                          </a:solidFill>
                          <a:latin typeface="Meiryo"/>
                        </a:rPr>
                        <a:t>100,000円</a:t>
                      </a:r>
                    </a:p>
                  </a:txBody>
                  <a:tcPr>
                    <a:solidFill>
                      <a:srgbClr val="1E293B"/>
                    </a:solidFill>
                  </a:tcPr>
                </a:tc>
                <a:tc>
                  <a:txBody>
                    <a:bodyPr wrap="square"/>
                    <a:lstStyle/>
                    <a:p>
                      <a:pPr algn="l"/>
                      <a:r>
                        <a:rPr sz="1300" b="0">
                          <a:solidFill>
                            <a:srgbClr val="CBD5E1"/>
                          </a:solidFill>
                          <a:latin typeface="Meiryo"/>
                        </a:rPr>
                        <a:t>開発へのフィードバック参加権（開発の意思決定に参加）＋事業所向け無料利用（永年）</a:t>
                      </a:r>
                    </a:p>
                  </a:txBody>
                  <a:tcPr>
                    <a:solidFill>
                      <a:srgbClr val="1E293B"/>
                    </a:solidFill>
                  </a:tcPr>
                </a:tc>
              </a:tr>
            </a:tbl>
          </a:graphicData>
        </a:graphic>
      </p:graphicFrame>
      <p:sp>
        <p:nvSpPr>
          <p:cNvPr id="11" name="Rectangle 10"/>
          <p:cNvSpPr/>
          <p:nvPr/>
        </p:nvSpPr>
        <p:spPr>
          <a:xfrm>
            <a:off x="320040" y="6309360"/>
            <a:ext cx="11521440" cy="365760"/>
          </a:xfrm>
          <a:prstGeom prst="rect">
            <a:avLst/>
          </a:prstGeom>
          <a:solidFill>
            <a:srgbClr val="1E293B"/>
          </a:solidFill>
          <a:ln w="15240">
            <a:solidFill>
              <a:srgbClr val="104A3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7200" y="6336792"/>
            <a:ext cx="11247120" cy="320040"/>
          </a:xfrm>
          <a:prstGeom prst="rect">
            <a:avLst/>
          </a:prstGeom>
          <a:noFill/>
        </p:spPr>
        <p:txBody>
          <a:bodyPr wrap="square">
            <a:spAutoFit/>
          </a:bodyPr>
          <a:lstStyle/>
          <a:p>
            <a:pPr algn="l"/>
            <a:r>
              <a:rPr sz="1100" b="0">
                <a:solidFill>
                  <a:srgbClr val="94A3B8"/>
                </a:solidFill>
                <a:latin typeface="Meiryo"/>
              </a:rPr>
              <a:t>※ リターンの詳細・送付時期はReadyforプロジェクトページをご確認ください</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0058400" y="-914400"/>
            <a:ext cx="2743200" cy="2743200"/>
          </a:xfrm>
          <a:prstGeom prst="ellipse">
            <a:avLst/>
          </a:prstGeom>
          <a:solidFill>
            <a:srgbClr val="10B981">
              <a:alpha val="9999"/>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274320" y="201168"/>
            <a:ext cx="73152" cy="475488"/>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38912" y="201168"/>
            <a:ext cx="9144000" cy="548640"/>
          </a:xfrm>
          <a:prstGeom prst="rect">
            <a:avLst/>
          </a:prstGeom>
          <a:noFill/>
        </p:spPr>
        <p:txBody>
          <a:bodyPr wrap="square">
            <a:spAutoFit/>
          </a:bodyPr>
          <a:lstStyle/>
          <a:p>
            <a:pPr algn="l"/>
            <a:r>
              <a:rPr sz="2800" b="1">
                <a:solidFill>
                  <a:srgbClr val="F8FAFC"/>
                </a:solidFill>
                <a:latin typeface="Meiryo"/>
              </a:rPr>
              <a:t>なぜ今クラウドファンディングなのか</a:t>
            </a:r>
          </a:p>
        </p:txBody>
      </p:sp>
      <p:sp>
        <p:nvSpPr>
          <p:cNvPr id="6" name="TextBox 5"/>
          <p:cNvSpPr txBox="1"/>
          <p:nvPr/>
        </p:nvSpPr>
        <p:spPr>
          <a:xfrm>
            <a:off x="438912" y="777240"/>
            <a:ext cx="10058400" cy="365760"/>
          </a:xfrm>
          <a:prstGeom prst="rect">
            <a:avLst/>
          </a:prstGeom>
          <a:noFill/>
        </p:spPr>
        <p:txBody>
          <a:bodyPr wrap="square">
            <a:spAutoFit/>
          </a:bodyPr>
          <a:lstStyle/>
          <a:p>
            <a:pPr algn="l"/>
            <a:r>
              <a:rPr sz="1600" b="0">
                <a:solidFill>
                  <a:srgbClr val="10B981"/>
                </a:solidFill>
                <a:latin typeface="Meiryo"/>
              </a:rPr>
              <a:t>投資家ではなく、関心を持つ人たちと一緒に作りたい</a:t>
            </a:r>
          </a:p>
        </p:txBody>
      </p:sp>
      <p:sp>
        <p:nvSpPr>
          <p:cNvPr id="7" name="TextBox 6"/>
          <p:cNvSpPr txBox="1"/>
          <p:nvPr/>
        </p:nvSpPr>
        <p:spPr>
          <a:xfrm>
            <a:off x="9601200" y="6492240"/>
            <a:ext cx="2468880" cy="320040"/>
          </a:xfrm>
          <a:prstGeom prst="rect">
            <a:avLst/>
          </a:prstGeom>
          <a:noFill/>
        </p:spPr>
        <p:txBody>
          <a:bodyPr wrap="square">
            <a:spAutoFit/>
          </a:bodyPr>
          <a:lstStyle/>
          <a:p>
            <a:pPr algn="r"/>
            <a:r>
              <a:rPr sz="800" b="0">
                <a:solidFill>
                  <a:srgbClr val="94A3B8"/>
                </a:solidFill>
                <a:latin typeface="Meiryo"/>
              </a:rPr>
              <a:t>🌱 ステップアップナビ</a:t>
            </a:r>
          </a:p>
        </p:txBody>
      </p:sp>
      <p:sp>
        <p:nvSpPr>
          <p:cNvPr id="8" name="Rectangle 7"/>
          <p:cNvSpPr/>
          <p:nvPr/>
        </p:nvSpPr>
        <p:spPr>
          <a:xfrm>
            <a:off x="320040" y="1188720"/>
            <a:ext cx="11521440" cy="868680"/>
          </a:xfrm>
          <a:prstGeom prst="rect">
            <a:avLst/>
          </a:prstGeom>
          <a:solidFill>
            <a:srgbClr val="1E293B"/>
          </a:solidFill>
          <a:ln w="15240">
            <a:solidFill>
              <a:srgbClr val="104A3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320040" y="1188720"/>
            <a:ext cx="73152" cy="86868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2920" y="1298448"/>
            <a:ext cx="11247120" cy="667512"/>
          </a:xfrm>
          <a:prstGeom prst="rect">
            <a:avLst/>
          </a:prstGeom>
          <a:noFill/>
        </p:spPr>
        <p:txBody>
          <a:bodyPr wrap="square">
            <a:spAutoFit/>
          </a:bodyPr>
          <a:lstStyle/>
          <a:p>
            <a:pPr algn="ctr"/>
            <a:r>
              <a:rPr sz="2000" b="1">
                <a:solidFill>
                  <a:srgbClr val="F8FAFC"/>
                </a:solidFill>
                <a:latin typeface="Meiryo"/>
              </a:rPr>
              <a:t>「まず現場で使われ、現場の声で育てるアプリを作りたい」</a:t>
            </a:r>
          </a:p>
        </p:txBody>
      </p:sp>
      <p:sp>
        <p:nvSpPr>
          <p:cNvPr id="11" name="Rectangle 10"/>
          <p:cNvSpPr/>
          <p:nvPr/>
        </p:nvSpPr>
        <p:spPr>
          <a:xfrm>
            <a:off x="320040" y="2286000"/>
            <a:ext cx="5577840" cy="1691640"/>
          </a:xfrm>
          <a:prstGeom prst="rect">
            <a:avLst/>
          </a:prstGeom>
          <a:solidFill>
            <a:srgbClr val="1E293B"/>
          </a:solidFill>
          <a:ln w="15240">
            <a:solidFill>
              <a:srgbClr val="104A3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20040" y="2286000"/>
            <a:ext cx="5577840" cy="411480"/>
          </a:xfrm>
          <a:prstGeom prst="rect">
            <a:avLst/>
          </a:prstGeom>
          <a:solidFill>
            <a:srgbClr val="104A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 y="2331720"/>
            <a:ext cx="5303520" cy="347472"/>
          </a:xfrm>
          <a:prstGeom prst="rect">
            <a:avLst/>
          </a:prstGeom>
          <a:noFill/>
        </p:spPr>
        <p:txBody>
          <a:bodyPr wrap="square">
            <a:spAutoFit/>
          </a:bodyPr>
          <a:lstStyle/>
          <a:p>
            <a:pPr algn="l"/>
            <a:r>
              <a:rPr sz="1300" b="1">
                <a:solidFill>
                  <a:srgbClr val="10B981"/>
                </a:solidFill>
                <a:latin typeface="Meiryo"/>
              </a:rPr>
              <a:t>💬  現場の声で育てたい</a:t>
            </a:r>
          </a:p>
        </p:txBody>
      </p:sp>
      <p:sp>
        <p:nvSpPr>
          <p:cNvPr id="14" name="TextBox 13"/>
          <p:cNvSpPr txBox="1"/>
          <p:nvPr/>
        </p:nvSpPr>
        <p:spPr>
          <a:xfrm>
            <a:off x="457200" y="2788920"/>
            <a:ext cx="5303520" cy="1051560"/>
          </a:xfrm>
          <a:prstGeom prst="rect">
            <a:avLst/>
          </a:prstGeom>
          <a:noFill/>
        </p:spPr>
        <p:txBody>
          <a:bodyPr wrap="square">
            <a:spAutoFit/>
          </a:bodyPr>
          <a:lstStyle/>
          <a:p>
            <a:pPr algn="l">
              <a:lnSpc>
                <a:spcPts val="2000"/>
              </a:lnSpc>
            </a:pPr>
            <a:r>
              <a:rPr sz="1200" b="0">
                <a:solidFill>
                  <a:srgbClr val="CBD5E1"/>
                </a:solidFill>
                <a:latin typeface="Meiryo"/>
              </a:rPr>
              <a:t>投資家の論理ではなく、実際に障害福祉に関心を持つ人たちの声で</a:t>
            </a:r>
          </a:p>
          <a:p>
            <a:pPr algn="l">
              <a:lnSpc>
                <a:spcPts val="2000"/>
              </a:lnSpc>
            </a:pPr>
            <a:r>
              <a:rPr sz="1200" b="0">
                <a:solidFill>
                  <a:srgbClr val="CBD5E1"/>
                </a:solidFill>
                <a:latin typeface="Meiryo"/>
              </a:rPr>
              <a:t>アプリを育てていきたいと考えています。</a:t>
            </a:r>
          </a:p>
        </p:txBody>
      </p:sp>
      <p:sp>
        <p:nvSpPr>
          <p:cNvPr id="15" name="Rectangle 14"/>
          <p:cNvSpPr/>
          <p:nvPr/>
        </p:nvSpPr>
        <p:spPr>
          <a:xfrm>
            <a:off x="6263640" y="2286000"/>
            <a:ext cx="5577840" cy="1691640"/>
          </a:xfrm>
          <a:prstGeom prst="rect">
            <a:avLst/>
          </a:prstGeom>
          <a:solidFill>
            <a:srgbClr val="1E293B"/>
          </a:solidFill>
          <a:ln w="15240">
            <a:solidFill>
              <a:srgbClr val="104A3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63640" y="2286000"/>
            <a:ext cx="5577840" cy="411480"/>
          </a:xfrm>
          <a:prstGeom prst="rect">
            <a:avLst/>
          </a:prstGeom>
          <a:solidFill>
            <a:srgbClr val="104A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00800" y="2331720"/>
            <a:ext cx="5303520" cy="347472"/>
          </a:xfrm>
          <a:prstGeom prst="rect">
            <a:avLst/>
          </a:prstGeom>
          <a:noFill/>
        </p:spPr>
        <p:txBody>
          <a:bodyPr wrap="square">
            <a:spAutoFit/>
          </a:bodyPr>
          <a:lstStyle/>
          <a:p>
            <a:pPr algn="l"/>
            <a:r>
              <a:rPr sz="1300" b="1">
                <a:solidFill>
                  <a:srgbClr val="10B981"/>
                </a:solidFill>
                <a:latin typeface="Meiryo"/>
              </a:rPr>
              <a:t>🔨  小さくても動くものがある</a:t>
            </a:r>
          </a:p>
        </p:txBody>
      </p:sp>
      <p:sp>
        <p:nvSpPr>
          <p:cNvPr id="18" name="TextBox 17"/>
          <p:cNvSpPr txBox="1"/>
          <p:nvPr/>
        </p:nvSpPr>
        <p:spPr>
          <a:xfrm>
            <a:off x="6400800" y="2788920"/>
            <a:ext cx="5303520" cy="1051560"/>
          </a:xfrm>
          <a:prstGeom prst="rect">
            <a:avLst/>
          </a:prstGeom>
          <a:noFill/>
        </p:spPr>
        <p:txBody>
          <a:bodyPr wrap="square">
            <a:spAutoFit/>
          </a:bodyPr>
          <a:lstStyle/>
          <a:p>
            <a:pPr algn="l">
              <a:lnSpc>
                <a:spcPts val="2000"/>
              </a:lnSpc>
            </a:pPr>
            <a:r>
              <a:rPr sz="1200" b="0">
                <a:solidFill>
                  <a:srgbClr val="CBD5E1"/>
                </a:solidFill>
                <a:latin typeface="Meiryo"/>
              </a:rPr>
              <a:t>β版はすでに稼働中。積み重ねてきた実績があります。</a:t>
            </a:r>
          </a:p>
          <a:p>
            <a:pPr algn="l">
              <a:lnSpc>
                <a:spcPts val="2000"/>
              </a:lnSpc>
            </a:pPr>
            <a:r>
              <a:rPr sz="1200" b="0">
                <a:solidFill>
                  <a:srgbClr val="CBD5E1"/>
                </a:solidFill>
                <a:latin typeface="Meiryo"/>
              </a:rPr>
              <a:t>「できる」と言うだけでなく、「すでに動いている」ことが出発点です。</a:t>
            </a:r>
          </a:p>
        </p:txBody>
      </p:sp>
      <p:sp>
        <p:nvSpPr>
          <p:cNvPr id="19" name="Rectangle 18"/>
          <p:cNvSpPr/>
          <p:nvPr/>
        </p:nvSpPr>
        <p:spPr>
          <a:xfrm>
            <a:off x="320040" y="4114800"/>
            <a:ext cx="5577840" cy="1691640"/>
          </a:xfrm>
          <a:prstGeom prst="rect">
            <a:avLst/>
          </a:prstGeom>
          <a:solidFill>
            <a:srgbClr val="1E293B"/>
          </a:solidFill>
          <a:ln w="15240">
            <a:solidFill>
              <a:srgbClr val="104A3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320040" y="4114800"/>
            <a:ext cx="5577840" cy="411480"/>
          </a:xfrm>
          <a:prstGeom prst="rect">
            <a:avLst/>
          </a:prstGeom>
          <a:solidFill>
            <a:srgbClr val="104A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57200" y="4160520"/>
            <a:ext cx="5303520" cy="347472"/>
          </a:xfrm>
          <a:prstGeom prst="rect">
            <a:avLst/>
          </a:prstGeom>
          <a:noFill/>
        </p:spPr>
        <p:txBody>
          <a:bodyPr wrap="square">
            <a:spAutoFit/>
          </a:bodyPr>
          <a:lstStyle/>
          <a:p>
            <a:pPr algn="l"/>
            <a:r>
              <a:rPr sz="1300" b="1">
                <a:solidFill>
                  <a:srgbClr val="10B981"/>
                </a:solidFill>
                <a:latin typeface="Meiryo"/>
              </a:rPr>
              <a:t>🤝  現場への橋渡しができている</a:t>
            </a:r>
          </a:p>
        </p:txBody>
      </p:sp>
      <p:sp>
        <p:nvSpPr>
          <p:cNvPr id="22" name="TextBox 21"/>
          <p:cNvSpPr txBox="1"/>
          <p:nvPr/>
        </p:nvSpPr>
        <p:spPr>
          <a:xfrm>
            <a:off x="457200" y="4617720"/>
            <a:ext cx="5303520" cy="1051560"/>
          </a:xfrm>
          <a:prstGeom prst="rect">
            <a:avLst/>
          </a:prstGeom>
          <a:noFill/>
        </p:spPr>
        <p:txBody>
          <a:bodyPr wrap="square">
            <a:spAutoFit/>
          </a:bodyPr>
          <a:lstStyle/>
          <a:p>
            <a:pPr algn="l">
              <a:lnSpc>
                <a:spcPts val="2000"/>
              </a:lnSpc>
            </a:pPr>
            <a:r>
              <a:rPr sz="1200" b="0">
                <a:solidFill>
                  <a:srgbClr val="CBD5E1"/>
                </a:solidFill>
                <a:latin typeface="Meiryo"/>
              </a:rPr>
              <a:t>放課後デイサービスとの連携で、開発したものをすぐに現場に届け</a:t>
            </a:r>
          </a:p>
          <a:p>
            <a:pPr algn="l">
              <a:lnSpc>
                <a:spcPts val="2000"/>
              </a:lnSpc>
            </a:pPr>
            <a:r>
              <a:rPr sz="1200" b="0">
                <a:solidFill>
                  <a:srgbClr val="CBD5E1"/>
                </a:solidFill>
                <a:latin typeface="Meiryo"/>
              </a:rPr>
              <a:t>フィードバックを得られる体制が整っています。</a:t>
            </a:r>
          </a:p>
        </p:txBody>
      </p:sp>
      <p:sp>
        <p:nvSpPr>
          <p:cNvPr id="23" name="Rectangle 22"/>
          <p:cNvSpPr/>
          <p:nvPr/>
        </p:nvSpPr>
        <p:spPr>
          <a:xfrm>
            <a:off x="6263640" y="4114800"/>
            <a:ext cx="5577840" cy="1691640"/>
          </a:xfrm>
          <a:prstGeom prst="rect">
            <a:avLst/>
          </a:prstGeom>
          <a:solidFill>
            <a:srgbClr val="1E293B"/>
          </a:solidFill>
          <a:ln w="15240">
            <a:solidFill>
              <a:srgbClr val="104A3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263640" y="4114800"/>
            <a:ext cx="5577840" cy="411480"/>
          </a:xfrm>
          <a:prstGeom prst="rect">
            <a:avLst/>
          </a:prstGeom>
          <a:solidFill>
            <a:srgbClr val="104A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00800" y="4160520"/>
            <a:ext cx="5303520" cy="347472"/>
          </a:xfrm>
          <a:prstGeom prst="rect">
            <a:avLst/>
          </a:prstGeom>
          <a:noFill/>
        </p:spPr>
        <p:txBody>
          <a:bodyPr wrap="square">
            <a:spAutoFit/>
          </a:bodyPr>
          <a:lstStyle/>
          <a:p>
            <a:pPr algn="l"/>
            <a:r>
              <a:rPr sz="1300" b="1">
                <a:solidFill>
                  <a:srgbClr val="10B981"/>
                </a:solidFill>
                <a:latin typeface="Meiryo"/>
              </a:rPr>
              <a:t>🌱  一緒に育ててほしい</a:t>
            </a:r>
          </a:p>
        </p:txBody>
      </p:sp>
      <p:sp>
        <p:nvSpPr>
          <p:cNvPr id="26" name="TextBox 25"/>
          <p:cNvSpPr txBox="1"/>
          <p:nvPr/>
        </p:nvSpPr>
        <p:spPr>
          <a:xfrm>
            <a:off x="6400800" y="4617720"/>
            <a:ext cx="5303520" cy="1051560"/>
          </a:xfrm>
          <a:prstGeom prst="rect">
            <a:avLst/>
          </a:prstGeom>
          <a:noFill/>
        </p:spPr>
        <p:txBody>
          <a:bodyPr wrap="square">
            <a:spAutoFit/>
          </a:bodyPr>
          <a:lstStyle/>
          <a:p>
            <a:pPr algn="l">
              <a:lnSpc>
                <a:spcPts val="2000"/>
              </a:lnSpc>
            </a:pPr>
            <a:r>
              <a:rPr sz="1200" b="0">
                <a:solidFill>
                  <a:srgbClr val="CBD5E1"/>
                </a:solidFill>
                <a:latin typeface="Meiryo"/>
              </a:rPr>
              <a:t>1人のエンジニアが作ったアプリですが、支援してくださる方の名前を</a:t>
            </a:r>
          </a:p>
          <a:p>
            <a:pPr algn="l">
              <a:lnSpc>
                <a:spcPts val="2000"/>
              </a:lnSpc>
            </a:pPr>
            <a:r>
              <a:rPr sz="1200" b="0">
                <a:solidFill>
                  <a:srgbClr val="CBD5E1"/>
                </a:solidFill>
                <a:latin typeface="Meiryo"/>
              </a:rPr>
              <a:t>アプリの中に刻んで、一緒に育てていきたいと思っています。</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0058400" y="-914400"/>
            <a:ext cx="2743200" cy="2743200"/>
          </a:xfrm>
          <a:prstGeom prst="ellipse">
            <a:avLst/>
          </a:prstGeom>
          <a:solidFill>
            <a:srgbClr val="10B981">
              <a:alpha val="9999"/>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274320" y="201168"/>
            <a:ext cx="73152" cy="475488"/>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38912" y="201168"/>
            <a:ext cx="9144000" cy="548640"/>
          </a:xfrm>
          <a:prstGeom prst="rect">
            <a:avLst/>
          </a:prstGeom>
          <a:noFill/>
        </p:spPr>
        <p:txBody>
          <a:bodyPr wrap="square">
            <a:spAutoFit/>
          </a:bodyPr>
          <a:lstStyle/>
          <a:p>
            <a:pPr algn="l"/>
            <a:r>
              <a:rPr sz="2800" b="1">
                <a:solidFill>
                  <a:srgbClr val="F8FAFC"/>
                </a:solidFill>
                <a:latin typeface="Meiryo"/>
              </a:rPr>
              <a:t>今後のロードマップ</a:t>
            </a:r>
          </a:p>
        </p:txBody>
      </p:sp>
      <p:sp>
        <p:nvSpPr>
          <p:cNvPr id="6" name="TextBox 5"/>
          <p:cNvSpPr txBox="1"/>
          <p:nvPr/>
        </p:nvSpPr>
        <p:spPr>
          <a:xfrm>
            <a:off x="438912" y="777240"/>
            <a:ext cx="10058400" cy="365760"/>
          </a:xfrm>
          <a:prstGeom prst="rect">
            <a:avLst/>
          </a:prstGeom>
          <a:noFill/>
        </p:spPr>
        <p:txBody>
          <a:bodyPr wrap="square">
            <a:spAutoFit/>
          </a:bodyPr>
          <a:lstStyle/>
          <a:p>
            <a:pPr algn="l"/>
            <a:r>
              <a:rPr sz="1600" b="0">
                <a:solidFill>
                  <a:srgbClr val="10B981"/>
                </a:solidFill>
                <a:latin typeface="Meiryo"/>
              </a:rPr>
              <a:t>一歩ずつ、着実に現場に届けていきます</a:t>
            </a:r>
          </a:p>
        </p:txBody>
      </p:sp>
      <p:sp>
        <p:nvSpPr>
          <p:cNvPr id="7" name="TextBox 6"/>
          <p:cNvSpPr txBox="1"/>
          <p:nvPr/>
        </p:nvSpPr>
        <p:spPr>
          <a:xfrm>
            <a:off x="9601200" y="6492240"/>
            <a:ext cx="2468880" cy="320040"/>
          </a:xfrm>
          <a:prstGeom prst="rect">
            <a:avLst/>
          </a:prstGeom>
          <a:noFill/>
        </p:spPr>
        <p:txBody>
          <a:bodyPr wrap="square">
            <a:spAutoFit/>
          </a:bodyPr>
          <a:lstStyle/>
          <a:p>
            <a:pPr algn="r"/>
            <a:r>
              <a:rPr sz="800" b="0">
                <a:solidFill>
                  <a:srgbClr val="94A3B8"/>
                </a:solidFill>
                <a:latin typeface="Meiryo"/>
              </a:rPr>
              <a:t>🌱 ステップアップナビ</a:t>
            </a:r>
          </a:p>
        </p:txBody>
      </p:sp>
      <p:sp>
        <p:nvSpPr>
          <p:cNvPr id="8" name="Rectangle 7"/>
          <p:cNvSpPr/>
          <p:nvPr/>
        </p:nvSpPr>
        <p:spPr>
          <a:xfrm>
            <a:off x="320040" y="1188720"/>
            <a:ext cx="2743200" cy="5303520"/>
          </a:xfrm>
          <a:prstGeom prst="rect">
            <a:avLst/>
          </a:prstGeom>
          <a:solidFill>
            <a:srgbClr val="1E293B"/>
          </a:solidFill>
          <a:ln w="15240">
            <a:solidFill>
              <a:srgbClr val="104A3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320040" y="1188720"/>
            <a:ext cx="2743200" cy="594360"/>
          </a:xfrm>
          <a:prstGeom prst="rect">
            <a:avLst/>
          </a:prstGeom>
          <a:solidFill>
            <a:srgbClr val="104A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11480" y="1234440"/>
            <a:ext cx="2560320" cy="530352"/>
          </a:xfrm>
          <a:prstGeom prst="rect">
            <a:avLst/>
          </a:prstGeom>
          <a:noFill/>
        </p:spPr>
        <p:txBody>
          <a:bodyPr wrap="square">
            <a:spAutoFit/>
          </a:bodyPr>
          <a:lstStyle/>
          <a:p>
            <a:pPr algn="ctr"/>
            <a:r>
              <a:rPr sz="1300" b="1">
                <a:solidFill>
                  <a:srgbClr val="F8FAFC"/>
                </a:solidFill>
                <a:latin typeface="Meiryo"/>
              </a:rPr>
              <a:t>フェーズ1
（現在）</a:t>
            </a:r>
          </a:p>
        </p:txBody>
      </p:sp>
      <p:sp>
        <p:nvSpPr>
          <p:cNvPr id="11" name="TextBox 10"/>
          <p:cNvSpPr txBox="1"/>
          <p:nvPr/>
        </p:nvSpPr>
        <p:spPr>
          <a:xfrm>
            <a:off x="411480" y="1920240"/>
            <a:ext cx="2560320" cy="3017520"/>
          </a:xfrm>
          <a:prstGeom prst="rect">
            <a:avLst/>
          </a:prstGeom>
          <a:noFill/>
        </p:spPr>
        <p:txBody>
          <a:bodyPr wrap="square">
            <a:spAutoFit/>
          </a:bodyPr>
          <a:lstStyle/>
          <a:p>
            <a:pPr algn="l">
              <a:lnSpc>
                <a:spcPts val="2400"/>
              </a:lnSpc>
            </a:pPr>
            <a:r>
              <a:rPr sz="1300" b="0">
                <a:solidFill>
                  <a:srgbClr val="CBD5E1"/>
                </a:solidFill>
                <a:latin typeface="Meiryo"/>
              </a:rPr>
              <a:t>● β版稼働中</a:t>
            </a:r>
          </a:p>
          <a:p>
            <a:pPr algn="l">
              <a:lnSpc>
                <a:spcPts val="2400"/>
              </a:lnSpc>
            </a:pPr>
            <a:r>
              <a:rPr sz="1300" b="0">
                <a:solidFill>
                  <a:srgbClr val="CBD5E1"/>
                </a:solidFill>
                <a:latin typeface="Meiryo"/>
              </a:rPr>
              <a:t>● 9機能実装済み</a:t>
            </a:r>
          </a:p>
          <a:p>
            <a:pPr algn="l">
              <a:lnSpc>
                <a:spcPts val="2400"/>
              </a:lnSpc>
            </a:pPr>
            <a:r>
              <a:rPr sz="1300" b="0">
                <a:solidFill>
                  <a:srgbClr val="CBD5E1"/>
                </a:solidFill>
                <a:latin typeface="Meiryo"/>
              </a:rPr>
              <a:t>● Railway本番環境</a:t>
            </a:r>
          </a:p>
          <a:p>
            <a:pPr algn="l">
              <a:lnSpc>
                <a:spcPts val="2400"/>
              </a:lnSpc>
            </a:pPr>
            <a:r>
              <a:rPr sz="1300" b="0">
                <a:solidFill>
                  <a:srgbClr val="CBD5E1"/>
                </a:solidFill>
                <a:latin typeface="Meiryo"/>
              </a:rPr>
              <a:t>● 放課後デイ連携開始</a:t>
            </a:r>
          </a:p>
        </p:txBody>
      </p:sp>
      <p:sp>
        <p:nvSpPr>
          <p:cNvPr id="12" name="Rectangle 11"/>
          <p:cNvSpPr/>
          <p:nvPr/>
        </p:nvSpPr>
        <p:spPr>
          <a:xfrm>
            <a:off x="320040" y="5623560"/>
            <a:ext cx="2743200" cy="457200"/>
          </a:xfrm>
          <a:prstGeom prst="rect">
            <a:avLst/>
          </a:prstGeom>
          <a:solidFill>
            <a:srgbClr val="104A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65760" y="5641848"/>
            <a:ext cx="2651760" cy="411480"/>
          </a:xfrm>
          <a:prstGeom prst="rect">
            <a:avLst/>
          </a:prstGeom>
          <a:noFill/>
        </p:spPr>
        <p:txBody>
          <a:bodyPr wrap="square">
            <a:spAutoFit/>
          </a:bodyPr>
          <a:lstStyle/>
          <a:p>
            <a:pPr algn="ctr"/>
            <a:r>
              <a:rPr sz="1100" b="1">
                <a:solidFill>
                  <a:srgbClr val="F8FAFC"/>
                </a:solidFill>
                <a:latin typeface="Meiryo"/>
              </a:rPr>
              <a:t>自己資金で開発</a:t>
            </a:r>
          </a:p>
        </p:txBody>
      </p:sp>
      <p:sp>
        <p:nvSpPr>
          <p:cNvPr id="14" name="Rectangle 13"/>
          <p:cNvSpPr/>
          <p:nvPr/>
        </p:nvSpPr>
        <p:spPr>
          <a:xfrm>
            <a:off x="3291840" y="1188720"/>
            <a:ext cx="2743200" cy="5303520"/>
          </a:xfrm>
          <a:prstGeom prst="rect">
            <a:avLst/>
          </a:prstGeom>
          <a:solidFill>
            <a:srgbClr val="1E293B"/>
          </a:solidFill>
          <a:ln w="15240">
            <a:solidFill>
              <a:srgbClr val="104A3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291840" y="1188720"/>
            <a:ext cx="2743200" cy="594360"/>
          </a:xfrm>
          <a:prstGeom prst="rect">
            <a:avLst/>
          </a:prstGeom>
          <a:solidFill>
            <a:srgbClr val="107A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383280" y="1234440"/>
            <a:ext cx="2560320" cy="530352"/>
          </a:xfrm>
          <a:prstGeom prst="rect">
            <a:avLst/>
          </a:prstGeom>
          <a:noFill/>
        </p:spPr>
        <p:txBody>
          <a:bodyPr wrap="square">
            <a:spAutoFit/>
          </a:bodyPr>
          <a:lstStyle/>
          <a:p>
            <a:pPr algn="ctr"/>
            <a:r>
              <a:rPr sz="1300" b="1">
                <a:solidFill>
                  <a:srgbClr val="F8FAFC"/>
                </a:solidFill>
                <a:latin typeface="Meiryo"/>
              </a:rPr>
              <a:t>フェーズ2
（〜6ヶ月後）</a:t>
            </a:r>
          </a:p>
        </p:txBody>
      </p:sp>
      <p:sp>
        <p:nvSpPr>
          <p:cNvPr id="17" name="TextBox 16"/>
          <p:cNvSpPr txBox="1"/>
          <p:nvPr/>
        </p:nvSpPr>
        <p:spPr>
          <a:xfrm>
            <a:off x="3383280" y="1920240"/>
            <a:ext cx="2560320" cy="3017520"/>
          </a:xfrm>
          <a:prstGeom prst="rect">
            <a:avLst/>
          </a:prstGeom>
          <a:noFill/>
        </p:spPr>
        <p:txBody>
          <a:bodyPr wrap="square">
            <a:spAutoFit/>
          </a:bodyPr>
          <a:lstStyle/>
          <a:p>
            <a:pPr algn="l">
              <a:lnSpc>
                <a:spcPts val="2400"/>
              </a:lnSpc>
            </a:pPr>
            <a:r>
              <a:rPr sz="1300" b="0">
                <a:solidFill>
                  <a:srgbClr val="CBD5E1"/>
                </a:solidFill>
                <a:latin typeface="Meiryo"/>
              </a:rPr>
              <a:t>◎ AI機能強化（RAG）</a:t>
            </a:r>
          </a:p>
          <a:p>
            <a:pPr algn="l">
              <a:lnSpc>
                <a:spcPts val="2400"/>
              </a:lnSpc>
            </a:pPr>
            <a:r>
              <a:rPr sz="1300" b="0">
                <a:solidFill>
                  <a:srgbClr val="CBD5E1"/>
                </a:solidFill>
                <a:latin typeface="Meiryo"/>
              </a:rPr>
              <a:t>◎ スマホ最適化完了</a:t>
            </a:r>
          </a:p>
          <a:p>
            <a:pPr algn="l">
              <a:lnSpc>
                <a:spcPts val="2400"/>
              </a:lnSpc>
            </a:pPr>
            <a:r>
              <a:rPr sz="1300" b="0">
                <a:solidFill>
                  <a:srgbClr val="CBD5E1"/>
                </a:solidFill>
                <a:latin typeface="Meiryo"/>
              </a:rPr>
              <a:t>◎ 事業所導入テスト</a:t>
            </a:r>
          </a:p>
          <a:p>
            <a:pPr algn="l">
              <a:lnSpc>
                <a:spcPts val="2400"/>
              </a:lnSpc>
            </a:pPr>
            <a:r>
              <a:rPr sz="1300" b="0">
                <a:solidFill>
                  <a:srgbClr val="CBD5E1"/>
                </a:solidFill>
                <a:latin typeface="Meiryo"/>
              </a:rPr>
              <a:t>◎ フィードバック収集</a:t>
            </a:r>
          </a:p>
        </p:txBody>
      </p:sp>
      <p:sp>
        <p:nvSpPr>
          <p:cNvPr id="18" name="Rectangle 17"/>
          <p:cNvSpPr/>
          <p:nvPr/>
        </p:nvSpPr>
        <p:spPr>
          <a:xfrm>
            <a:off x="3291840" y="5623560"/>
            <a:ext cx="2743200" cy="457200"/>
          </a:xfrm>
          <a:prstGeom prst="rect">
            <a:avLst/>
          </a:prstGeom>
          <a:solidFill>
            <a:srgbClr val="107A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337560" y="5641848"/>
            <a:ext cx="2651760" cy="411480"/>
          </a:xfrm>
          <a:prstGeom prst="rect">
            <a:avLst/>
          </a:prstGeom>
          <a:noFill/>
        </p:spPr>
        <p:txBody>
          <a:bodyPr wrap="square">
            <a:spAutoFit/>
          </a:bodyPr>
          <a:lstStyle/>
          <a:p>
            <a:pPr algn="ctr"/>
            <a:r>
              <a:rPr sz="1100" b="1">
                <a:solidFill>
                  <a:srgbClr val="F8FAFC"/>
                </a:solidFill>
                <a:latin typeface="Meiryo"/>
              </a:rPr>
              <a:t>CF資金で実現</a:t>
            </a:r>
          </a:p>
        </p:txBody>
      </p:sp>
      <p:sp>
        <p:nvSpPr>
          <p:cNvPr id="20" name="Rectangle 19"/>
          <p:cNvSpPr/>
          <p:nvPr/>
        </p:nvSpPr>
        <p:spPr>
          <a:xfrm>
            <a:off x="6263640" y="1188720"/>
            <a:ext cx="2743200" cy="5303520"/>
          </a:xfrm>
          <a:prstGeom prst="rect">
            <a:avLst/>
          </a:prstGeom>
          <a:solidFill>
            <a:srgbClr val="1E293B"/>
          </a:solidFill>
          <a:ln w="15240">
            <a:solidFill>
              <a:srgbClr val="104A3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263640" y="1188720"/>
            <a:ext cx="2743200" cy="594360"/>
          </a:xfrm>
          <a:prstGeom prst="rect">
            <a:avLst/>
          </a:prstGeom>
          <a:solidFill>
            <a:srgbClr val="10A0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55080" y="1234440"/>
            <a:ext cx="2560320" cy="530352"/>
          </a:xfrm>
          <a:prstGeom prst="rect">
            <a:avLst/>
          </a:prstGeom>
          <a:noFill/>
        </p:spPr>
        <p:txBody>
          <a:bodyPr wrap="square">
            <a:spAutoFit/>
          </a:bodyPr>
          <a:lstStyle/>
          <a:p>
            <a:pPr algn="ctr"/>
            <a:r>
              <a:rPr sz="1300" b="1">
                <a:solidFill>
                  <a:srgbClr val="F8FAFC"/>
                </a:solidFill>
                <a:latin typeface="Meiryo"/>
              </a:rPr>
              <a:t>フェーズ3
（〜1年後）</a:t>
            </a:r>
          </a:p>
        </p:txBody>
      </p:sp>
      <p:sp>
        <p:nvSpPr>
          <p:cNvPr id="23" name="TextBox 22"/>
          <p:cNvSpPr txBox="1"/>
          <p:nvPr/>
        </p:nvSpPr>
        <p:spPr>
          <a:xfrm>
            <a:off x="6355080" y="1920240"/>
            <a:ext cx="2560320" cy="3017520"/>
          </a:xfrm>
          <a:prstGeom prst="rect">
            <a:avLst/>
          </a:prstGeom>
          <a:noFill/>
        </p:spPr>
        <p:txBody>
          <a:bodyPr wrap="square">
            <a:spAutoFit/>
          </a:bodyPr>
          <a:lstStyle/>
          <a:p>
            <a:pPr algn="l">
              <a:lnSpc>
                <a:spcPts val="2400"/>
              </a:lnSpc>
            </a:pPr>
            <a:r>
              <a:rPr sz="1300" b="0">
                <a:solidFill>
                  <a:srgbClr val="CBD5E1"/>
                </a:solidFill>
                <a:latin typeface="Meiryo"/>
              </a:rPr>
              <a:t>△ マッチング機能追加</a:t>
            </a:r>
          </a:p>
          <a:p>
            <a:pPr algn="l">
              <a:lnSpc>
                <a:spcPts val="2400"/>
              </a:lnSpc>
            </a:pPr>
            <a:r>
              <a:rPr sz="1300" b="0">
                <a:solidFill>
                  <a:srgbClr val="CBD5E1"/>
                </a:solidFill>
                <a:latin typeface="Meiryo"/>
              </a:rPr>
              <a:t>△ 先輩事例データベース</a:t>
            </a:r>
          </a:p>
          <a:p>
            <a:pPr algn="l">
              <a:lnSpc>
                <a:spcPts val="2400"/>
              </a:lnSpc>
            </a:pPr>
            <a:r>
              <a:rPr sz="1300" b="0">
                <a:solidFill>
                  <a:srgbClr val="CBD5E1"/>
                </a:solidFill>
                <a:latin typeface="Meiryo"/>
              </a:rPr>
              <a:t>△ 10施設への本格導入</a:t>
            </a:r>
          </a:p>
          <a:p>
            <a:pPr algn="l">
              <a:lnSpc>
                <a:spcPts val="2400"/>
              </a:lnSpc>
            </a:pPr>
            <a:r>
              <a:rPr sz="1300" b="0">
                <a:solidFill>
                  <a:srgbClr val="CBD5E1"/>
                </a:solidFill>
                <a:latin typeface="Meiryo"/>
              </a:rPr>
              <a:t>△ 活動報告・開示</a:t>
            </a:r>
          </a:p>
        </p:txBody>
      </p:sp>
      <p:sp>
        <p:nvSpPr>
          <p:cNvPr id="24" name="Rectangle 23"/>
          <p:cNvSpPr/>
          <p:nvPr/>
        </p:nvSpPr>
        <p:spPr>
          <a:xfrm>
            <a:off x="6263640" y="5623560"/>
            <a:ext cx="2743200" cy="457200"/>
          </a:xfrm>
          <a:prstGeom prst="rect">
            <a:avLst/>
          </a:prstGeom>
          <a:solidFill>
            <a:srgbClr val="10A0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09360" y="5641848"/>
            <a:ext cx="2651760" cy="411480"/>
          </a:xfrm>
          <a:prstGeom prst="rect">
            <a:avLst/>
          </a:prstGeom>
          <a:noFill/>
        </p:spPr>
        <p:txBody>
          <a:bodyPr wrap="square">
            <a:spAutoFit/>
          </a:bodyPr>
          <a:lstStyle/>
          <a:p>
            <a:pPr algn="ctr"/>
            <a:r>
              <a:rPr sz="1100" b="1">
                <a:solidFill>
                  <a:srgbClr val="F8FAFC"/>
                </a:solidFill>
                <a:latin typeface="Meiryo"/>
              </a:rPr>
              <a:t>継続開発フェーズ</a:t>
            </a:r>
          </a:p>
        </p:txBody>
      </p:sp>
      <p:sp>
        <p:nvSpPr>
          <p:cNvPr id="26" name="Rectangle 25"/>
          <p:cNvSpPr/>
          <p:nvPr/>
        </p:nvSpPr>
        <p:spPr>
          <a:xfrm>
            <a:off x="9235440" y="1188720"/>
            <a:ext cx="2743200" cy="5303520"/>
          </a:xfrm>
          <a:prstGeom prst="rect">
            <a:avLst/>
          </a:prstGeom>
          <a:solidFill>
            <a:srgbClr val="1E293B"/>
          </a:solidFill>
          <a:ln w="15240">
            <a:solidFill>
              <a:srgbClr val="104A3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9235440" y="1188720"/>
            <a:ext cx="2743200" cy="59436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326880" y="1234440"/>
            <a:ext cx="2560320" cy="530352"/>
          </a:xfrm>
          <a:prstGeom prst="rect">
            <a:avLst/>
          </a:prstGeom>
          <a:noFill/>
        </p:spPr>
        <p:txBody>
          <a:bodyPr wrap="square">
            <a:spAutoFit/>
          </a:bodyPr>
          <a:lstStyle/>
          <a:p>
            <a:pPr algn="ctr"/>
            <a:r>
              <a:rPr sz="1300" b="1">
                <a:solidFill>
                  <a:srgbClr val="F8FAFC"/>
                </a:solidFill>
                <a:latin typeface="Meiryo"/>
              </a:rPr>
              <a:t>フェーズ4
（将来）</a:t>
            </a:r>
          </a:p>
        </p:txBody>
      </p:sp>
      <p:sp>
        <p:nvSpPr>
          <p:cNvPr id="29" name="TextBox 28"/>
          <p:cNvSpPr txBox="1"/>
          <p:nvPr/>
        </p:nvSpPr>
        <p:spPr>
          <a:xfrm>
            <a:off x="9326880" y="1920240"/>
            <a:ext cx="2560320" cy="3017520"/>
          </a:xfrm>
          <a:prstGeom prst="rect">
            <a:avLst/>
          </a:prstGeom>
          <a:noFill/>
        </p:spPr>
        <p:txBody>
          <a:bodyPr wrap="square">
            <a:spAutoFit/>
          </a:bodyPr>
          <a:lstStyle/>
          <a:p>
            <a:pPr algn="l">
              <a:lnSpc>
                <a:spcPts val="2400"/>
              </a:lnSpc>
            </a:pPr>
            <a:r>
              <a:rPr sz="1300" b="0">
                <a:solidFill>
                  <a:srgbClr val="CBD5E1"/>
                </a:solidFill>
                <a:latin typeface="Meiryo"/>
              </a:rPr>
              <a:t>◇ 企業連携・有料化</a:t>
            </a:r>
          </a:p>
          <a:p>
            <a:pPr algn="l">
              <a:lnSpc>
                <a:spcPts val="2400"/>
              </a:lnSpc>
            </a:pPr>
            <a:r>
              <a:rPr sz="1300" b="0">
                <a:solidFill>
                  <a:srgbClr val="CBD5E1"/>
                </a:solidFill>
                <a:latin typeface="Meiryo"/>
              </a:rPr>
              <a:t>◇ 全国の事業所へ展開</a:t>
            </a:r>
          </a:p>
          <a:p>
            <a:pPr algn="l">
              <a:lnSpc>
                <a:spcPts val="2400"/>
              </a:lnSpc>
            </a:pPr>
            <a:r>
              <a:rPr sz="1300" b="0">
                <a:solidFill>
                  <a:srgbClr val="CBD5E1"/>
                </a:solidFill>
                <a:latin typeface="Meiryo"/>
              </a:rPr>
              <a:t>◇ 障害×就労のDX推進</a:t>
            </a:r>
          </a:p>
          <a:p>
            <a:pPr algn="l">
              <a:lnSpc>
                <a:spcPts val="2400"/>
              </a:lnSpc>
            </a:pPr>
            <a:r>
              <a:rPr sz="1300" b="0">
                <a:solidFill>
                  <a:srgbClr val="CBD5E1"/>
                </a:solidFill>
                <a:latin typeface="Meiryo"/>
              </a:rPr>
              <a:t>◇ 社会インフラとして</a:t>
            </a:r>
          </a:p>
        </p:txBody>
      </p:sp>
      <p:sp>
        <p:nvSpPr>
          <p:cNvPr id="30" name="Rectangle 29"/>
          <p:cNvSpPr/>
          <p:nvPr/>
        </p:nvSpPr>
        <p:spPr>
          <a:xfrm>
            <a:off x="9235440" y="5623560"/>
            <a:ext cx="2743200" cy="45720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281160" y="5641848"/>
            <a:ext cx="2651760" cy="411480"/>
          </a:xfrm>
          <a:prstGeom prst="rect">
            <a:avLst/>
          </a:prstGeom>
          <a:noFill/>
        </p:spPr>
        <p:txBody>
          <a:bodyPr wrap="square">
            <a:spAutoFit/>
          </a:bodyPr>
          <a:lstStyle/>
          <a:p>
            <a:pPr algn="ctr"/>
            <a:r>
              <a:rPr sz="1100" b="1">
                <a:solidFill>
                  <a:srgbClr val="F8FAFC"/>
                </a:solidFill>
                <a:latin typeface="Meiryo"/>
              </a:rPr>
              <a:t>社会実装フェーズ</a:t>
            </a:r>
          </a:p>
        </p:txBody>
      </p:sp>
      <p:sp>
        <p:nvSpPr>
          <p:cNvPr id="32" name="TextBox 31"/>
          <p:cNvSpPr txBox="1"/>
          <p:nvPr/>
        </p:nvSpPr>
        <p:spPr>
          <a:xfrm>
            <a:off x="2944368" y="3474720"/>
            <a:ext cx="548640" cy="548640"/>
          </a:xfrm>
          <a:prstGeom prst="rect">
            <a:avLst/>
          </a:prstGeom>
          <a:noFill/>
        </p:spPr>
        <p:txBody>
          <a:bodyPr wrap="square">
            <a:spAutoFit/>
          </a:bodyPr>
          <a:lstStyle/>
          <a:p>
            <a:pPr algn="ctr"/>
            <a:r>
              <a:rPr sz="2800" b="1">
                <a:solidFill>
                  <a:srgbClr val="10B981"/>
                </a:solidFill>
                <a:latin typeface="Meiryo"/>
              </a:rPr>
              <a:t>→</a:t>
            </a:r>
          </a:p>
        </p:txBody>
      </p:sp>
      <p:sp>
        <p:nvSpPr>
          <p:cNvPr id="33" name="TextBox 32"/>
          <p:cNvSpPr txBox="1"/>
          <p:nvPr/>
        </p:nvSpPr>
        <p:spPr>
          <a:xfrm>
            <a:off x="5916168" y="3474720"/>
            <a:ext cx="548640" cy="548640"/>
          </a:xfrm>
          <a:prstGeom prst="rect">
            <a:avLst/>
          </a:prstGeom>
          <a:noFill/>
        </p:spPr>
        <p:txBody>
          <a:bodyPr wrap="square">
            <a:spAutoFit/>
          </a:bodyPr>
          <a:lstStyle/>
          <a:p>
            <a:pPr algn="ctr"/>
            <a:r>
              <a:rPr sz="2800" b="1">
                <a:solidFill>
                  <a:srgbClr val="10B981"/>
                </a:solidFill>
                <a:latin typeface="Meiryo"/>
              </a:rPr>
              <a:t>→</a:t>
            </a:r>
          </a:p>
        </p:txBody>
      </p:sp>
      <p:sp>
        <p:nvSpPr>
          <p:cNvPr id="34" name="TextBox 33"/>
          <p:cNvSpPr txBox="1"/>
          <p:nvPr/>
        </p:nvSpPr>
        <p:spPr>
          <a:xfrm>
            <a:off x="8887968" y="3474720"/>
            <a:ext cx="548640" cy="548640"/>
          </a:xfrm>
          <a:prstGeom prst="rect">
            <a:avLst/>
          </a:prstGeom>
          <a:noFill/>
        </p:spPr>
        <p:txBody>
          <a:bodyPr wrap="square">
            <a:spAutoFit/>
          </a:bodyPr>
          <a:lstStyle/>
          <a:p>
            <a:pPr algn="ctr"/>
            <a:r>
              <a:rPr sz="2800" b="1">
                <a:solidFill>
                  <a:srgbClr val="10B981"/>
                </a:solidFill>
                <a:latin typeface="Meiryo"/>
              </a:rPr>
              <a: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0058400" y="-914400"/>
            <a:ext cx="2743200" cy="2743200"/>
          </a:xfrm>
          <a:prstGeom prst="ellipse">
            <a:avLst/>
          </a:prstGeom>
          <a:solidFill>
            <a:srgbClr val="10B981">
              <a:alpha val="9999"/>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274320" y="320040"/>
            <a:ext cx="73152" cy="45720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320040"/>
            <a:ext cx="8229600" cy="457200"/>
          </a:xfrm>
          <a:prstGeom prst="rect">
            <a:avLst/>
          </a:prstGeom>
          <a:noFill/>
        </p:spPr>
        <p:txBody>
          <a:bodyPr wrap="square">
            <a:spAutoFit/>
          </a:bodyPr>
          <a:lstStyle/>
          <a:p>
            <a:pPr algn="l"/>
            <a:r>
              <a:rPr sz="2000" b="0">
                <a:solidFill>
                  <a:srgbClr val="94A3B8"/>
                </a:solidFill>
                <a:latin typeface="Meiryo"/>
              </a:rPr>
              <a:t>このアプリが目指す世界</a:t>
            </a:r>
          </a:p>
        </p:txBody>
      </p:sp>
      <p:sp>
        <p:nvSpPr>
          <p:cNvPr id="6" name="TextBox 5"/>
          <p:cNvSpPr txBox="1"/>
          <p:nvPr/>
        </p:nvSpPr>
        <p:spPr>
          <a:xfrm>
            <a:off x="457200" y="868680"/>
            <a:ext cx="8412480" cy="1554480"/>
          </a:xfrm>
          <a:prstGeom prst="rect">
            <a:avLst/>
          </a:prstGeom>
          <a:noFill/>
        </p:spPr>
        <p:txBody>
          <a:bodyPr wrap="square">
            <a:spAutoFit/>
          </a:bodyPr>
          <a:lstStyle/>
          <a:p>
            <a:pPr algn="l"/>
            <a:r>
              <a:rPr sz="3600" b="1">
                <a:solidFill>
                  <a:srgbClr val="F8FAFC"/>
                </a:solidFill>
                <a:latin typeface="Meiryo"/>
              </a:rPr>
              <a:t>障害のある方が、
自分らしくはたらける社会へ</a:t>
            </a:r>
          </a:p>
        </p:txBody>
      </p:sp>
      <p:sp>
        <p:nvSpPr>
          <p:cNvPr id="7" name="Rectangle 6"/>
          <p:cNvSpPr/>
          <p:nvPr/>
        </p:nvSpPr>
        <p:spPr>
          <a:xfrm>
            <a:off x="457200" y="2743200"/>
            <a:ext cx="3657600" cy="2651760"/>
          </a:xfrm>
          <a:prstGeom prst="rect">
            <a:avLst/>
          </a:prstGeom>
          <a:solidFill>
            <a:srgbClr val="1E293B"/>
          </a:solidFill>
          <a:ln w="15240">
            <a:solidFill>
              <a:srgbClr val="104A3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57200" y="2743200"/>
            <a:ext cx="3657600" cy="502920"/>
          </a:xfrm>
          <a:prstGeom prst="rect">
            <a:avLst/>
          </a:prstGeom>
          <a:solidFill>
            <a:srgbClr val="104A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94360" y="2816352"/>
            <a:ext cx="3383280" cy="384048"/>
          </a:xfrm>
          <a:prstGeom prst="rect">
            <a:avLst/>
          </a:prstGeom>
          <a:noFill/>
        </p:spPr>
        <p:txBody>
          <a:bodyPr wrap="square">
            <a:spAutoFit/>
          </a:bodyPr>
          <a:lstStyle/>
          <a:p>
            <a:pPr algn="l"/>
            <a:r>
              <a:rPr sz="1500" b="1">
                <a:solidFill>
                  <a:srgbClr val="10B981"/>
                </a:solidFill>
                <a:latin typeface="Meiryo"/>
              </a:rPr>
              <a:t>💪  利用者のために</a:t>
            </a:r>
          </a:p>
        </p:txBody>
      </p:sp>
      <p:sp>
        <p:nvSpPr>
          <p:cNvPr id="10" name="TextBox 9"/>
          <p:cNvSpPr txBox="1"/>
          <p:nvPr/>
        </p:nvSpPr>
        <p:spPr>
          <a:xfrm>
            <a:off x="594360" y="3383280"/>
            <a:ext cx="3383280" cy="1737360"/>
          </a:xfrm>
          <a:prstGeom prst="rect">
            <a:avLst/>
          </a:prstGeom>
          <a:noFill/>
        </p:spPr>
        <p:txBody>
          <a:bodyPr wrap="square">
            <a:spAutoFit/>
          </a:bodyPr>
          <a:lstStyle/>
          <a:p>
            <a:pPr algn="l">
              <a:lnSpc>
                <a:spcPts val="2200"/>
              </a:lnSpc>
            </a:pPr>
            <a:r>
              <a:rPr sz="1300" b="0">
                <a:solidFill>
                  <a:srgbClr val="CBD5E1"/>
                </a:solidFill>
                <a:latin typeface="Meiryo"/>
              </a:rPr>
              <a:t>「障害のある方が自分らしく働ける社会」</a:t>
            </a:r>
          </a:p>
          <a:p>
            <a:pPr algn="l">
              <a:lnSpc>
                <a:spcPts val="2200"/>
              </a:lnSpc>
            </a:pPr>
            <a:r>
              <a:rPr sz="1300" b="0">
                <a:solidFill>
                  <a:srgbClr val="CBD5E1"/>
                </a:solidFill>
                <a:latin typeface="Meiryo"/>
              </a:rPr>
              <a:t>—— 一人ひとりの個性を活かした就労を支えます</a:t>
            </a:r>
          </a:p>
        </p:txBody>
      </p:sp>
      <p:sp>
        <p:nvSpPr>
          <p:cNvPr id="11" name="Rectangle 10"/>
          <p:cNvSpPr/>
          <p:nvPr/>
        </p:nvSpPr>
        <p:spPr>
          <a:xfrm>
            <a:off x="4343400" y="2743200"/>
            <a:ext cx="3657600" cy="2651760"/>
          </a:xfrm>
          <a:prstGeom prst="rect">
            <a:avLst/>
          </a:prstGeom>
          <a:solidFill>
            <a:srgbClr val="1E293B"/>
          </a:solidFill>
          <a:ln w="15240">
            <a:solidFill>
              <a:srgbClr val="104A3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43400" y="2743200"/>
            <a:ext cx="3657600" cy="502920"/>
          </a:xfrm>
          <a:prstGeom prst="rect">
            <a:avLst/>
          </a:prstGeom>
          <a:solidFill>
            <a:srgbClr val="104A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480560" y="2816352"/>
            <a:ext cx="3383280" cy="384048"/>
          </a:xfrm>
          <a:prstGeom prst="rect">
            <a:avLst/>
          </a:prstGeom>
          <a:noFill/>
        </p:spPr>
        <p:txBody>
          <a:bodyPr wrap="square">
            <a:spAutoFit/>
          </a:bodyPr>
          <a:lstStyle/>
          <a:p>
            <a:pPr algn="l"/>
            <a:r>
              <a:rPr sz="1500" b="1">
                <a:solidFill>
                  <a:srgbClr val="10B981"/>
                </a:solidFill>
                <a:latin typeface="Meiryo"/>
              </a:rPr>
              <a:t>🤲  支援者のために</a:t>
            </a:r>
          </a:p>
        </p:txBody>
      </p:sp>
      <p:sp>
        <p:nvSpPr>
          <p:cNvPr id="14" name="TextBox 13"/>
          <p:cNvSpPr txBox="1"/>
          <p:nvPr/>
        </p:nvSpPr>
        <p:spPr>
          <a:xfrm>
            <a:off x="4480560" y="3383280"/>
            <a:ext cx="3383280" cy="1737360"/>
          </a:xfrm>
          <a:prstGeom prst="rect">
            <a:avLst/>
          </a:prstGeom>
          <a:noFill/>
        </p:spPr>
        <p:txBody>
          <a:bodyPr wrap="square">
            <a:spAutoFit/>
          </a:bodyPr>
          <a:lstStyle/>
          <a:p>
            <a:pPr algn="l">
              <a:lnSpc>
                <a:spcPts val="2200"/>
              </a:lnSpc>
            </a:pPr>
            <a:r>
              <a:rPr sz="1300" b="0">
                <a:solidFill>
                  <a:srgbClr val="CBD5E1"/>
                </a:solidFill>
                <a:latin typeface="Meiryo"/>
              </a:rPr>
              <a:t>「支援者が迷わず支援できる環境」</a:t>
            </a:r>
          </a:p>
          <a:p>
            <a:pPr algn="l">
              <a:lnSpc>
                <a:spcPts val="2200"/>
              </a:lnSpc>
            </a:pPr>
            <a:r>
              <a:rPr sz="1300" b="0">
                <a:solidFill>
                  <a:srgbClr val="CBD5E1"/>
                </a:solidFill>
                <a:latin typeface="Meiryo"/>
              </a:rPr>
              <a:t>—— 情報共有と記録で、支援者の負担を減らします</a:t>
            </a:r>
          </a:p>
        </p:txBody>
      </p:sp>
      <p:sp>
        <p:nvSpPr>
          <p:cNvPr id="15" name="Rectangle 14"/>
          <p:cNvSpPr/>
          <p:nvPr/>
        </p:nvSpPr>
        <p:spPr>
          <a:xfrm>
            <a:off x="8229600" y="2743200"/>
            <a:ext cx="3657600" cy="2651760"/>
          </a:xfrm>
          <a:prstGeom prst="rect">
            <a:avLst/>
          </a:prstGeom>
          <a:solidFill>
            <a:srgbClr val="1E293B"/>
          </a:solidFill>
          <a:ln w="15240">
            <a:solidFill>
              <a:srgbClr val="104A3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229600" y="2743200"/>
            <a:ext cx="3657600" cy="502920"/>
          </a:xfrm>
          <a:prstGeom prst="rect">
            <a:avLst/>
          </a:prstGeom>
          <a:solidFill>
            <a:srgbClr val="104A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366760" y="2816352"/>
            <a:ext cx="3383280" cy="384048"/>
          </a:xfrm>
          <a:prstGeom prst="rect">
            <a:avLst/>
          </a:prstGeom>
          <a:noFill/>
        </p:spPr>
        <p:txBody>
          <a:bodyPr wrap="square">
            <a:spAutoFit/>
          </a:bodyPr>
          <a:lstStyle/>
          <a:p>
            <a:pPr algn="l"/>
            <a:r>
              <a:rPr sz="1500" b="1">
                <a:solidFill>
                  <a:srgbClr val="10B981"/>
                </a:solidFill>
                <a:latin typeface="Meiryo"/>
              </a:rPr>
              <a:t>🌉  社会のために</a:t>
            </a:r>
          </a:p>
        </p:txBody>
      </p:sp>
      <p:sp>
        <p:nvSpPr>
          <p:cNvPr id="18" name="TextBox 17"/>
          <p:cNvSpPr txBox="1"/>
          <p:nvPr/>
        </p:nvSpPr>
        <p:spPr>
          <a:xfrm>
            <a:off x="8366760" y="3383280"/>
            <a:ext cx="3383280" cy="1737360"/>
          </a:xfrm>
          <a:prstGeom prst="rect">
            <a:avLst/>
          </a:prstGeom>
          <a:noFill/>
        </p:spPr>
        <p:txBody>
          <a:bodyPr wrap="square">
            <a:spAutoFit/>
          </a:bodyPr>
          <a:lstStyle/>
          <a:p>
            <a:pPr algn="l">
              <a:lnSpc>
                <a:spcPts val="2200"/>
              </a:lnSpc>
            </a:pPr>
            <a:r>
              <a:rPr sz="1300" b="0">
                <a:solidFill>
                  <a:srgbClr val="CBD5E1"/>
                </a:solidFill>
                <a:latin typeface="Meiryo"/>
              </a:rPr>
              <a:t>「企業と障害者が自然につながる仕組み」</a:t>
            </a:r>
          </a:p>
          <a:p>
            <a:pPr algn="l">
              <a:lnSpc>
                <a:spcPts val="2200"/>
              </a:lnSpc>
            </a:pPr>
            <a:r>
              <a:rPr sz="1300" b="0">
                <a:solidFill>
                  <a:srgbClr val="CBD5E1"/>
                </a:solidFill>
                <a:latin typeface="Meiryo"/>
              </a:rPr>
              <a:t>—— テクノロジーで、社会全体に橋を架けます</a:t>
            </a:r>
          </a:p>
        </p:txBody>
      </p:sp>
      <p:sp>
        <p:nvSpPr>
          <p:cNvPr id="19" name="Rectangle 18"/>
          <p:cNvSpPr/>
          <p:nvPr/>
        </p:nvSpPr>
        <p:spPr>
          <a:xfrm>
            <a:off x="320040" y="5669280"/>
            <a:ext cx="11521440" cy="640080"/>
          </a:xfrm>
          <a:prstGeom prst="rect">
            <a:avLst/>
          </a:prstGeom>
          <a:solidFill>
            <a:srgbClr val="1E293B"/>
          </a:solidFill>
          <a:ln w="15240">
            <a:solidFill>
              <a:srgbClr val="104A3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57200" y="5760720"/>
            <a:ext cx="11247120" cy="502920"/>
          </a:xfrm>
          <a:prstGeom prst="rect">
            <a:avLst/>
          </a:prstGeom>
          <a:noFill/>
        </p:spPr>
        <p:txBody>
          <a:bodyPr wrap="square">
            <a:spAutoFit/>
          </a:bodyPr>
          <a:lstStyle/>
          <a:p>
            <a:pPr algn="ctr"/>
            <a:r>
              <a:rPr sz="2000" b="1">
                <a:solidFill>
                  <a:srgbClr val="10B981"/>
                </a:solidFill>
                <a:latin typeface="Meiryo"/>
              </a:rPr>
              <a:t>一人ひとりの「はたらく一歩」を、テクノロジーで支える</a:t>
            </a:r>
          </a:p>
        </p:txBody>
      </p:sp>
      <p:sp>
        <p:nvSpPr>
          <p:cNvPr id="21" name="TextBox 20"/>
          <p:cNvSpPr txBox="1"/>
          <p:nvPr/>
        </p:nvSpPr>
        <p:spPr>
          <a:xfrm>
            <a:off x="9601200" y="6492240"/>
            <a:ext cx="2468880" cy="320040"/>
          </a:xfrm>
          <a:prstGeom prst="rect">
            <a:avLst/>
          </a:prstGeom>
          <a:noFill/>
        </p:spPr>
        <p:txBody>
          <a:bodyPr wrap="square">
            <a:spAutoFit/>
          </a:bodyPr>
          <a:lstStyle/>
          <a:p>
            <a:pPr algn="r"/>
            <a:r>
              <a:rPr sz="800" b="0">
                <a:solidFill>
                  <a:srgbClr val="94A3B8"/>
                </a:solidFill>
                <a:latin typeface="Meiryo"/>
              </a:rPr>
              <a:t>🌱 ステップアップナビ</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0058400" y="-914400"/>
            <a:ext cx="2743200" cy="2743200"/>
          </a:xfrm>
          <a:prstGeom prst="ellipse">
            <a:avLst/>
          </a:prstGeom>
          <a:solidFill>
            <a:srgbClr val="10B981">
              <a:alpha val="9999"/>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274320" y="201168"/>
            <a:ext cx="73152" cy="475488"/>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38912" y="201168"/>
            <a:ext cx="9144000" cy="548640"/>
          </a:xfrm>
          <a:prstGeom prst="rect">
            <a:avLst/>
          </a:prstGeom>
          <a:noFill/>
        </p:spPr>
        <p:txBody>
          <a:bodyPr wrap="square">
            <a:spAutoFit/>
          </a:bodyPr>
          <a:lstStyle/>
          <a:p>
            <a:pPr algn="l"/>
            <a:r>
              <a:rPr sz="2800" b="1">
                <a:solidFill>
                  <a:srgbClr val="F8FAFC"/>
                </a:solidFill>
                <a:latin typeface="Meiryo"/>
              </a:rPr>
              <a:t>よくある質問（FAQ）</a:t>
            </a:r>
          </a:p>
        </p:txBody>
      </p:sp>
      <p:sp>
        <p:nvSpPr>
          <p:cNvPr id="6" name="TextBox 5"/>
          <p:cNvSpPr txBox="1"/>
          <p:nvPr/>
        </p:nvSpPr>
        <p:spPr>
          <a:xfrm>
            <a:off x="438912" y="777240"/>
            <a:ext cx="10058400" cy="365760"/>
          </a:xfrm>
          <a:prstGeom prst="rect">
            <a:avLst/>
          </a:prstGeom>
          <a:noFill/>
        </p:spPr>
        <p:txBody>
          <a:bodyPr wrap="square">
            <a:spAutoFit/>
          </a:bodyPr>
          <a:lstStyle/>
          <a:p>
            <a:pPr algn="l"/>
            <a:r>
              <a:rPr sz="1600" b="0">
                <a:solidFill>
                  <a:srgbClr val="10B981"/>
                </a:solidFill>
                <a:latin typeface="Meiryo"/>
              </a:rPr>
              <a:t>ご不安な点にお答えします</a:t>
            </a:r>
          </a:p>
        </p:txBody>
      </p:sp>
      <p:sp>
        <p:nvSpPr>
          <p:cNvPr id="7" name="TextBox 6"/>
          <p:cNvSpPr txBox="1"/>
          <p:nvPr/>
        </p:nvSpPr>
        <p:spPr>
          <a:xfrm>
            <a:off x="9601200" y="6492240"/>
            <a:ext cx="2468880" cy="320040"/>
          </a:xfrm>
          <a:prstGeom prst="rect">
            <a:avLst/>
          </a:prstGeom>
          <a:noFill/>
        </p:spPr>
        <p:txBody>
          <a:bodyPr wrap="square">
            <a:spAutoFit/>
          </a:bodyPr>
          <a:lstStyle/>
          <a:p>
            <a:pPr algn="r"/>
            <a:r>
              <a:rPr sz="800" b="0">
                <a:solidFill>
                  <a:srgbClr val="94A3B8"/>
                </a:solidFill>
                <a:latin typeface="Meiryo"/>
              </a:rPr>
              <a:t>🌱 ステップアップナビ</a:t>
            </a:r>
          </a:p>
        </p:txBody>
      </p:sp>
      <p:sp>
        <p:nvSpPr>
          <p:cNvPr id="8" name="Rectangle 7"/>
          <p:cNvSpPr/>
          <p:nvPr/>
        </p:nvSpPr>
        <p:spPr>
          <a:xfrm>
            <a:off x="320040" y="1188720"/>
            <a:ext cx="5577840" cy="2286000"/>
          </a:xfrm>
          <a:prstGeom prst="rect">
            <a:avLst/>
          </a:prstGeom>
          <a:solidFill>
            <a:srgbClr val="1E293B"/>
          </a:solidFill>
          <a:ln w="15240">
            <a:solidFill>
              <a:srgbClr val="104A3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320040" y="1188720"/>
            <a:ext cx="5577840" cy="502920"/>
          </a:xfrm>
          <a:prstGeom prst="rect">
            <a:avLst/>
          </a:prstGeom>
          <a:solidFill>
            <a:srgbClr val="104A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1261872"/>
            <a:ext cx="5303520" cy="384048"/>
          </a:xfrm>
          <a:prstGeom prst="rect">
            <a:avLst/>
          </a:prstGeom>
          <a:noFill/>
        </p:spPr>
        <p:txBody>
          <a:bodyPr wrap="square">
            <a:spAutoFit/>
          </a:bodyPr>
          <a:lstStyle/>
          <a:p>
            <a:pPr algn="l"/>
            <a:r>
              <a:rPr sz="1400" b="1">
                <a:solidFill>
                  <a:srgbClr val="10B981"/>
                </a:solidFill>
                <a:latin typeface="Meiryo"/>
              </a:rPr>
              <a:t>Q. 開発者1人で大丈夫ですか？</a:t>
            </a:r>
          </a:p>
        </p:txBody>
      </p:sp>
      <p:sp>
        <p:nvSpPr>
          <p:cNvPr id="11" name="TextBox 10"/>
          <p:cNvSpPr txBox="1"/>
          <p:nvPr/>
        </p:nvSpPr>
        <p:spPr>
          <a:xfrm>
            <a:off x="457200" y="1828800"/>
            <a:ext cx="5303520" cy="1463040"/>
          </a:xfrm>
          <a:prstGeom prst="rect">
            <a:avLst/>
          </a:prstGeom>
          <a:noFill/>
        </p:spPr>
        <p:txBody>
          <a:bodyPr wrap="square">
            <a:spAutoFit/>
          </a:bodyPr>
          <a:lstStyle/>
          <a:p>
            <a:pPr algn="l">
              <a:lnSpc>
                <a:spcPts val="2200"/>
              </a:lnSpc>
            </a:pPr>
            <a:r>
              <a:rPr sz="1200" b="0">
                <a:solidFill>
                  <a:srgbClr val="CBD5E1"/>
                </a:solidFill>
                <a:latin typeface="Meiryo"/>
              </a:rPr>
              <a:t>β版はすでに動いています。資金が集まることで開発スピードを上げられます。</a:t>
            </a:r>
          </a:p>
          <a:p>
            <a:pPr algn="l">
              <a:lnSpc>
                <a:spcPts val="2200"/>
              </a:lnSpc>
            </a:pPr>
            <a:r>
              <a:rPr sz="1200" b="0">
                <a:solidFill>
                  <a:srgbClr val="CBD5E1"/>
                </a:solidFill>
                <a:latin typeface="Meiryo"/>
              </a:rPr>
              <a:t>現場パートナーとの連携体制もあり、1人でもリスクを最小化しています。</a:t>
            </a:r>
          </a:p>
        </p:txBody>
      </p:sp>
      <p:sp>
        <p:nvSpPr>
          <p:cNvPr id="12" name="Rectangle 11"/>
          <p:cNvSpPr/>
          <p:nvPr/>
        </p:nvSpPr>
        <p:spPr>
          <a:xfrm>
            <a:off x="6263640" y="1188720"/>
            <a:ext cx="5577840" cy="2286000"/>
          </a:xfrm>
          <a:prstGeom prst="rect">
            <a:avLst/>
          </a:prstGeom>
          <a:solidFill>
            <a:srgbClr val="1E293B"/>
          </a:solidFill>
          <a:ln w="15240">
            <a:solidFill>
              <a:srgbClr val="104A3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63640" y="1188720"/>
            <a:ext cx="5577840" cy="502920"/>
          </a:xfrm>
          <a:prstGeom prst="rect">
            <a:avLst/>
          </a:prstGeom>
          <a:solidFill>
            <a:srgbClr val="104A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00800" y="1261872"/>
            <a:ext cx="5303520" cy="384048"/>
          </a:xfrm>
          <a:prstGeom prst="rect">
            <a:avLst/>
          </a:prstGeom>
          <a:noFill/>
        </p:spPr>
        <p:txBody>
          <a:bodyPr wrap="square">
            <a:spAutoFit/>
          </a:bodyPr>
          <a:lstStyle/>
          <a:p>
            <a:pPr algn="l"/>
            <a:r>
              <a:rPr sz="1400" b="1">
                <a:solidFill>
                  <a:srgbClr val="10B981"/>
                </a:solidFill>
                <a:latin typeface="Meiryo"/>
              </a:rPr>
              <a:t>Q. 個人情報は安全ですか？</a:t>
            </a:r>
          </a:p>
        </p:txBody>
      </p:sp>
      <p:sp>
        <p:nvSpPr>
          <p:cNvPr id="15" name="TextBox 14"/>
          <p:cNvSpPr txBox="1"/>
          <p:nvPr/>
        </p:nvSpPr>
        <p:spPr>
          <a:xfrm>
            <a:off x="6400800" y="1828800"/>
            <a:ext cx="5303520" cy="1463040"/>
          </a:xfrm>
          <a:prstGeom prst="rect">
            <a:avLst/>
          </a:prstGeom>
          <a:noFill/>
        </p:spPr>
        <p:txBody>
          <a:bodyPr wrap="square">
            <a:spAutoFit/>
          </a:bodyPr>
          <a:lstStyle/>
          <a:p>
            <a:pPr algn="l">
              <a:lnSpc>
                <a:spcPts val="2200"/>
              </a:lnSpc>
            </a:pPr>
            <a:r>
              <a:rPr sz="1200" b="0">
                <a:solidFill>
                  <a:srgbClr val="CBD5E1"/>
                </a:solidFill>
                <a:latin typeface="Meiryo"/>
              </a:rPr>
              <a:t>Railwayの暗号化通信（HTTPS）・パスワードのハッシュ化・</a:t>
            </a:r>
          </a:p>
          <a:p>
            <a:pPr algn="l">
              <a:lnSpc>
                <a:spcPts val="2200"/>
              </a:lnSpc>
            </a:pPr>
            <a:r>
              <a:rPr sz="1200" b="0">
                <a:solidFill>
                  <a:srgbClr val="CBD5E1"/>
                </a:solidFill>
                <a:latin typeface="Meiryo"/>
              </a:rPr>
              <a:t>セキュアなセッション管理で保護しています。</a:t>
            </a:r>
          </a:p>
        </p:txBody>
      </p:sp>
      <p:sp>
        <p:nvSpPr>
          <p:cNvPr id="16" name="Rectangle 15"/>
          <p:cNvSpPr/>
          <p:nvPr/>
        </p:nvSpPr>
        <p:spPr>
          <a:xfrm>
            <a:off x="320040" y="3657600"/>
            <a:ext cx="5577840" cy="2286000"/>
          </a:xfrm>
          <a:prstGeom prst="rect">
            <a:avLst/>
          </a:prstGeom>
          <a:solidFill>
            <a:srgbClr val="1E293B"/>
          </a:solidFill>
          <a:ln w="15240">
            <a:solidFill>
              <a:srgbClr val="104A3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20040" y="3657600"/>
            <a:ext cx="5577840" cy="502920"/>
          </a:xfrm>
          <a:prstGeom prst="rect">
            <a:avLst/>
          </a:prstGeom>
          <a:solidFill>
            <a:srgbClr val="104A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7200" y="3730752"/>
            <a:ext cx="5303520" cy="384048"/>
          </a:xfrm>
          <a:prstGeom prst="rect">
            <a:avLst/>
          </a:prstGeom>
          <a:noFill/>
        </p:spPr>
        <p:txBody>
          <a:bodyPr wrap="square">
            <a:spAutoFit/>
          </a:bodyPr>
          <a:lstStyle/>
          <a:p>
            <a:pPr algn="l"/>
            <a:r>
              <a:rPr sz="1400" b="1">
                <a:solidFill>
                  <a:srgbClr val="10B981"/>
                </a:solidFill>
                <a:latin typeface="Meiryo"/>
              </a:rPr>
              <a:t>Q. 利用者が使いこなせますか？</a:t>
            </a:r>
          </a:p>
        </p:txBody>
      </p:sp>
      <p:sp>
        <p:nvSpPr>
          <p:cNvPr id="19" name="TextBox 18"/>
          <p:cNvSpPr txBox="1"/>
          <p:nvPr/>
        </p:nvSpPr>
        <p:spPr>
          <a:xfrm>
            <a:off x="457200" y="4297680"/>
            <a:ext cx="5303520" cy="1463040"/>
          </a:xfrm>
          <a:prstGeom prst="rect">
            <a:avLst/>
          </a:prstGeom>
          <a:noFill/>
        </p:spPr>
        <p:txBody>
          <a:bodyPr wrap="square">
            <a:spAutoFit/>
          </a:bodyPr>
          <a:lstStyle/>
          <a:p>
            <a:pPr algn="l">
              <a:lnSpc>
                <a:spcPts val="2200"/>
              </a:lnSpc>
            </a:pPr>
            <a:r>
              <a:rPr sz="1200" b="0">
                <a:solidFill>
                  <a:srgbClr val="CBD5E1"/>
                </a:solidFill>
                <a:latin typeface="Meiryo"/>
              </a:rPr>
              <a:t>ひらがなモード・大きなボタン・シンプルUIで設計しています。</a:t>
            </a:r>
          </a:p>
          <a:p>
            <a:pPr algn="l">
              <a:lnSpc>
                <a:spcPts val="2200"/>
              </a:lnSpc>
            </a:pPr>
            <a:r>
              <a:rPr sz="1200" b="0">
                <a:solidFill>
                  <a:srgbClr val="CBD5E1"/>
                </a:solidFill>
                <a:latin typeface="Meiryo"/>
              </a:rPr>
              <a:t>現場の声を反映しながら、より使いやすく改善し続けます。</a:t>
            </a:r>
          </a:p>
        </p:txBody>
      </p:sp>
      <p:sp>
        <p:nvSpPr>
          <p:cNvPr id="20" name="Rectangle 19"/>
          <p:cNvSpPr/>
          <p:nvPr/>
        </p:nvSpPr>
        <p:spPr>
          <a:xfrm>
            <a:off x="6263640" y="3657600"/>
            <a:ext cx="5577840" cy="2286000"/>
          </a:xfrm>
          <a:prstGeom prst="rect">
            <a:avLst/>
          </a:prstGeom>
          <a:solidFill>
            <a:srgbClr val="1E293B"/>
          </a:solidFill>
          <a:ln w="15240">
            <a:solidFill>
              <a:srgbClr val="104A3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263640" y="3657600"/>
            <a:ext cx="5577840" cy="502920"/>
          </a:xfrm>
          <a:prstGeom prst="rect">
            <a:avLst/>
          </a:prstGeom>
          <a:solidFill>
            <a:srgbClr val="104A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00800" y="3730752"/>
            <a:ext cx="5303520" cy="384048"/>
          </a:xfrm>
          <a:prstGeom prst="rect">
            <a:avLst/>
          </a:prstGeom>
          <a:noFill/>
        </p:spPr>
        <p:txBody>
          <a:bodyPr wrap="square">
            <a:spAutoFit/>
          </a:bodyPr>
          <a:lstStyle/>
          <a:p>
            <a:pPr algn="l"/>
            <a:r>
              <a:rPr sz="1400" b="1">
                <a:solidFill>
                  <a:srgbClr val="10B981"/>
                </a:solidFill>
                <a:latin typeface="Meiryo"/>
              </a:rPr>
              <a:t>Q. 事業化の見通しはありますか？</a:t>
            </a:r>
          </a:p>
        </p:txBody>
      </p:sp>
      <p:sp>
        <p:nvSpPr>
          <p:cNvPr id="23" name="TextBox 22"/>
          <p:cNvSpPr txBox="1"/>
          <p:nvPr/>
        </p:nvSpPr>
        <p:spPr>
          <a:xfrm>
            <a:off x="6400800" y="4297680"/>
            <a:ext cx="5303520" cy="1463040"/>
          </a:xfrm>
          <a:prstGeom prst="rect">
            <a:avLst/>
          </a:prstGeom>
          <a:noFill/>
        </p:spPr>
        <p:txBody>
          <a:bodyPr wrap="square">
            <a:spAutoFit/>
          </a:bodyPr>
          <a:lstStyle/>
          <a:p>
            <a:pPr algn="l">
              <a:lnSpc>
                <a:spcPts val="2200"/>
              </a:lnSpc>
            </a:pPr>
            <a:r>
              <a:rPr sz="1200" b="0">
                <a:solidFill>
                  <a:srgbClr val="CBD5E1"/>
                </a:solidFill>
                <a:latin typeface="Meiryo"/>
              </a:rPr>
              <a:t>放課後デイサービスとの連携でフィードバックを得ながら継続開発します。</a:t>
            </a:r>
          </a:p>
          <a:p>
            <a:pPr algn="l">
              <a:lnSpc>
                <a:spcPts val="2200"/>
              </a:lnSpc>
            </a:pPr>
            <a:r>
              <a:rPr sz="1200" b="0">
                <a:solidFill>
                  <a:srgbClr val="CBD5E1"/>
                </a:solidFill>
                <a:latin typeface="Meiryo"/>
              </a:rPr>
              <a:t>クラウドファンディング後も活動報告を続け、透明性を保ちます。</a:t>
            </a:r>
          </a:p>
        </p:txBody>
      </p:sp>
      <p:sp>
        <p:nvSpPr>
          <p:cNvPr id="24" name="Rectangle 23"/>
          <p:cNvSpPr/>
          <p:nvPr/>
        </p:nvSpPr>
        <p:spPr>
          <a:xfrm>
            <a:off x="320040" y="6172200"/>
            <a:ext cx="11521440" cy="457200"/>
          </a:xfrm>
          <a:prstGeom prst="rect">
            <a:avLst/>
          </a:prstGeom>
          <a:solidFill>
            <a:srgbClr val="1E293B"/>
          </a:solidFill>
          <a:ln w="15240">
            <a:solidFill>
              <a:srgbClr val="104A3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57200" y="6217920"/>
            <a:ext cx="11247120" cy="365760"/>
          </a:xfrm>
          <a:prstGeom prst="rect">
            <a:avLst/>
          </a:prstGeom>
          <a:noFill/>
        </p:spPr>
        <p:txBody>
          <a:bodyPr wrap="square">
            <a:spAutoFit/>
          </a:bodyPr>
          <a:lstStyle/>
          <a:p>
            <a:pPr algn="ctr"/>
            <a:r>
              <a:rPr sz="1200" b="1">
                <a:solidFill>
                  <a:srgbClr val="10B981"/>
                </a:solidFill>
                <a:latin typeface="Meiryo"/>
              </a:rPr>
              <a:t>その他ご質問は support@stepupnavi.example.jp までお気軽にどうぞ</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0058400" y="-914400"/>
            <a:ext cx="2743200" cy="2743200"/>
          </a:xfrm>
          <a:prstGeom prst="ellipse">
            <a:avLst/>
          </a:prstGeom>
          <a:solidFill>
            <a:srgbClr val="10B981">
              <a:alpha val="9999"/>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274320" y="274320"/>
            <a:ext cx="73152" cy="45720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274320"/>
            <a:ext cx="9144000" cy="457200"/>
          </a:xfrm>
          <a:prstGeom prst="rect">
            <a:avLst/>
          </a:prstGeom>
          <a:noFill/>
        </p:spPr>
        <p:txBody>
          <a:bodyPr wrap="square">
            <a:spAutoFit/>
          </a:bodyPr>
          <a:lstStyle/>
          <a:p>
            <a:pPr algn="l"/>
            <a:r>
              <a:rPr sz="1800" b="0">
                <a:solidFill>
                  <a:srgbClr val="94A3B8"/>
                </a:solidFill>
                <a:latin typeface="Meiryo"/>
              </a:rPr>
              <a:t>開発者からのメッセージ</a:t>
            </a:r>
          </a:p>
        </p:txBody>
      </p:sp>
      <p:sp>
        <p:nvSpPr>
          <p:cNvPr id="6" name="TextBox 5"/>
          <p:cNvSpPr txBox="1"/>
          <p:nvPr/>
        </p:nvSpPr>
        <p:spPr>
          <a:xfrm>
            <a:off x="457200" y="914400"/>
            <a:ext cx="1097280" cy="914400"/>
          </a:xfrm>
          <a:prstGeom prst="rect">
            <a:avLst/>
          </a:prstGeom>
          <a:noFill/>
        </p:spPr>
        <p:txBody>
          <a:bodyPr wrap="square">
            <a:spAutoFit/>
          </a:bodyPr>
          <a:lstStyle/>
          <a:p>
            <a:pPr algn="l"/>
            <a:r>
              <a:rPr sz="7200" b="0">
                <a:solidFill>
                  <a:srgbClr val="104A38"/>
                </a:solidFill>
                <a:latin typeface="Meiryo"/>
              </a:rPr>
              <a:t>❝</a:t>
            </a:r>
          </a:p>
        </p:txBody>
      </p:sp>
      <p:sp>
        <p:nvSpPr>
          <p:cNvPr id="7" name="TextBox 6"/>
          <p:cNvSpPr txBox="1"/>
          <p:nvPr/>
        </p:nvSpPr>
        <p:spPr>
          <a:xfrm>
            <a:off x="1188720" y="1188720"/>
            <a:ext cx="8686800" cy="3200400"/>
          </a:xfrm>
          <a:prstGeom prst="rect">
            <a:avLst/>
          </a:prstGeom>
          <a:noFill/>
        </p:spPr>
        <p:txBody>
          <a:bodyPr wrap="square">
            <a:spAutoFit/>
          </a:bodyPr>
          <a:lstStyle/>
          <a:p>
            <a:pPr algn="l">
              <a:lnSpc>
                <a:spcPts val="3400"/>
              </a:lnSpc>
            </a:pPr>
            <a:r>
              <a:rPr sz="2200" b="0">
                <a:solidFill>
                  <a:srgbClr val="F8FAFC"/>
                </a:solidFill>
                <a:latin typeface="Meiryo"/>
              </a:rPr>
              <a:t>一人のエンジニアが、テクノロジーで誰かの</a:t>
            </a:r>
          </a:p>
          <a:p>
            <a:pPr algn="l">
              <a:lnSpc>
                <a:spcPts val="3400"/>
              </a:lnSpc>
            </a:pPr>
            <a:r>
              <a:rPr sz="2200" b="0">
                <a:solidFill>
                  <a:srgbClr val="F8FAFC"/>
                </a:solidFill>
                <a:latin typeface="Meiryo"/>
              </a:rPr>
              <a:t>『はたらく一歩』を支えたいと思って作り始めました。</a:t>
            </a:r>
          </a:p>
          <a:p>
            <a:pPr algn="l">
              <a:lnSpc>
                <a:spcPts val="3400"/>
              </a:lnSpc>
            </a:pPr>
            <a:r>
              <a:rPr sz="2200" b="0">
                <a:solidFill>
                  <a:srgbClr val="F8FAFC"/>
                </a:solidFill>
                <a:latin typeface="Meiryo"/>
              </a:rPr>
              <a:t/>
            </a:r>
          </a:p>
          <a:p>
            <a:pPr algn="l">
              <a:lnSpc>
                <a:spcPts val="3400"/>
              </a:lnSpc>
            </a:pPr>
            <a:r>
              <a:rPr sz="2200" b="0">
                <a:solidFill>
                  <a:srgbClr val="F8FAFC"/>
                </a:solidFill>
                <a:latin typeface="Meiryo"/>
              </a:rPr>
              <a:t>まだ小さなアプリですが、現場の声とともに育てていきたいと思っています。</a:t>
            </a:r>
          </a:p>
          <a:p>
            <a:pPr algn="l">
              <a:lnSpc>
                <a:spcPts val="3400"/>
              </a:lnSpc>
            </a:pPr>
            <a:r>
              <a:rPr sz="2200" b="0">
                <a:solidFill>
                  <a:srgbClr val="F8FAFC"/>
                </a:solidFill>
                <a:latin typeface="Meiryo"/>
              </a:rPr>
              <a:t/>
            </a:r>
          </a:p>
          <a:p>
            <a:pPr algn="l">
              <a:lnSpc>
                <a:spcPts val="3400"/>
              </a:lnSpc>
            </a:pPr>
            <a:r>
              <a:rPr sz="2200" b="0">
                <a:solidFill>
                  <a:srgbClr val="F8FAFC"/>
                </a:solidFill>
                <a:latin typeface="Meiryo"/>
              </a:rPr>
              <a:t>一緒に作ってください。</a:t>
            </a:r>
          </a:p>
        </p:txBody>
      </p:sp>
      <p:sp>
        <p:nvSpPr>
          <p:cNvPr id="8" name="TextBox 7"/>
          <p:cNvSpPr txBox="1"/>
          <p:nvPr/>
        </p:nvSpPr>
        <p:spPr>
          <a:xfrm>
            <a:off x="9601200" y="3474720"/>
            <a:ext cx="1097280" cy="914400"/>
          </a:xfrm>
          <a:prstGeom prst="rect">
            <a:avLst/>
          </a:prstGeom>
          <a:noFill/>
        </p:spPr>
        <p:txBody>
          <a:bodyPr wrap="square">
            <a:spAutoFit/>
          </a:bodyPr>
          <a:lstStyle/>
          <a:p>
            <a:pPr algn="r"/>
            <a:r>
              <a:rPr sz="7200" b="0">
                <a:solidFill>
                  <a:srgbClr val="104A38"/>
                </a:solidFill>
                <a:latin typeface="Meiryo"/>
              </a:rPr>
              <a:t>❞</a:t>
            </a:r>
          </a:p>
        </p:txBody>
      </p:sp>
      <p:sp>
        <p:nvSpPr>
          <p:cNvPr id="9" name="Rectangle 8"/>
          <p:cNvSpPr/>
          <p:nvPr/>
        </p:nvSpPr>
        <p:spPr>
          <a:xfrm>
            <a:off x="457200" y="4572000"/>
            <a:ext cx="4114800" cy="36576"/>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4663440"/>
            <a:ext cx="5486400" cy="457200"/>
          </a:xfrm>
          <a:prstGeom prst="rect">
            <a:avLst/>
          </a:prstGeom>
          <a:noFill/>
        </p:spPr>
        <p:txBody>
          <a:bodyPr wrap="square">
            <a:spAutoFit/>
          </a:bodyPr>
          <a:lstStyle/>
          <a:p>
            <a:pPr algn="l"/>
            <a:r>
              <a:rPr sz="1600" b="1">
                <a:solidFill>
                  <a:srgbClr val="10B981"/>
                </a:solidFill>
                <a:latin typeface="Meiryo"/>
              </a:rPr>
              <a:t>松永 直人（フリーランスエンジニア）</a:t>
            </a:r>
          </a:p>
        </p:txBody>
      </p:sp>
      <p:sp>
        <p:nvSpPr>
          <p:cNvPr id="11" name="TextBox 10"/>
          <p:cNvSpPr txBox="1"/>
          <p:nvPr/>
        </p:nvSpPr>
        <p:spPr>
          <a:xfrm>
            <a:off x="457200" y="5120640"/>
            <a:ext cx="5486400" cy="365760"/>
          </a:xfrm>
          <a:prstGeom prst="rect">
            <a:avLst/>
          </a:prstGeom>
          <a:noFill/>
        </p:spPr>
        <p:txBody>
          <a:bodyPr wrap="square">
            <a:spAutoFit/>
          </a:bodyPr>
          <a:lstStyle/>
          <a:p>
            <a:pPr algn="l"/>
            <a:r>
              <a:rPr sz="1300" b="0">
                <a:solidFill>
                  <a:srgbClr val="94A3B8"/>
                </a:solidFill>
                <a:latin typeface="Meiryo"/>
              </a:rPr>
              <a:t>ステップアップナビ  開発者</a:t>
            </a:r>
          </a:p>
        </p:txBody>
      </p:sp>
      <p:sp>
        <p:nvSpPr>
          <p:cNvPr id="12" name="Rectangle 11"/>
          <p:cNvSpPr/>
          <p:nvPr/>
        </p:nvSpPr>
        <p:spPr>
          <a:xfrm>
            <a:off x="320040" y="5760720"/>
            <a:ext cx="11521440" cy="822960"/>
          </a:xfrm>
          <a:prstGeom prst="rect">
            <a:avLst/>
          </a:prstGeom>
          <a:solidFill>
            <a:srgbClr val="1E293B"/>
          </a:solidFill>
          <a:ln w="15240">
            <a:solidFill>
              <a:srgbClr val="104A3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 y="5897880"/>
            <a:ext cx="11247120" cy="594360"/>
          </a:xfrm>
          <a:prstGeom prst="rect">
            <a:avLst/>
          </a:prstGeom>
          <a:noFill/>
        </p:spPr>
        <p:txBody>
          <a:bodyPr wrap="square">
            <a:spAutoFit/>
          </a:bodyPr>
          <a:lstStyle/>
          <a:p>
            <a:pPr algn="ctr"/>
            <a:r>
              <a:rPr sz="1600" b="1">
                <a:solidFill>
                  <a:srgbClr val="10B981"/>
                </a:solidFill>
                <a:latin typeface="Meiryo"/>
              </a:rPr>
              <a:t>β版を試してみてください：  https://web-production-c0abe.up.railway.app/</a:t>
            </a:r>
          </a:p>
        </p:txBody>
      </p:sp>
      <p:sp>
        <p:nvSpPr>
          <p:cNvPr id="14" name="TextBox 13"/>
          <p:cNvSpPr txBox="1"/>
          <p:nvPr/>
        </p:nvSpPr>
        <p:spPr>
          <a:xfrm>
            <a:off x="9601200" y="6492240"/>
            <a:ext cx="2468880" cy="320040"/>
          </a:xfrm>
          <a:prstGeom prst="rect">
            <a:avLst/>
          </a:prstGeom>
          <a:noFill/>
        </p:spPr>
        <p:txBody>
          <a:bodyPr wrap="square">
            <a:spAutoFit/>
          </a:bodyPr>
          <a:lstStyle/>
          <a:p>
            <a:pPr algn="r"/>
            <a:r>
              <a:rPr sz="800" b="0">
                <a:solidFill>
                  <a:srgbClr val="94A3B8"/>
                </a:solidFill>
                <a:latin typeface="Meiryo"/>
              </a:rPr>
              <a:t>🌱 ステップアップナビ</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0058400" y="-914400"/>
            <a:ext cx="2743200" cy="2743200"/>
          </a:xfrm>
          <a:prstGeom prst="ellipse">
            <a:avLst/>
          </a:prstGeom>
          <a:solidFill>
            <a:srgbClr val="10B981">
              <a:alpha val="9999"/>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274320" y="320040"/>
            <a:ext cx="73152" cy="45720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320040"/>
            <a:ext cx="8229600" cy="457200"/>
          </a:xfrm>
          <a:prstGeom prst="rect">
            <a:avLst/>
          </a:prstGeom>
          <a:noFill/>
        </p:spPr>
        <p:txBody>
          <a:bodyPr wrap="square">
            <a:spAutoFit/>
          </a:bodyPr>
          <a:lstStyle/>
          <a:p>
            <a:pPr algn="l"/>
            <a:r>
              <a:rPr sz="1800" b="0">
                <a:solidFill>
                  <a:srgbClr val="94A3B8"/>
                </a:solidFill>
                <a:latin typeface="Meiryo"/>
              </a:rPr>
              <a:t>プロジェクト概要・連絡先</a:t>
            </a:r>
          </a:p>
        </p:txBody>
      </p:sp>
      <p:sp>
        <p:nvSpPr>
          <p:cNvPr id="6" name="TextBox 5"/>
          <p:cNvSpPr txBox="1"/>
          <p:nvPr/>
        </p:nvSpPr>
        <p:spPr>
          <a:xfrm>
            <a:off x="457200" y="868680"/>
            <a:ext cx="8229600" cy="777240"/>
          </a:xfrm>
          <a:prstGeom prst="rect">
            <a:avLst/>
          </a:prstGeom>
          <a:noFill/>
        </p:spPr>
        <p:txBody>
          <a:bodyPr wrap="square">
            <a:spAutoFit/>
          </a:bodyPr>
          <a:lstStyle/>
          <a:p>
            <a:pPr algn="l"/>
            <a:r>
              <a:rPr sz="4000" b="1">
                <a:solidFill>
                  <a:srgbClr val="F8FAFC"/>
                </a:solidFill>
                <a:latin typeface="Meiryo"/>
              </a:rPr>
              <a:t>ステップアップナビ</a:t>
            </a:r>
          </a:p>
        </p:txBody>
      </p:sp>
      <p:sp>
        <p:nvSpPr>
          <p:cNvPr id="7" name="TextBox 6"/>
          <p:cNvSpPr txBox="1"/>
          <p:nvPr/>
        </p:nvSpPr>
        <p:spPr>
          <a:xfrm>
            <a:off x="457200" y="1691640"/>
            <a:ext cx="8229600" cy="457200"/>
          </a:xfrm>
          <a:prstGeom prst="rect">
            <a:avLst/>
          </a:prstGeom>
          <a:noFill/>
        </p:spPr>
        <p:txBody>
          <a:bodyPr wrap="square">
            <a:spAutoFit/>
          </a:bodyPr>
          <a:lstStyle/>
          <a:p>
            <a:pPr algn="l"/>
            <a:r>
              <a:rPr sz="1600" b="0">
                <a:solidFill>
                  <a:srgbClr val="10B981"/>
                </a:solidFill>
                <a:latin typeface="Meiryo"/>
              </a:rPr>
              <a:t>障害のある方の「はたらく一歩」を支えるWebアプリ</a:t>
            </a:r>
          </a:p>
        </p:txBody>
      </p:sp>
      <p:sp>
        <p:nvSpPr>
          <p:cNvPr id="8" name="Rectangle 7"/>
          <p:cNvSpPr/>
          <p:nvPr/>
        </p:nvSpPr>
        <p:spPr>
          <a:xfrm>
            <a:off x="457200" y="2377440"/>
            <a:ext cx="5303520" cy="548640"/>
          </a:xfrm>
          <a:prstGeom prst="rect">
            <a:avLst/>
          </a:prstGeom>
          <a:solidFill>
            <a:srgbClr val="1E293B"/>
          </a:solidFill>
          <a:ln w="15240">
            <a:solidFill>
              <a:srgbClr val="104A3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66928" y="2468880"/>
            <a:ext cx="1645920" cy="384048"/>
          </a:xfrm>
          <a:prstGeom prst="rect">
            <a:avLst/>
          </a:prstGeom>
          <a:noFill/>
        </p:spPr>
        <p:txBody>
          <a:bodyPr wrap="square">
            <a:spAutoFit/>
          </a:bodyPr>
          <a:lstStyle/>
          <a:p>
            <a:pPr algn="l"/>
            <a:r>
              <a:rPr sz="1200" b="1">
                <a:solidFill>
                  <a:srgbClr val="10B981"/>
                </a:solidFill>
                <a:latin typeface="Meiryo"/>
              </a:rPr>
              <a:t>アプリURL：</a:t>
            </a:r>
          </a:p>
        </p:txBody>
      </p:sp>
      <p:sp>
        <p:nvSpPr>
          <p:cNvPr id="10" name="TextBox 9"/>
          <p:cNvSpPr txBox="1"/>
          <p:nvPr/>
        </p:nvSpPr>
        <p:spPr>
          <a:xfrm>
            <a:off x="2377440" y="2468880"/>
            <a:ext cx="3200400" cy="384048"/>
          </a:xfrm>
          <a:prstGeom prst="rect">
            <a:avLst/>
          </a:prstGeom>
          <a:noFill/>
        </p:spPr>
        <p:txBody>
          <a:bodyPr wrap="square">
            <a:spAutoFit/>
          </a:bodyPr>
          <a:lstStyle/>
          <a:p>
            <a:pPr algn="l"/>
            <a:r>
              <a:rPr sz="1200" b="0">
                <a:solidFill>
                  <a:srgbClr val="CBD5E1"/>
                </a:solidFill>
                <a:latin typeface="Meiryo"/>
              </a:rPr>
              <a:t>https://web-production-c0abe.up.railway.app/</a:t>
            </a:r>
          </a:p>
        </p:txBody>
      </p:sp>
      <p:sp>
        <p:nvSpPr>
          <p:cNvPr id="11" name="Rectangle 10"/>
          <p:cNvSpPr/>
          <p:nvPr/>
        </p:nvSpPr>
        <p:spPr>
          <a:xfrm>
            <a:off x="5943600" y="2377440"/>
            <a:ext cx="5303520" cy="548640"/>
          </a:xfrm>
          <a:prstGeom prst="rect">
            <a:avLst/>
          </a:prstGeom>
          <a:solidFill>
            <a:srgbClr val="1E293B"/>
          </a:solidFill>
          <a:ln w="15240">
            <a:solidFill>
              <a:srgbClr val="104A3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053328" y="2468880"/>
            <a:ext cx="1645920" cy="384048"/>
          </a:xfrm>
          <a:prstGeom prst="rect">
            <a:avLst/>
          </a:prstGeom>
          <a:noFill/>
        </p:spPr>
        <p:txBody>
          <a:bodyPr wrap="square">
            <a:spAutoFit/>
          </a:bodyPr>
          <a:lstStyle/>
          <a:p>
            <a:pPr algn="l"/>
            <a:r>
              <a:rPr sz="1200" b="1">
                <a:solidFill>
                  <a:srgbClr val="10B981"/>
                </a:solidFill>
                <a:latin typeface="Meiryo"/>
              </a:rPr>
              <a:t>開発者連絡先：</a:t>
            </a:r>
          </a:p>
        </p:txBody>
      </p:sp>
      <p:sp>
        <p:nvSpPr>
          <p:cNvPr id="13" name="TextBox 12"/>
          <p:cNvSpPr txBox="1"/>
          <p:nvPr/>
        </p:nvSpPr>
        <p:spPr>
          <a:xfrm>
            <a:off x="7863840" y="2468880"/>
            <a:ext cx="3200400" cy="384048"/>
          </a:xfrm>
          <a:prstGeom prst="rect">
            <a:avLst/>
          </a:prstGeom>
          <a:noFill/>
        </p:spPr>
        <p:txBody>
          <a:bodyPr wrap="square">
            <a:spAutoFit/>
          </a:bodyPr>
          <a:lstStyle/>
          <a:p>
            <a:pPr algn="l"/>
            <a:r>
              <a:rPr sz="1200" b="0">
                <a:solidFill>
                  <a:srgbClr val="CBD5E1"/>
                </a:solidFill>
                <a:latin typeface="Meiryo"/>
              </a:rPr>
              <a:t>contact@stepupnavi.example.jp</a:t>
            </a:r>
          </a:p>
        </p:txBody>
      </p:sp>
      <p:sp>
        <p:nvSpPr>
          <p:cNvPr id="14" name="Rectangle 13"/>
          <p:cNvSpPr/>
          <p:nvPr/>
        </p:nvSpPr>
        <p:spPr>
          <a:xfrm>
            <a:off x="457200" y="3017520"/>
            <a:ext cx="5303520" cy="548640"/>
          </a:xfrm>
          <a:prstGeom prst="rect">
            <a:avLst/>
          </a:prstGeom>
          <a:solidFill>
            <a:srgbClr val="1E293B"/>
          </a:solidFill>
          <a:ln w="15240">
            <a:solidFill>
              <a:srgbClr val="104A3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66928" y="3108960"/>
            <a:ext cx="1645920" cy="384048"/>
          </a:xfrm>
          <a:prstGeom prst="rect">
            <a:avLst/>
          </a:prstGeom>
          <a:noFill/>
        </p:spPr>
        <p:txBody>
          <a:bodyPr wrap="square">
            <a:spAutoFit/>
          </a:bodyPr>
          <a:lstStyle/>
          <a:p>
            <a:pPr algn="l"/>
            <a:r>
              <a:rPr sz="1200" b="1">
                <a:solidFill>
                  <a:srgbClr val="10B981"/>
                </a:solidFill>
                <a:latin typeface="Meiryo"/>
              </a:rPr>
              <a:t>Readyforページ：</a:t>
            </a:r>
          </a:p>
        </p:txBody>
      </p:sp>
      <p:sp>
        <p:nvSpPr>
          <p:cNvPr id="16" name="TextBox 15"/>
          <p:cNvSpPr txBox="1"/>
          <p:nvPr/>
        </p:nvSpPr>
        <p:spPr>
          <a:xfrm>
            <a:off x="2377440" y="3108960"/>
            <a:ext cx="3200400" cy="384048"/>
          </a:xfrm>
          <a:prstGeom prst="rect">
            <a:avLst/>
          </a:prstGeom>
          <a:noFill/>
        </p:spPr>
        <p:txBody>
          <a:bodyPr wrap="square">
            <a:spAutoFit/>
          </a:bodyPr>
          <a:lstStyle/>
          <a:p>
            <a:pPr algn="l"/>
            <a:r>
              <a:rPr sz="1200" b="0">
                <a:solidFill>
                  <a:srgbClr val="CBD5E1"/>
                </a:solidFill>
                <a:latin typeface="Meiryo"/>
              </a:rPr>
              <a:t>（公開準備中）</a:t>
            </a:r>
          </a:p>
        </p:txBody>
      </p:sp>
      <p:sp>
        <p:nvSpPr>
          <p:cNvPr id="17" name="Rectangle 16"/>
          <p:cNvSpPr/>
          <p:nvPr/>
        </p:nvSpPr>
        <p:spPr>
          <a:xfrm>
            <a:off x="5943600" y="3017520"/>
            <a:ext cx="5303520" cy="548640"/>
          </a:xfrm>
          <a:prstGeom prst="rect">
            <a:avLst/>
          </a:prstGeom>
          <a:solidFill>
            <a:srgbClr val="1E293B"/>
          </a:solidFill>
          <a:ln w="15240">
            <a:solidFill>
              <a:srgbClr val="104A3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053328" y="3108960"/>
            <a:ext cx="1645920" cy="384048"/>
          </a:xfrm>
          <a:prstGeom prst="rect">
            <a:avLst/>
          </a:prstGeom>
          <a:noFill/>
        </p:spPr>
        <p:txBody>
          <a:bodyPr wrap="square">
            <a:spAutoFit/>
          </a:bodyPr>
          <a:lstStyle/>
          <a:p>
            <a:pPr algn="l"/>
            <a:r>
              <a:rPr sz="1200" b="1">
                <a:solidFill>
                  <a:srgbClr val="10B981"/>
                </a:solidFill>
                <a:latin typeface="Meiryo"/>
              </a:rPr>
              <a:t>X（旧Twitter）：</a:t>
            </a:r>
          </a:p>
        </p:txBody>
      </p:sp>
      <p:sp>
        <p:nvSpPr>
          <p:cNvPr id="19" name="TextBox 18"/>
          <p:cNvSpPr txBox="1"/>
          <p:nvPr/>
        </p:nvSpPr>
        <p:spPr>
          <a:xfrm>
            <a:off x="7863840" y="3108960"/>
            <a:ext cx="3200400" cy="384048"/>
          </a:xfrm>
          <a:prstGeom prst="rect">
            <a:avLst/>
          </a:prstGeom>
          <a:noFill/>
        </p:spPr>
        <p:txBody>
          <a:bodyPr wrap="square">
            <a:spAutoFit/>
          </a:bodyPr>
          <a:lstStyle/>
          <a:p>
            <a:pPr algn="l"/>
            <a:r>
              <a:rPr sz="1200" b="0">
                <a:solidFill>
                  <a:srgbClr val="CBD5E1"/>
                </a:solidFill>
                <a:latin typeface="Meiryo"/>
              </a:rPr>
              <a:t>（TBD）</a:t>
            </a:r>
          </a:p>
        </p:txBody>
      </p:sp>
      <p:sp>
        <p:nvSpPr>
          <p:cNvPr id="20" name="Rectangle 19"/>
          <p:cNvSpPr/>
          <p:nvPr/>
        </p:nvSpPr>
        <p:spPr>
          <a:xfrm>
            <a:off x="457200" y="3657600"/>
            <a:ext cx="5303520" cy="548640"/>
          </a:xfrm>
          <a:prstGeom prst="rect">
            <a:avLst/>
          </a:prstGeom>
          <a:solidFill>
            <a:srgbClr val="1E293B"/>
          </a:solidFill>
          <a:ln w="15240">
            <a:solidFill>
              <a:srgbClr val="104A3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66928" y="3749040"/>
            <a:ext cx="1645920" cy="384048"/>
          </a:xfrm>
          <a:prstGeom prst="rect">
            <a:avLst/>
          </a:prstGeom>
          <a:noFill/>
        </p:spPr>
        <p:txBody>
          <a:bodyPr wrap="square">
            <a:spAutoFit/>
          </a:bodyPr>
          <a:lstStyle/>
          <a:p>
            <a:pPr algn="l"/>
            <a:r>
              <a:rPr sz="1200" b="1">
                <a:solidFill>
                  <a:srgbClr val="10B981"/>
                </a:solidFill>
                <a:latin typeface="Meiryo"/>
              </a:rPr>
              <a:t>目標金額：</a:t>
            </a:r>
          </a:p>
        </p:txBody>
      </p:sp>
      <p:sp>
        <p:nvSpPr>
          <p:cNvPr id="22" name="TextBox 21"/>
          <p:cNvSpPr txBox="1"/>
          <p:nvPr/>
        </p:nvSpPr>
        <p:spPr>
          <a:xfrm>
            <a:off x="2377440" y="3749040"/>
            <a:ext cx="3200400" cy="384048"/>
          </a:xfrm>
          <a:prstGeom prst="rect">
            <a:avLst/>
          </a:prstGeom>
          <a:noFill/>
        </p:spPr>
        <p:txBody>
          <a:bodyPr wrap="square">
            <a:spAutoFit/>
          </a:bodyPr>
          <a:lstStyle/>
          <a:p>
            <a:pPr algn="l"/>
            <a:r>
              <a:rPr sz="1200" b="0">
                <a:solidFill>
                  <a:srgbClr val="CBD5E1"/>
                </a:solidFill>
                <a:latin typeface="Meiryo"/>
              </a:rPr>
              <a:t>300万円</a:t>
            </a:r>
          </a:p>
        </p:txBody>
      </p:sp>
      <p:sp>
        <p:nvSpPr>
          <p:cNvPr id="23" name="Rectangle 22"/>
          <p:cNvSpPr/>
          <p:nvPr/>
        </p:nvSpPr>
        <p:spPr>
          <a:xfrm>
            <a:off x="5943600" y="3657600"/>
            <a:ext cx="5303520" cy="548640"/>
          </a:xfrm>
          <a:prstGeom prst="rect">
            <a:avLst/>
          </a:prstGeom>
          <a:solidFill>
            <a:srgbClr val="1E293B"/>
          </a:solidFill>
          <a:ln w="15240">
            <a:solidFill>
              <a:srgbClr val="104A3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053328" y="3749040"/>
            <a:ext cx="1645920" cy="384048"/>
          </a:xfrm>
          <a:prstGeom prst="rect">
            <a:avLst/>
          </a:prstGeom>
          <a:noFill/>
        </p:spPr>
        <p:txBody>
          <a:bodyPr wrap="square">
            <a:spAutoFit/>
          </a:bodyPr>
          <a:lstStyle/>
          <a:p>
            <a:pPr algn="l"/>
            <a:r>
              <a:rPr sz="1200" b="1">
                <a:solidFill>
                  <a:srgbClr val="10B981"/>
                </a:solidFill>
                <a:latin typeface="Meiryo"/>
              </a:rPr>
              <a:t>プロジェクト期間：</a:t>
            </a:r>
          </a:p>
        </p:txBody>
      </p:sp>
      <p:sp>
        <p:nvSpPr>
          <p:cNvPr id="25" name="TextBox 24"/>
          <p:cNvSpPr txBox="1"/>
          <p:nvPr/>
        </p:nvSpPr>
        <p:spPr>
          <a:xfrm>
            <a:off x="7863840" y="3749040"/>
            <a:ext cx="3200400" cy="384048"/>
          </a:xfrm>
          <a:prstGeom prst="rect">
            <a:avLst/>
          </a:prstGeom>
          <a:noFill/>
        </p:spPr>
        <p:txBody>
          <a:bodyPr wrap="square">
            <a:spAutoFit/>
          </a:bodyPr>
          <a:lstStyle/>
          <a:p>
            <a:pPr algn="l"/>
            <a:r>
              <a:rPr sz="1200" b="0">
                <a:solidFill>
                  <a:srgbClr val="CBD5E1"/>
                </a:solidFill>
                <a:latin typeface="Meiryo"/>
              </a:rPr>
              <a:t>2026年 夏〜秋（予定）</a:t>
            </a:r>
          </a:p>
        </p:txBody>
      </p:sp>
      <p:sp>
        <p:nvSpPr>
          <p:cNvPr id="26" name="Rectangle 25"/>
          <p:cNvSpPr/>
          <p:nvPr/>
        </p:nvSpPr>
        <p:spPr>
          <a:xfrm>
            <a:off x="320040" y="5029200"/>
            <a:ext cx="11521440" cy="1508760"/>
          </a:xfrm>
          <a:prstGeom prst="rect">
            <a:avLst/>
          </a:prstGeom>
          <a:solidFill>
            <a:srgbClr val="1E293B"/>
          </a:solidFill>
          <a:ln w="15240">
            <a:solidFill>
              <a:srgbClr val="104A3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57200" y="5166360"/>
            <a:ext cx="11247120" cy="594360"/>
          </a:xfrm>
          <a:prstGeom prst="rect">
            <a:avLst/>
          </a:prstGeom>
          <a:noFill/>
        </p:spPr>
        <p:txBody>
          <a:bodyPr wrap="square">
            <a:spAutoFit/>
          </a:bodyPr>
          <a:lstStyle/>
          <a:p>
            <a:pPr algn="ctr"/>
            <a:r>
              <a:rPr sz="2200" b="1">
                <a:solidFill>
                  <a:srgbClr val="10B981"/>
                </a:solidFill>
                <a:latin typeface="Meiryo"/>
              </a:rPr>
              <a:t>一緒に作ってください。「はたらく一歩」を、届けましょう。</a:t>
            </a:r>
          </a:p>
        </p:txBody>
      </p:sp>
      <p:sp>
        <p:nvSpPr>
          <p:cNvPr id="28" name="Rectangle 27"/>
          <p:cNvSpPr/>
          <p:nvPr/>
        </p:nvSpPr>
        <p:spPr>
          <a:xfrm>
            <a:off x="3200400" y="5806440"/>
            <a:ext cx="5788152" cy="45720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3246120" y="5806440"/>
            <a:ext cx="5696712" cy="457200"/>
          </a:xfrm>
          <a:prstGeom prst="rect">
            <a:avLst/>
          </a:prstGeom>
          <a:noFill/>
        </p:spPr>
        <p:txBody>
          <a:bodyPr wrap="square">
            <a:spAutoFit/>
          </a:bodyPr>
          <a:lstStyle/>
          <a:p>
            <a:pPr algn="ctr"/>
            <a:r>
              <a:rPr sz="1300" b="1">
                <a:solidFill>
                  <a:srgbClr val="0F172A"/>
                </a:solidFill>
                <a:latin typeface="Meiryo"/>
              </a:rPr>
              <a:t>Readyfor クラウドファンディング プロジェクト  2026</a:t>
            </a:r>
          </a:p>
        </p:txBody>
      </p:sp>
      <p:sp>
        <p:nvSpPr>
          <p:cNvPr id="30" name="TextBox 29"/>
          <p:cNvSpPr txBox="1"/>
          <p:nvPr/>
        </p:nvSpPr>
        <p:spPr>
          <a:xfrm>
            <a:off x="9601200" y="6492240"/>
            <a:ext cx="2468880" cy="320040"/>
          </a:xfrm>
          <a:prstGeom prst="rect">
            <a:avLst/>
          </a:prstGeom>
          <a:noFill/>
        </p:spPr>
        <p:txBody>
          <a:bodyPr wrap="square">
            <a:spAutoFit/>
          </a:bodyPr>
          <a:lstStyle/>
          <a:p>
            <a:pPr algn="r"/>
            <a:r>
              <a:rPr sz="800" b="0">
                <a:solidFill>
                  <a:srgbClr val="94A3B8"/>
                </a:solidFill>
                <a:latin typeface="Meiryo"/>
              </a:rPr>
              <a:t>🌱 ステップアップナビ</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