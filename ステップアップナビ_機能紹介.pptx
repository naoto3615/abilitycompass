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5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4114800"/>
            <a:ext cx="4114800" cy="4114800"/>
          </a:xfrm>
          <a:prstGeom prst="ellipse">
            <a:avLst/>
          </a:prstGeom>
          <a:solidFill>
            <a:srgbClr val="15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-1097280"/>
            <a:ext cx="3200400" cy="3200400"/>
          </a:xfrm>
          <a:prstGeom prst="ellipse">
            <a:avLst/>
          </a:prstGeom>
          <a:solidFill>
            <a:srgbClr val="15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0" y="1188720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FFFFFF"/>
                </a:solidFill>
              </a:rPr>
              <a:t>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ステップアップナビ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20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95D5B2"/>
                </a:solidFill>
              </a:rPr>
              <a:t>就労支援Webアプリ　機能紹介・開発ロードマップ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309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</a:rPr>
              <a:t>https://web-production-c0abe.up.railway.app/　｜　2026年6月27日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64922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C757D"/>
                </a:solidFill>
              </a:rPr>
              <a:t>🌱 ステップアップナビ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</a:rPr>
              <a:t>アプリの目的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32688"/>
            <a:ext cx="2743200" cy="36576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83464" y="1517904"/>
            <a:ext cx="11704320" cy="71323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463040"/>
            <a:ext cx="117043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463040"/>
            <a:ext cx="91440" cy="71323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63040"/>
            <a:ext cx="2377440" cy="71323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554480"/>
            <a:ext cx="2240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🎯  対象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572768"/>
            <a:ext cx="8869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</a:rPr>
              <a:t>軽度知的障害を持つ大人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" y="2386584"/>
            <a:ext cx="11704320" cy="71323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" y="2331720"/>
            <a:ext cx="117043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2331720"/>
            <a:ext cx="91440" cy="71323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2331720"/>
            <a:ext cx="2377440" cy="71323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2423160"/>
            <a:ext cx="2240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🌱  目的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441448"/>
            <a:ext cx="8869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</a:rPr>
              <a:t>就労（福祉的就労・一般就労）に向けた成長を支援するWebアプリ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464" y="3255264"/>
            <a:ext cx="11704320" cy="71323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3200400"/>
            <a:ext cx="117043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8600" y="3200400"/>
            <a:ext cx="91440" cy="71323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200400"/>
            <a:ext cx="2377440" cy="71323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291840"/>
            <a:ext cx="2240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👥  利用者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310128"/>
            <a:ext cx="8869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</a:rPr>
              <a:t>本人（障害のある大人）＋ 支援者（家族・支援員・作業所スタッフ）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3464" y="4123944"/>
            <a:ext cx="11704320" cy="71323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4069080"/>
            <a:ext cx="117043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4069080"/>
            <a:ext cx="91440" cy="71323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4069080"/>
            <a:ext cx="2377440" cy="71323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4160520"/>
            <a:ext cx="2240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💻  技術スタック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4178808"/>
            <a:ext cx="8869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</a:rPr>
              <a:t>Django（Python）、PostgreSQL、Railway（本番環境）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3464" y="4992624"/>
            <a:ext cx="11704320" cy="71323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8600" y="4937760"/>
            <a:ext cx="117043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8600" y="4937760"/>
            <a:ext cx="91440" cy="71323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4937760"/>
            <a:ext cx="2377440" cy="71323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5029200"/>
            <a:ext cx="2240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🔗  本番URL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0360" y="5047488"/>
            <a:ext cx="8869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</a:rPr>
              <a:t>https://web-production-c0abe.up.railway.app/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64922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C757D"/>
                </a:solidFill>
              </a:rPr>
              <a:t>🌱 ステップアップナビ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</a:rPr>
              <a:t>★ 現在すでに動いている機能（9機能）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32688"/>
            <a:ext cx="2743200" cy="36576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C757D"/>
                </a:solidFill>
              </a:rPr>
              <a:t>すべてRailway本番環境で稼働中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" y="1517904"/>
            <a:ext cx="3794760" cy="132588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463040"/>
            <a:ext cx="37947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463040"/>
            <a:ext cx="91440" cy="13258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1554480"/>
            <a:ext cx="3538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6A4F"/>
                </a:solidFill>
              </a:rPr>
              <a:t>🔐 利用者登録・ログイン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029968"/>
            <a:ext cx="353872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アカウント登録・支援者紐付け・ログイン/アウト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" y="2980944"/>
            <a:ext cx="3794760" cy="132588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" y="2926080"/>
            <a:ext cx="37947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2926080"/>
            <a:ext cx="91440" cy="13258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3192" y="3017520"/>
            <a:ext cx="3538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6A4F"/>
                </a:solidFill>
              </a:rPr>
              <a:t>🧠 性格・特性診断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" y="3493008"/>
            <a:ext cx="353872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13問・6特性・5仕事タイプ判定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464" y="4443984"/>
            <a:ext cx="3794760" cy="132588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8600" y="4389120"/>
            <a:ext cx="37947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4389120"/>
            <a:ext cx="91440" cy="13258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4480560"/>
            <a:ext cx="3538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6A4F"/>
                </a:solidFill>
              </a:rPr>
              <a:t>🗺️ 成長ロードマップ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" y="4956048"/>
            <a:ext cx="353872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仕事タイプ別3ステップで構成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33672" y="1517904"/>
            <a:ext cx="3794760" cy="132588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78808" y="1463040"/>
            <a:ext cx="37947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78808" y="1463040"/>
            <a:ext cx="91440" cy="13258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3400" y="1554480"/>
            <a:ext cx="3538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6A4F"/>
                </a:solidFill>
              </a:rPr>
              <a:t>📓 日々の記録・ダッシュボード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2029968"/>
            <a:ext cx="353872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感情スタンプ・体調・週間グラフ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33672" y="2980944"/>
            <a:ext cx="3794760" cy="132588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78808" y="2926080"/>
            <a:ext cx="37947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78808" y="2926080"/>
            <a:ext cx="91440" cy="13258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43400" y="3017520"/>
            <a:ext cx="3538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6A4F"/>
                </a:solidFill>
              </a:rPr>
              <a:t>🧑 自分似のアバター機能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3493008"/>
            <a:ext cx="353872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SVGカスタマイズ・診断連動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33672" y="4443984"/>
            <a:ext cx="3794760" cy="132588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78808" y="4389120"/>
            <a:ext cx="37947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78808" y="4389120"/>
            <a:ext cx="91440" cy="13258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43400" y="4480560"/>
            <a:ext cx="3538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6A4F"/>
                </a:solidFill>
              </a:rPr>
              <a:t>💬 アバターとのAIチャット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43400" y="4956048"/>
            <a:ext cx="353872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GPT-4o-mini / フォールバック対応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93024" y="1517904"/>
            <a:ext cx="3794760" cy="132588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38160" y="1463040"/>
            <a:ext cx="37947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38160" y="1463040"/>
            <a:ext cx="91440" cy="13258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2752" y="1554480"/>
            <a:ext cx="3538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6A4F"/>
                </a:solidFill>
              </a:rPr>
              <a:t>👩‍💼 支援者ダッシュボード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2752" y="2029968"/>
            <a:ext cx="353872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進捗確認・メモ機能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93024" y="2980944"/>
            <a:ext cx="3794760" cy="132588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38160" y="2926080"/>
            <a:ext cx="37947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38160" y="2926080"/>
            <a:ext cx="91440" cy="13258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02752" y="3017520"/>
            <a:ext cx="3538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6A4F"/>
                </a:solidFill>
              </a:rPr>
              <a:t>🈶 漢字/ひらがな切り替え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02752" y="3493008"/>
            <a:ext cx="353872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全ページ対応・セッション保持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93024" y="4443984"/>
            <a:ext cx="3794760" cy="132588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138160" y="4389120"/>
            <a:ext cx="37947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38160" y="4389120"/>
            <a:ext cx="91440" cy="13258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02752" y="4480560"/>
            <a:ext cx="3538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6A4F"/>
                </a:solidFill>
              </a:rPr>
              <a:t>🚀 本番デプロイ環境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02752" y="4956048"/>
            <a:ext cx="353872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Railway + PostgreSQL で稼働中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64922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C757D"/>
                </a:solidFill>
              </a:rPr>
              <a:t>🌱 ステップアップナビ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</a:rPr>
              <a:t>🧠 性格・特性診断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32688"/>
            <a:ext cx="2743200" cy="36576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C757D"/>
                </a:solidFill>
              </a:rPr>
              <a:t>実装済み ★ ｜ 13問のやさしい日本語による質問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4630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</a:rPr>
              <a:t>📊 測定する6つの特性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" y="1975104"/>
            <a:ext cx="2834640" cy="105156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920240"/>
            <a:ext cx="2834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920240"/>
            <a:ext cx="91440" cy="105156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199339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</a:rPr>
              <a:t>集中力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39572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7D"/>
                </a:solidFill>
              </a:rPr>
              <a:t>一つの作業に取り組み続ける力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" y="3163824"/>
            <a:ext cx="2834640" cy="105156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3108960"/>
            <a:ext cx="2834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108960"/>
            <a:ext cx="91440" cy="105156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318211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</a:rPr>
              <a:t>コミュニケーション力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358444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7D"/>
                </a:solidFill>
              </a:rPr>
              <a:t>人と話したり伝えたりする力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" y="4352544"/>
            <a:ext cx="2834640" cy="105156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4297680"/>
            <a:ext cx="2834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4297680"/>
            <a:ext cx="91440" cy="105156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437083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</a:rPr>
              <a:t>体力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" y="477316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7D"/>
                </a:solidFill>
              </a:rPr>
              <a:t>身体的な活動への耐久力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46704" y="1975104"/>
            <a:ext cx="2834640" cy="105156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91840" y="1920240"/>
            <a:ext cx="2834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1920240"/>
            <a:ext cx="91440" cy="105156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56432" y="199339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</a:rPr>
              <a:t>几帳面さ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239572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7D"/>
                </a:solidFill>
              </a:rPr>
              <a:t>丁寧・正確に作業する力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46704" y="3163824"/>
            <a:ext cx="2834640" cy="105156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0" y="3108960"/>
            <a:ext cx="2834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91840" y="3108960"/>
            <a:ext cx="91440" cy="105156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56432" y="318211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</a:rPr>
              <a:t>感情コントロール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6432" y="358444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7D"/>
                </a:solidFill>
              </a:rPr>
              <a:t>気持ちを安定させる力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46704" y="4352544"/>
            <a:ext cx="2834640" cy="105156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91840" y="4297680"/>
            <a:ext cx="2834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91840" y="4297680"/>
            <a:ext cx="91440" cy="105156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56432" y="437083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</a:rPr>
              <a:t>学習意欲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56432" y="477316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7D"/>
                </a:solidFill>
              </a:rPr>
              <a:t>新しいことを学ぼうとする力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2E"/>
                </a:solidFill>
              </a:rPr>
              <a:t>💼 判定される5つの仕事タイプ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92240" y="2011680"/>
            <a:ext cx="1691640" cy="6858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0" y="210312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🌾 農業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66759" y="2011680"/>
            <a:ext cx="1691640" cy="6858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58199" y="210312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🏭 製造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241278" y="2011680"/>
            <a:ext cx="1691640" cy="6858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332718" y="210312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🧹 清掃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2926080"/>
            <a:ext cx="1691640" cy="6858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0" y="301752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🍱 食品加工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66759" y="2926080"/>
            <a:ext cx="1691640" cy="6858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58199" y="301752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🤝 接客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" y="585216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6A4F"/>
                </a:solidFill>
              </a:rPr>
              <a:t>▶ 結果として「強み・課題・仕事タイプ」をわかりやすく表示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64922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C757D"/>
                </a:solidFill>
              </a:rPr>
              <a:t>🌱 ステップアップナビ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</a:rPr>
              <a:t>🗺️ 成長ロードマップ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32688"/>
            <a:ext cx="2743200" cy="36576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C757D"/>
                </a:solidFill>
              </a:rPr>
              <a:t>実装済み ★ ｜ 仕事タイプ別 × 3ステップ構成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" y="1472184"/>
            <a:ext cx="3749039" cy="50292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749039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17320"/>
            <a:ext cx="3749039" cy="3657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3560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874520"/>
            <a:ext cx="3474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D6A4F"/>
                </a:solidFill>
              </a:rPr>
              <a:t>生活習慣の安定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87752"/>
            <a:ext cx="3200399" cy="36576"/>
          </a:xfrm>
          <a:prstGeom prst="rect">
            <a:avLst/>
          </a:prstGeom>
          <a:solidFill>
            <a:srgbClr val="95D5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15768"/>
            <a:ext cx="338327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▶ 規則正しい生活リズムの確立
▶ 体調管理の基本スキル
▶ 日々の記録をつける習慣</a:t>
            </a:r>
          </a:p>
        </p:txBody>
      </p:sp>
      <p:sp>
        <p:nvSpPr>
          <p:cNvPr id="14" name="Can 13"/>
          <p:cNvSpPr/>
          <p:nvPr/>
        </p:nvSpPr>
        <p:spPr>
          <a:xfrm>
            <a:off x="4059935" y="3657600"/>
            <a:ext cx="182880" cy="457200"/>
          </a:xfrm>
          <a:prstGeom prst="can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472184"/>
            <a:ext cx="3749039" cy="50292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1417320"/>
            <a:ext cx="3749039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24528" y="1417320"/>
            <a:ext cx="3749039" cy="365760"/>
          </a:xfrm>
          <a:prstGeom prst="rect">
            <a:avLst/>
          </a:prstGeom>
          <a:solidFill>
            <a:srgbClr val="237A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15968" y="143560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1688" y="1874520"/>
            <a:ext cx="3474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37AB0"/>
                </a:solidFill>
              </a:rPr>
              <a:t>作業スキルの習得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98848" y="2587752"/>
            <a:ext cx="3200399" cy="36576"/>
          </a:xfrm>
          <a:prstGeom prst="rect">
            <a:avLst/>
          </a:prstGeom>
          <a:solidFill>
            <a:srgbClr val="95D5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2715768"/>
            <a:ext cx="338327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▶ 仕事タイプ別の基礎作業練習
▶ 集中力・体力の強化
▶ 職場でのマナー学習</a:t>
            </a:r>
          </a:p>
        </p:txBody>
      </p:sp>
      <p:sp>
        <p:nvSpPr>
          <p:cNvPr id="22" name="Can 21"/>
          <p:cNvSpPr/>
          <p:nvPr/>
        </p:nvSpPr>
        <p:spPr>
          <a:xfrm>
            <a:off x="8010143" y="3657600"/>
            <a:ext cx="182880" cy="457200"/>
          </a:xfrm>
          <a:prstGeom prst="can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1472184"/>
            <a:ext cx="3749039" cy="50292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74736" y="1417320"/>
            <a:ext cx="3749039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74736" y="1417320"/>
            <a:ext cx="3749039" cy="36576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66176" y="143560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1896" y="1874520"/>
            <a:ext cx="3474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E76F51"/>
                </a:solidFill>
              </a:rPr>
              <a:t>就労準備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49056" y="2587752"/>
            <a:ext cx="3200399" cy="36576"/>
          </a:xfrm>
          <a:prstGeom prst="rect">
            <a:avLst/>
          </a:prstGeom>
          <a:solidFill>
            <a:srgbClr val="95D5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57616" y="2715768"/>
            <a:ext cx="338327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▶ 実際の就労先の見学・体験
▶ 面接・職場コミュニケーション練習
▶ 就労後のフォローアップ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64922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C757D"/>
                </a:solidFill>
              </a:rPr>
              <a:t>💡 タブ切り替えUIで仕事タイプ別に見やすく表示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64922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C757D"/>
                </a:solidFill>
              </a:rPr>
              <a:t>🌱 ステップアップナビ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</a:rPr>
              <a:t>🧑 自分似のアバター機能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32688"/>
            <a:ext cx="2743200" cy="36576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C757D"/>
                </a:solidFill>
              </a:rPr>
              <a:t>実装済み ★ ｜ SVGカスタマイズ・診断連動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" y="1517904"/>
            <a:ext cx="5760720" cy="21488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463040"/>
            <a:ext cx="576072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463040"/>
            <a:ext cx="91440" cy="21488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463040"/>
            <a:ext cx="5669280" cy="3657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499616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🎨  外見カスタマイズ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20240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肌の色・髪型・目・表情などをSVGで
自由にカスタマイズ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5352" y="1517904"/>
            <a:ext cx="5760720" cy="21488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463040"/>
            <a:ext cx="576072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0488" y="1463040"/>
            <a:ext cx="91440" cy="2148840"/>
          </a:xfrm>
          <a:prstGeom prst="rect">
            <a:avLst/>
          </a:prstGeom>
          <a:solidFill>
            <a:srgbClr val="237A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1463040"/>
            <a:ext cx="5669280" cy="365760"/>
          </a:xfrm>
          <a:prstGeom prst="rect">
            <a:avLst/>
          </a:prstGeom>
          <a:solidFill>
            <a:srgbClr val="237A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1499616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👕  仕事タイプ連動制服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1920240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診断結果の仕事タイプに応じた
制服が自動的に設定される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3464" y="3849624"/>
            <a:ext cx="5760720" cy="21488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8600" y="3794760"/>
            <a:ext cx="576072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600" y="3794760"/>
            <a:ext cx="91440" cy="214884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3794760"/>
            <a:ext cx="5669280" cy="36576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831336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😊  特性スコア連動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251960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特性スコアに応じてアクセサリー・
表情が自動的に変化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352" y="3849624"/>
            <a:ext cx="5760720" cy="21488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0488" y="3794760"/>
            <a:ext cx="576072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0488" y="3794760"/>
            <a:ext cx="91440" cy="21488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81928" y="3794760"/>
            <a:ext cx="5669280" cy="3657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831336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📊  常時表示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4251960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ダッシュボードでアバターを
常に表示し、成長を実感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64922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C757D"/>
                </a:solidFill>
              </a:rPr>
              <a:t>🌱 ステップアップナビ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</a:rPr>
              <a:t>💬 アバターとのAIチャット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32688"/>
            <a:ext cx="2743200" cy="36576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C757D"/>
                </a:solidFill>
              </a:rPr>
              <a:t>実装済み ★ ｜ GPT-4o-mini搭載・フォールバック対応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" y="1517904"/>
            <a:ext cx="5760720" cy="50292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463040"/>
            <a:ext cx="57607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463040"/>
            <a:ext cx="5760720" cy="4114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17904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🤖  OpenAI APIキーあり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011680"/>
            <a:ext cx="5440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▶ GPT-4o-mini による個別対応
▶ 本人の診断結果・特性を踏まえた会話
▶ 自然で共感的な対話が可能
▶ 会話履歴の保持・リセット機能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2784" y="1517904"/>
            <a:ext cx="5760720" cy="50292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57607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5760720" cy="41148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517904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💡  APIキーなし（フォールバック）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11680"/>
            <a:ext cx="5440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▶ ルールベースの会話で動作
▶ 誰でも追加費用なしで利用可能
▶ 基本的な励まし・アドバイスに対応
▶ APIキー設定でいつでも高機能化可能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3749039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4A261"/>
                </a:solidFill>
              </a:rPr>
              <a:t>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64922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C757D"/>
                </a:solidFill>
              </a:rPr>
              <a:t>🌱 ステップアップナビ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</a:rPr>
              <a:t>🈶 漢字/ひらがな切り替え ＋ 支援者ダッシュボード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32688"/>
            <a:ext cx="2743200" cy="36576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C757D"/>
                </a:solidFill>
              </a:rPr>
              <a:t>実装済み ★ ｜ ユニバーサルデザインへの配慮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" y="1517904"/>
            <a:ext cx="5760720" cy="50292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463040"/>
            <a:ext cx="57607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463040"/>
            <a:ext cx="5760720" cy="4114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17904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🈶 漢字 / ひらがな 切り替え機能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011680"/>
            <a:ext cx="5440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✅ 全ページで漢字表記 ↔ ひらがな表記を切り替え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532887"/>
            <a:ext cx="5440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✅ セッションで設定を保持（ページ移動しても維持）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054094"/>
            <a:ext cx="5440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✅ 知的障害のある利用者への読みやすさへの配慮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575301"/>
            <a:ext cx="5440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096508"/>
            <a:ext cx="5440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📌 ユニバーサルデザインの重要な実装の一つ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617715"/>
            <a:ext cx="5440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　　本人が自分に合った表示で操作できる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18504" y="1517904"/>
            <a:ext cx="5760720" cy="50292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463040"/>
            <a:ext cx="57607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1463040"/>
            <a:ext cx="5760720" cy="411480"/>
          </a:xfrm>
          <a:prstGeom prst="rect">
            <a:avLst/>
          </a:prstGeom>
          <a:solidFill>
            <a:srgbClr val="237A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👩‍💼 支援者ダッシュボード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011680"/>
            <a:ext cx="5440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✅ 担当利用者の進捗・記録を一覧確認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532887"/>
            <a:ext cx="5440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✅ 利用者へのメモ機能（支援コメント）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054094"/>
            <a:ext cx="5440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575301"/>
            <a:ext cx="5440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👨‍👩‍👧  支援者（家族・支援員・作業所スタッフ）が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096508"/>
            <a:ext cx="5440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　　利用者の状況をリアルタイムで把握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4617715"/>
            <a:ext cx="5440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138922"/>
            <a:ext cx="5440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📌 支援者も安心して使えるシンプルなUI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64922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C757D"/>
                </a:solidFill>
              </a:rPr>
              <a:t>🌱 ステップアップナビ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</a:rPr>
              <a:t>◎ 次のステップで追加できる機能（AIなし）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32688"/>
            <a:ext cx="2743200" cy="36576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C757D"/>
                </a:solidFill>
              </a:rPr>
              <a:t>既存のDjangoアプリに追加実装するだけで対応可能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463040"/>
            <a:ext cx="11750040" cy="43891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517904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17904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機能名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517904"/>
            <a:ext cx="4251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概要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1517904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期待効果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1517904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難易度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1911096"/>
            <a:ext cx="117500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95D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0" y="1947672"/>
            <a:ext cx="411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76F51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947672"/>
            <a:ext cx="2423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支援者評価 × レーダーチャート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1947672"/>
            <a:ext cx="4251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支援者が6特性を評点入力・自己評価と重ねて表示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194767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認識ギャップの可視化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1947672"/>
            <a:ext cx="1463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低〜中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" y="2532888"/>
            <a:ext cx="11750040" cy="594360"/>
          </a:xfrm>
          <a:prstGeom prst="rect">
            <a:avLst/>
          </a:prstGeom>
          <a:solidFill>
            <a:srgbClr val="D8F3DC"/>
          </a:solidFill>
          <a:ln w="6350">
            <a:solidFill>
              <a:srgbClr val="95D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" y="2569464"/>
            <a:ext cx="411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76F51"/>
                </a:solidFill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569464"/>
            <a:ext cx="2423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希望と適性のギャップ表示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2569464"/>
            <a:ext cx="4251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希望タイプと診断結果のズレを表示・次のステップを提示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569464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目標設定のサポート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2569464"/>
            <a:ext cx="1463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低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3154680"/>
            <a:ext cx="117500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95D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8600" y="3191256"/>
            <a:ext cx="411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76F51"/>
                </a:solidFill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191256"/>
            <a:ext cx="2423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進捗カレンダー + ストリーク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191256"/>
            <a:ext cx="4251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月間カレンダーで記録日を色付け・連続記録日数を表示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3191256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習慣化の動機付け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3191256"/>
            <a:ext cx="1463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3776472"/>
            <a:ext cx="11750040" cy="594360"/>
          </a:xfrm>
          <a:prstGeom prst="rect">
            <a:avLst/>
          </a:prstGeom>
          <a:solidFill>
            <a:srgbClr val="D8F3DC"/>
          </a:solidFill>
          <a:ln w="6350">
            <a:solidFill>
              <a:srgbClr val="95D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8600" y="3813048"/>
            <a:ext cx="411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76F51"/>
                </a:solidFill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3813048"/>
            <a:ext cx="2423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朝・夕のルーティンチェック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3813048"/>
            <a:ext cx="4251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仕事前後のやること一覧をチェック形式で管理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3813048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生活習慣の定着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3813048"/>
            <a:ext cx="1463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低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" y="4398264"/>
            <a:ext cx="117500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95D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8600" y="4434840"/>
            <a:ext cx="411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76F51"/>
                </a:solidFill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434840"/>
            <a:ext cx="2423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先輩事例データベース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4434840"/>
            <a:ext cx="4251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同じ仕事タイプを目指した先輩の体験談を表示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4434840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就労イメージの形成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0" y="4434840"/>
            <a:ext cx="1463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" y="5020056"/>
            <a:ext cx="11750040" cy="594360"/>
          </a:xfrm>
          <a:prstGeom prst="rect">
            <a:avLst/>
          </a:prstGeom>
          <a:solidFill>
            <a:srgbClr val="D8F3DC"/>
          </a:solidFill>
          <a:ln w="6350">
            <a:solidFill>
              <a:srgbClr val="95D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8600" y="5056632"/>
            <a:ext cx="411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76F51"/>
                </a:solidFill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5056632"/>
            <a:ext cx="2423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支援者間の連携ノート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0" y="5056632"/>
            <a:ext cx="4251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家族・支援員・スタッフが情報共有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89520" y="505663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支援の一貫性向上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0" y="5056632"/>
            <a:ext cx="1463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中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8600" y="5641848"/>
            <a:ext cx="117500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95D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28600" y="5678424"/>
            <a:ext cx="411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76F51"/>
                </a:solidFill>
              </a:rPr>
              <a:t>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5678424"/>
            <a:ext cx="2423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過去診断との比較グラフ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00400" y="5678424"/>
            <a:ext cx="4251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複数回の診断結果を時系列で比較・成長を可視化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89520" y="5678424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成長の見える化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678424"/>
            <a:ext cx="1463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低〜中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64922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C757D"/>
                </a:solidFill>
              </a:rPr>
              <a:t>🌱 ステップアップナビ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</a:rPr>
              <a:t>△ AI搭載で実現できる機能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32688"/>
            <a:ext cx="2743200" cy="36576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C757D"/>
                </a:solidFill>
              </a:rPr>
              <a:t>OpenAI APIキーを設定することで実現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" y="1517904"/>
            <a:ext cx="11750040" cy="9326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463040"/>
            <a:ext cx="11750040" cy="932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463040"/>
            <a:ext cx="411480" cy="93268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171907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499616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6A4F"/>
                </a:solidFill>
              </a:rPr>
              <a:t>個別化された次のステップアドバイス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883664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診断結果・支援者評価・日々の記録を総合分析
「あなたの場合、まず○○を伸ばすといい」を生成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4" y="2505456"/>
            <a:ext cx="11750040" cy="9326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2450592"/>
            <a:ext cx="11750040" cy="932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" y="2450592"/>
            <a:ext cx="411480" cy="93268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600" y="270662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48716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6A4F"/>
                </a:solidFill>
              </a:rPr>
              <a:t>複数記録の時系列パターン認識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871216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感情ログ・タスク完了率の変化傾向を自動分析
支援者向けAI所見レポートを自動生成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3464" y="3493008"/>
            <a:ext cx="11750040" cy="9326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8600" y="3438144"/>
            <a:ext cx="11750040" cy="932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600" y="3438144"/>
            <a:ext cx="411480" cy="93268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8600" y="369417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47472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6A4F"/>
                </a:solidFill>
              </a:rPr>
              <a:t>本人評価 × 支援者評価の統合分析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858768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複数の支援者コメントをAIが統合・要約
矛盾する評価の意味を解釈し深い洞察を提供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3464" y="4480560"/>
            <a:ext cx="11750040" cy="9326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4425696"/>
            <a:ext cx="11750040" cy="932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4425696"/>
            <a:ext cx="411480" cy="93268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8600" y="46817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46227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6A4F"/>
                </a:solidFill>
              </a:rPr>
              <a:t>職場シーンのコミュニケーション練習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846320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「遅刻しそうなとき、上司に何て言う？」
職場でよくある場面をAIと繰り返し練習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3464" y="5468112"/>
            <a:ext cx="11750040" cy="9326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8600" y="5413248"/>
            <a:ext cx="11750040" cy="932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5413248"/>
            <a:ext cx="411480" cy="93268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8600" y="56692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449824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6A4F"/>
                </a:solidFill>
              </a:rPr>
              <a:t>アバターとの深い対話（完全版）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83387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現状はフォールバックで動作済み
APIキー設定で完全なAI対話・個別化された会話が実現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64922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C757D"/>
                </a:solidFill>
              </a:rPr>
              <a:t>🌱 ステップアップナビ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</a:rPr>
              <a:t>◇ 将来の構想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32688"/>
            <a:ext cx="2743200" cy="36576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C757D"/>
                </a:solidFill>
              </a:rPr>
              <a:t>さらに大きなビジョンへ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" y="1517904"/>
            <a:ext cx="5760720" cy="224028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463040"/>
            <a:ext cx="5760720" cy="2240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463040"/>
            <a:ext cx="5760720" cy="3657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0876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🏢  地元企業タイアップ・マッチング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92024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企業が「求める特性プロフィール」を登録
利用者の診断結果と自動マッチング
「あなたの特性にはこの企業が向いています」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18504" y="1517904"/>
            <a:ext cx="5760720" cy="224028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463040"/>
            <a:ext cx="5760720" cy="2240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463040"/>
            <a:ext cx="5760720" cy="365760"/>
          </a:xfrm>
          <a:prstGeom prst="rect">
            <a:avLst/>
          </a:prstGeom>
          <a:solidFill>
            <a:srgbClr val="237A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📚  就労実績データベース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92024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実際に就労した利用者の特性・就職先を匿名で蓄積
「あなたと似た特性の方はここに就職しました」
時間とともに精度が向上するデータ資産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464" y="3941064"/>
            <a:ext cx="5760720" cy="224028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8600" y="3886200"/>
            <a:ext cx="5760720" cy="2240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3886200"/>
            <a:ext cx="5760720" cy="36576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93192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🤝  多職種連携プラットフォーム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3434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作業療法士・就労支援員・ハローワーク
担当者・企業が一つのプラットフォームで連携
縦割り支援体制を横断的につなぐ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18504" y="3941064"/>
            <a:ext cx="5760720" cy="224028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886200"/>
            <a:ext cx="5760720" cy="2240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3886200"/>
            <a:ext cx="5760720" cy="36576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93192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📱  スマートフォンアプリ化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43434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プッシュ通知によるルーティン・タスクのリマインダー
オフライン対応（インターネットなしでも動作）
日常生活に溶け込んだ支援ツールへ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64922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C757D"/>
                </a:solidFill>
              </a:rPr>
              <a:t>🌱 ステップアップナビ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</a:rPr>
              <a:t>開発ロードマップ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32688"/>
            <a:ext cx="2743200" cy="36576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C757D"/>
                </a:solidFill>
              </a:rPr>
              <a:t>フェーズ別の全体像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" y="1472184"/>
            <a:ext cx="2834640" cy="544068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417320"/>
            <a:ext cx="2834640" cy="7772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5389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Phase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837944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実装済み ★</a:t>
            </a:r>
          </a:p>
        </p:txBody>
      </p:sp>
      <p:sp>
        <p:nvSpPr>
          <p:cNvPr id="11" name="Can 10"/>
          <p:cNvSpPr/>
          <p:nvPr/>
        </p:nvSpPr>
        <p:spPr>
          <a:xfrm>
            <a:off x="3081528" y="1655064"/>
            <a:ext cx="137160" cy="347472"/>
          </a:xfrm>
          <a:prstGeom prst="can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600" y="2194560"/>
            <a:ext cx="2834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D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" y="2194560"/>
            <a:ext cx="54864" cy="46634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" y="2304288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利用者・支援者 登録/ログイン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2779776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性格・特性診断（6特性・5タイプ）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" y="3255264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成長ロードマップ（3ステップ）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" y="3730752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日々の記録・ダッシュボード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" y="4206240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自分似のアバター機能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" y="4681728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AIチャット（GPT/フォールバック）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" y="5157216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支援者ダッシュボード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" y="5632704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漢字/ひらがな切り替え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" y="6108192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本番デプロイ（Railway）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1472184"/>
            <a:ext cx="2834640" cy="544068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191256" y="1417320"/>
            <a:ext cx="2834640" cy="777240"/>
          </a:xfrm>
          <a:prstGeom prst="rect">
            <a:avLst/>
          </a:prstGeom>
          <a:solidFill>
            <a:srgbClr val="237A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82696" y="145389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Phase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82696" y="1837944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AIなし追加 ◎</a:t>
            </a:r>
          </a:p>
        </p:txBody>
      </p:sp>
      <p:sp>
        <p:nvSpPr>
          <p:cNvPr id="27" name="Can 26"/>
          <p:cNvSpPr/>
          <p:nvPr/>
        </p:nvSpPr>
        <p:spPr>
          <a:xfrm>
            <a:off x="6044184" y="1655064"/>
            <a:ext cx="137160" cy="347472"/>
          </a:xfrm>
          <a:prstGeom prst="can">
            <a:avLst/>
          </a:prstGeom>
          <a:solidFill>
            <a:srgbClr val="237A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1256" y="2194560"/>
            <a:ext cx="2834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D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91256" y="2194560"/>
            <a:ext cx="54864" cy="4663440"/>
          </a:xfrm>
          <a:prstGeom prst="rect">
            <a:avLst/>
          </a:prstGeom>
          <a:solidFill>
            <a:srgbClr val="237A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00984" y="2304288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支援者評価 × レーダーチャート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00984" y="2779776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希望と適性のギャップ表示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00984" y="3255264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進捗カレンダー + ストリーク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00984" y="3730752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朝・夕のルーティンチェック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00984" y="4206240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先輩事例データベース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00984" y="4681728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支援者間の連携ノート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00984" y="5157216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過去診断との比較グラフ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08776" y="1472184"/>
            <a:ext cx="2834640" cy="544068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53912" y="1417320"/>
            <a:ext cx="2834640" cy="77724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45352" y="145389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Phase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5352" y="1837944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AI搭載 △</a:t>
            </a:r>
          </a:p>
        </p:txBody>
      </p:sp>
      <p:sp>
        <p:nvSpPr>
          <p:cNvPr id="41" name="Can 40"/>
          <p:cNvSpPr/>
          <p:nvPr/>
        </p:nvSpPr>
        <p:spPr>
          <a:xfrm>
            <a:off x="9006840" y="1655064"/>
            <a:ext cx="137160" cy="347472"/>
          </a:xfrm>
          <a:prstGeom prst="can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53912" y="2194560"/>
            <a:ext cx="2834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D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53912" y="2194560"/>
            <a:ext cx="54864" cy="466344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63640" y="2304288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個別化ステップアドバイス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2779776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時系列パターン認識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3255264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本人×支援者評価の統合分析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63640" y="3730752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職場シーンのロールプレイ練習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63640" y="4206240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アバターとの深い対話（完全版）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71432" y="1472184"/>
            <a:ext cx="2834640" cy="544068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16568" y="1417320"/>
            <a:ext cx="2834640" cy="77724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08008" y="145389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Phase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08008" y="1837944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将来構想 ◇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16568" y="2194560"/>
            <a:ext cx="2834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D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116568" y="2194560"/>
            <a:ext cx="54864" cy="466344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26296" y="2304288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地元企業タイアップ・マッチング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26296" y="2779776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就労実績データベース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26296" y="3255264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多職種連携プラットフォーム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26296" y="3730752"/>
            <a:ext cx="2670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▶ スマートフォンアプリ化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64922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C757D"/>
                </a:solidFill>
              </a:rPr>
              <a:t>🌱 ステップアップナビ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</a:rPr>
              <a:t>AIをより賢くする仕組み：RAG（ラグ）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32688"/>
            <a:ext cx="2743200" cy="36576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C757D"/>
                </a:solidFill>
              </a:rPr>
              <a:t>RAG = Retrieval-Augmented Generation（検索して見つけてから答えるAI）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" y="1517904"/>
            <a:ext cx="5760720" cy="50749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463040"/>
            <a:ext cx="5760720" cy="5074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463040"/>
            <a:ext cx="5760720" cy="411480"/>
          </a:xfrm>
          <a:prstGeom prst="rect">
            <a:avLst/>
          </a:prstGeom>
          <a:solidFill>
            <a:srgbClr val="88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17904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❌  普通のAI（単体）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011680"/>
            <a:ext cx="5440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「清掃の仕事に向いてる人は？」
↓
一般的な知識だけで回答
「几帳面で体力がある人が
　向いています」
→ あなた個人のことは知らない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2784" y="1517904"/>
            <a:ext cx="5760720" cy="50749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5760720" cy="507492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5760720" cy="4114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517904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✅  RAGあり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11680"/>
            <a:ext cx="5440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「清掃の仕事に向いてる人は？」
↓　まずアプリのデータを検索
　・田中さんの診断結果
　・支援者の評価記録
　・先輩の就職事例
↓
「田中さんは几帳面スコアが高く、
先輩Aさんも同じ傾向で
〇〇センターに就職しました」
→ 個人に寄り添った回答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9008" y="3794760"/>
            <a:ext cx="6035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4A261"/>
                </a:solidFill>
              </a:rPr>
              <a:t>VS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64922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C757D"/>
                </a:solidFill>
              </a:rPr>
              <a:t>🌱 ステップアップナビ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</a:rPr>
              <a:t>RAGを使うと何が変わる？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32688"/>
            <a:ext cx="2743200" cy="36576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C757D"/>
                </a:solidFill>
              </a:rPr>
              <a:t>アプリ内データを活用することで「個人に合った」回答が実現する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" y="1472184"/>
            <a:ext cx="3749039" cy="4572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417320"/>
            <a:ext cx="3749039" cy="4572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8132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💬  アバターとの会話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464" y="2020824"/>
            <a:ext cx="3749039" cy="18288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1965960"/>
            <a:ext cx="3749039" cy="18288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039112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84444"/>
                </a:solidFill>
              </a:rPr>
              <a:t>❌ 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2423160"/>
            <a:ext cx="356615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一般的な励ましの言葉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4" y="3941064"/>
            <a:ext cx="3749039" cy="2377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" y="3886200"/>
            <a:ext cx="3749039" cy="2377440"/>
          </a:xfrm>
          <a:prstGeom prst="rect">
            <a:avLst/>
          </a:prstGeom>
          <a:solidFill>
            <a:srgbClr val="D8F3DC"/>
          </a:solidFill>
          <a:ln w="19050">
            <a:solidFill>
              <a:srgbClr val="95D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959352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A4F"/>
                </a:solidFill>
              </a:rPr>
              <a:t>✅ あり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343400"/>
            <a:ext cx="356615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「先週より体調ログが改善してるね！
今週も一緒にがんばろう」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79392" y="1472184"/>
            <a:ext cx="3749039" cy="4572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24528" y="1417320"/>
            <a:ext cx="3749039" cy="4572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15968" y="148132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🏢  就職先の提案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9392" y="2020824"/>
            <a:ext cx="3749039" cy="18288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24528" y="1965960"/>
            <a:ext cx="3749039" cy="18288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15968" y="2039112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84444"/>
                </a:solidFill>
              </a:rPr>
              <a:t>❌ なし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5968" y="2423160"/>
            <a:ext cx="356615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「清掃系が向いています」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9392" y="3941064"/>
            <a:ext cx="3749039" cy="2377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4528" y="3886200"/>
            <a:ext cx="3749039" cy="2377440"/>
          </a:xfrm>
          <a:prstGeom prst="rect">
            <a:avLst/>
          </a:prstGeom>
          <a:solidFill>
            <a:srgbClr val="D8F3DC"/>
          </a:solidFill>
          <a:ln w="19050">
            <a:solidFill>
              <a:srgbClr val="95D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15968" y="3959352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A4F"/>
                </a:solidFill>
              </a:rPr>
              <a:t>✅ あり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4343400"/>
            <a:ext cx="356615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「似た特性の山田さんは
〇〇会社の清掃スタッフに
就職しました」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66176" y="1472184"/>
            <a:ext cx="3749039" cy="4572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11312" y="1417320"/>
            <a:ext cx="3749039" cy="4572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02752" y="1481328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📋  支援者向け所見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66176" y="2020824"/>
            <a:ext cx="3749039" cy="18288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11312" y="1965960"/>
            <a:ext cx="3749039" cy="18288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2039112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84444"/>
                </a:solidFill>
              </a:rPr>
              <a:t>❌ なし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2423160"/>
            <a:ext cx="356615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定型文のレポート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66176" y="3941064"/>
            <a:ext cx="3749039" cy="23774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11312" y="3886200"/>
            <a:ext cx="3749039" cy="2377440"/>
          </a:xfrm>
          <a:prstGeom prst="rect">
            <a:avLst/>
          </a:prstGeom>
          <a:solidFill>
            <a:srgbClr val="D8F3DC"/>
          </a:solidFill>
          <a:ln w="19050">
            <a:solidFill>
              <a:srgbClr val="95D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02752" y="3959352"/>
            <a:ext cx="35661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A4F"/>
                </a:solidFill>
              </a:rPr>
              <a:t>✅ あり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2752" y="4343400"/>
            <a:ext cx="356615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「3ヶ月の記録を見ると
月曜に調子を崩しやすい
傾向があります」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64922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C757D"/>
                </a:solidFill>
              </a:rPr>
              <a:t>🌱 ステップアップナビ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</a:rPr>
              <a:t>データを活用するしくみ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32688"/>
            <a:ext cx="2743200" cy="36576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C757D"/>
                </a:solidFill>
              </a:rPr>
              <a:t>RAG構成イメージ：利用者データがAIの「記憶」になる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" y="1517904"/>
            <a:ext cx="5349240" cy="56692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463040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95D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463040"/>
            <a:ext cx="73152" cy="56692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1554480"/>
            <a:ext cx="5074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👤  利用者の診断結果・日々の記録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65976" y="1517904"/>
            <a:ext cx="5349240" cy="56692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11112" y="1463040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95D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11112" y="1463040"/>
            <a:ext cx="73152" cy="56692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75704" y="1554480"/>
            <a:ext cx="5074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👩‍💼  支援者の評価・観察メモ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3464" y="2267712"/>
            <a:ext cx="5349240" cy="56692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" y="2212848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95D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2212848"/>
            <a:ext cx="73152" cy="56692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" y="2304288"/>
            <a:ext cx="5074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🏆  先輩の就職事例（匿名）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65976" y="2267712"/>
            <a:ext cx="5349240" cy="56692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11112" y="2212848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95D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11112" y="2212848"/>
            <a:ext cx="73152" cy="56692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75704" y="2304288"/>
            <a:ext cx="5074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🏢  地元企業の求人情報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16168" y="2880360"/>
            <a:ext cx="365760" cy="32004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53512" y="3328416"/>
            <a:ext cx="6400800" cy="56692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98648" y="3273552"/>
            <a:ext cx="6400800" cy="56692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81528" y="3364992"/>
            <a:ext cx="6035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🗄️  データベース（蓄積・管理）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16168" y="3840480"/>
            <a:ext cx="365760" cy="32004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53512" y="4242816"/>
            <a:ext cx="6400800" cy="56692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898648" y="4187952"/>
            <a:ext cx="6400800" cy="566928"/>
          </a:xfrm>
          <a:prstGeom prst="rect">
            <a:avLst/>
          </a:prstGeom>
          <a:solidFill>
            <a:srgbClr val="237A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81528" y="4279392"/>
            <a:ext cx="6035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🔍  質問に関連するデータを自動検索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16168" y="4754880"/>
            <a:ext cx="365760" cy="320040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953512" y="5157216"/>
            <a:ext cx="6400800" cy="56692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98648" y="5102352"/>
            <a:ext cx="6400800" cy="566928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193792"/>
            <a:ext cx="6035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🤖  AIが文脈を踏まえて回答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6309360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A4F"/>
                </a:solidFill>
              </a:rPr>
              <a:t>💡 データが蓄積されるほどAIの精度が上がる「育てるAI」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64922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C757D"/>
                </a:solidFill>
              </a:rPr>
              <a:t>🌱 ステップアップナビ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</a:rPr>
              <a:t>フェーズ別 実装機能マップ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32688"/>
            <a:ext cx="2743200" cy="36576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C757D"/>
                </a:solidFill>
              </a:rPr>
              <a:t>現在から将来へ：段階的な機能拡張のロードマップ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" y="1472184"/>
            <a:ext cx="2834640" cy="541324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417320"/>
            <a:ext cx="2834640" cy="74980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5389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Phase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810512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★ 実装済み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167128"/>
            <a:ext cx="2834640" cy="4663440"/>
          </a:xfrm>
          <a:prstGeom prst="rect">
            <a:avLst/>
          </a:prstGeom>
          <a:solidFill>
            <a:srgbClr val="D8F3DC"/>
          </a:solidFill>
          <a:ln w="12700">
            <a:solidFill>
              <a:srgbClr val="2D6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" y="22768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利用者・支援者登録/ログイン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" y="27340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性格・特性診断（6特性）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" y="31912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成長ロードマップ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36484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日々の記録・ダッシュボード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" y="41056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自分似のアバター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" y="45628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アバターとのAIチャット（基本）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" y="50200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漢字/ひらがな切り替え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" y="54772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支援者ダッシュボード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" y="59344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Railway本番デプロイ済み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36976" y="1472184"/>
            <a:ext cx="2834640" cy="541324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82112" y="1417320"/>
            <a:ext cx="2834640" cy="749808"/>
          </a:xfrm>
          <a:prstGeom prst="rect">
            <a:avLst/>
          </a:prstGeom>
          <a:solidFill>
            <a:srgbClr val="237A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73552" y="145389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Phase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73552" y="1810512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◎ AIなしで追加可能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2112" y="2167128"/>
            <a:ext cx="2834640" cy="4663440"/>
          </a:xfrm>
          <a:prstGeom prst="rect">
            <a:avLst/>
          </a:prstGeom>
          <a:solidFill>
            <a:srgbClr val="D1ECF1"/>
          </a:solidFill>
          <a:ln w="12700">
            <a:solidFill>
              <a:srgbClr val="237A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22768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支援者評価×多角的レーダーチャート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27340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希望と適性のギャップ表示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31912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次のステップ提示（ルールベース）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36484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進捗カレンダー＋継続ストリーク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41056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朝・夕のルーティンチェックリスト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45628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先輩事例データベース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50200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支援者間の連携ノート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54772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過去診断との比較グラフ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0488" y="1472184"/>
            <a:ext cx="2834640" cy="541324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35624" y="1417320"/>
            <a:ext cx="2834640" cy="749808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27064" y="145389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Phase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7064" y="1810512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△ AI搭載で強化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35624" y="2167128"/>
            <a:ext cx="2834640" cy="4663440"/>
          </a:xfrm>
          <a:prstGeom prst="rect">
            <a:avLst/>
          </a:prstGeom>
          <a:solidFill>
            <a:srgbClr val="FFE8D6"/>
          </a:solidFill>
          <a:ln w="127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45352" y="22768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個別化された次のステップ（RAG）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5352" y="27340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時系列パターン認識・AI所見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2" y="31912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本人×支援者評価の統合AI分析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45352" y="36484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職場シーン練習（AIロールプレイ）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5352" y="41056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アバターとの深い対話（完全AI）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1472184"/>
            <a:ext cx="2834640" cy="541324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089136" y="1417320"/>
            <a:ext cx="2834640" cy="749808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0576" y="145389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Phase 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80576" y="1810512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◇ 将来構想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89136" y="2167128"/>
            <a:ext cx="2834640" cy="4663440"/>
          </a:xfrm>
          <a:prstGeom prst="rect">
            <a:avLst/>
          </a:prstGeom>
          <a:solidFill>
            <a:srgbClr val="E9ECEF"/>
          </a:solidFill>
          <a:ln w="12700">
            <a:solidFill>
              <a:srgbClr val="6C75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98864" y="22768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地元企業タイアップ・マッチング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98864" y="27340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就労実績データベース（先輩事例）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98864" y="31912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多職種連携プラットフォーム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98864" y="3648456"/>
            <a:ext cx="26517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▶ スマートフォンアプリ化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64922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C757D"/>
                </a:solidFill>
              </a:rPr>
              <a:t>🌱 ステップアップナビ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</a:rPr>
              <a:t>フェーズ別 月額費用の目安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32688"/>
            <a:ext cx="2743200" cy="36576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C757D"/>
                </a:solidFill>
              </a:rPr>
              <a:t>利用者規模に応じた従量課金制・小規模なら実質ほぼ無料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463040"/>
            <a:ext cx="11750040" cy="43891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51790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フェーズ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517904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主な追加機能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151790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利用者規模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51790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Railway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1517904"/>
            <a:ext cx="1417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OpenAI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1517904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月額合計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1947672"/>
            <a:ext cx="11750040" cy="914400"/>
          </a:xfrm>
          <a:prstGeom prst="rect">
            <a:avLst/>
          </a:prstGeom>
          <a:solidFill>
            <a:srgbClr val="D8F3DC"/>
          </a:solidFill>
          <a:ln w="6350">
            <a:solidFill>
              <a:srgbClr val="95D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2039112"/>
            <a:ext cx="1554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Phase 1
（現状）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039112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基本機能・AIチャット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039112"/>
            <a:ext cx="1371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〜30人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039112"/>
            <a:ext cx="1371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$0〜5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039112"/>
            <a:ext cx="1417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$1〜3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2039112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D6A4F"/>
                </a:solidFill>
              </a:rPr>
              <a:t>約$1〜8
（〜1,200円）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2898648"/>
            <a:ext cx="11750040" cy="914400"/>
          </a:xfrm>
          <a:prstGeom prst="rect">
            <a:avLst/>
          </a:prstGeom>
          <a:solidFill>
            <a:srgbClr val="D1ECF1"/>
          </a:solidFill>
          <a:ln w="6350">
            <a:solidFill>
              <a:srgbClr val="95D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2990088"/>
            <a:ext cx="1554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Phase 2
（AIなし追加）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2990088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評価・記録・事例DB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2990088"/>
            <a:ext cx="1371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30〜100人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90088"/>
            <a:ext cx="1371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$5〜20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9560" y="2990088"/>
            <a:ext cx="1417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$3〜10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2990088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D6A4F"/>
                </a:solidFill>
              </a:rPr>
              <a:t>約$8〜30
（〜4,500円）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" y="3849624"/>
            <a:ext cx="11750040" cy="914400"/>
          </a:xfrm>
          <a:prstGeom prst="rect">
            <a:avLst/>
          </a:prstGeom>
          <a:solidFill>
            <a:srgbClr val="FFE8D6"/>
          </a:solidFill>
          <a:ln w="6350">
            <a:solidFill>
              <a:srgbClr val="95D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3941064"/>
            <a:ext cx="1554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Phase 3
（AI強化）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3941064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RAG・個別分析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3941064"/>
            <a:ext cx="1371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50〜200人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3941064"/>
            <a:ext cx="1371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$20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60" y="3941064"/>
            <a:ext cx="1417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$20〜60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4040" y="3941064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D6A4F"/>
                </a:solidFill>
              </a:rPr>
              <a:t>約$40〜80
（〜12,000円）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" y="4800600"/>
            <a:ext cx="11750040" cy="914400"/>
          </a:xfrm>
          <a:prstGeom prst="rect">
            <a:avLst/>
          </a:prstGeom>
          <a:solidFill>
            <a:srgbClr val="E9ECEF"/>
          </a:solidFill>
          <a:ln w="6350">
            <a:solidFill>
              <a:srgbClr val="95D5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4892040"/>
            <a:ext cx="1554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Phase 4
（将来構想）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65960" y="48920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企業連携・アプリ化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00600" y="4892040"/>
            <a:ext cx="1371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200人以上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4892040"/>
            <a:ext cx="1371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$20〜50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09560" y="4892040"/>
            <a:ext cx="1417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$50〜150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489204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D6A4F"/>
                </a:solidFill>
              </a:rPr>
              <a:t>約$70〜200
（〜30,000円）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" y="578815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C757D"/>
                </a:solidFill>
              </a:rPr>
              <a:t>💡 OpenAI APIはGPT-4o-miniを使用。1チャット約0.1円以下の低コスト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" y="6044184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C757D"/>
                </a:solidFill>
              </a:rPr>
              <a:t>💡 利用者が少ない間はほぼ無料。使った分だけ払う従量課金制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300216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C757D"/>
                </a:solidFill>
              </a:rPr>
              <a:t>💡 Railwayは月$5のクレジット付与あり（小規模なら実質無料）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64922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C757D"/>
                </a:solidFill>
              </a:rPr>
              <a:t>🌱 ステップアップナビ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2E"/>
                </a:solidFill>
              </a:rPr>
              <a:t>次のステップを一緒に決めましょう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32688"/>
            <a:ext cx="2743200" cy="36576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058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C757D"/>
                </a:solidFill>
              </a:rPr>
              <a:t>ご確認・ご検討いただきたい項目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4630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</a:rPr>
              <a:t>📋 検討事項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" y="2020824"/>
            <a:ext cx="5852160" cy="62179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965960"/>
            <a:ext cx="58521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965960"/>
            <a:ext cx="91440" cy="62179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0" y="2148840"/>
            <a:ext cx="256032" cy="25603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Phase 2（AIなし追加機能）の優先順位を決める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" y="2715768"/>
            <a:ext cx="5852160" cy="62179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2660904"/>
            <a:ext cx="58521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660904"/>
            <a:ext cx="91440" cy="62179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2843784"/>
            <a:ext cx="256032" cy="25603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752344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OpenAI APIキーの導入・費用の検討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" y="3410712"/>
            <a:ext cx="5852160" cy="62179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355848"/>
            <a:ext cx="58521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3355848"/>
            <a:ext cx="91440" cy="62179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" y="3538728"/>
            <a:ext cx="256032" cy="25603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4472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本番環境での利用者テスト実施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9184" y="4105656"/>
            <a:ext cx="5852160" cy="62179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4050792"/>
            <a:ext cx="58521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4050792"/>
            <a:ext cx="91440" cy="62179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57200" y="4233672"/>
            <a:ext cx="256032" cy="25603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14223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支援者・利用者へのフィードバック収集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" y="4800600"/>
            <a:ext cx="5852160" cy="62179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" y="4745736"/>
            <a:ext cx="58521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4745736"/>
            <a:ext cx="91440" cy="62179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" y="4928616"/>
            <a:ext cx="256032" cy="25603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837176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Phase 3以降のAI機能実装スケジュール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" y="5495544"/>
            <a:ext cx="5852160" cy="621792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5440680"/>
            <a:ext cx="58521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320" y="5440680"/>
            <a:ext cx="91440" cy="621792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7200" y="5623560"/>
            <a:ext cx="256032" cy="25603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5321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地元企業・支援機関との連携検討（Phase 4）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47104" y="1472184"/>
            <a:ext cx="5486400" cy="512064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92240" y="1417320"/>
            <a:ext cx="5486400" cy="5120640"/>
          </a:xfrm>
          <a:prstGeom prst="rect">
            <a:avLst/>
          </a:prstGeom>
          <a:solidFill>
            <a:srgbClr val="1B45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0" y="16459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4A261"/>
                </a:solidFill>
              </a:rPr>
              <a:t>🚀 現在の本番URL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21945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5D5B2"/>
                </a:solidFill>
              </a:rPr>
              <a:t>https://web-production-c0abe.up.railway.app/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2743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すでに動いています！
今すぐお試しいただけます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66560" y="3593592"/>
            <a:ext cx="4937760" cy="36576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0" y="372160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5D5B2"/>
                </a:solidFill>
              </a:rPr>
              <a:t>ご質問・ご要望はお気軽にどうぞ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425196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一緒に「ステップアップナビ」を
育てていきましょう 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