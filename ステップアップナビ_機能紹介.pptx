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5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1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153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ステップアップナビ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95D5B2"/>
                </a:solidFill>
              </a:rPr>
              <a:t>就労支援Webアプリ　機能紹介・開発ロードマップ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https://web-production-c0abe.up.railway.app/　｜　2026年6月27日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アプリの目的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" y="1517904"/>
            <a:ext cx="117043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17043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91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377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5448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57276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軽度知的障害を持つ大人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" y="2386584"/>
            <a:ext cx="117043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331720"/>
            <a:ext cx="117043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331720"/>
            <a:ext cx="91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2377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2316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🌱  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4144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就労（福祉的就労・一般就労）に向けた成長を支援するWebアプリ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" y="3255264"/>
            <a:ext cx="117043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00400"/>
            <a:ext cx="117043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200400"/>
            <a:ext cx="91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200400"/>
            <a:ext cx="2377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👥  利用者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31012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本人（障害のある大人）＋ 支援者（家族・支援員・作業所スタッフ）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" y="4123944"/>
            <a:ext cx="117043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069080"/>
            <a:ext cx="117043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069080"/>
            <a:ext cx="91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2377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16052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💻  技術スタック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17880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Django（Python）、PostgreSQL、Railway（本番環境）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" y="4992624"/>
            <a:ext cx="11704320" cy="7132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937760"/>
            <a:ext cx="117043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4937760"/>
            <a:ext cx="91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937760"/>
            <a:ext cx="2377440" cy="7132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02920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🔗  本番URL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047488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https://web-production-c0abe.up.railway.app/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★ 現在すでに動いている機能（9機能）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すべてRailway本番環境で稼働中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5448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🔐 利用者登録・ログイン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02996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アカウント登録・支援者紐付け・ログイン/アウト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" y="298094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92608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92608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01752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🧠 性格・特性診断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49300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13問・6特性・5仕事タイプ判定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" y="444398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38912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38912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448056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🗺️ 成長ロードマップ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495604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仕事タイプ別3ステップで構成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151790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78808" y="146304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78808" y="146304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55448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📓 日々の記録・ダッシュボード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02996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感情スタンプ・体調・週間グラフ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298094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78808" y="292608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78808" y="292608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301752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🧑 自分似のアバター機能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49300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SVGカスタマイズ・診断連動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3672" y="444398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78808" y="438912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78808" y="438912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48056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💬 アバターとのAIチャット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5604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GPT-4o-mini / フォールバック対応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93024" y="151790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146304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146304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155448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👩‍💼 支援者ダッシュボード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202996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進捗確認・メモ機能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93024" y="298094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292608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292608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301752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🈶 漢字/ひらがな切り替え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349300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全ページ対応・セッション保持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4443984"/>
            <a:ext cx="3794760" cy="1325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4389120"/>
            <a:ext cx="37947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4389120"/>
            <a:ext cx="91440" cy="13258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4480560"/>
            <a:ext cx="3538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4F"/>
                </a:solidFill>
              </a:rPr>
              <a:t>🚀 本番デプロイ環境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02752" y="4956048"/>
            <a:ext cx="3538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Railway + PostgreSQL で稼働中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🧠 性格・特性診断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実装済み ★ ｜ 13問のやさしい日本語による質問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📊 測定する6つの特性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97510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集中力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95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一つの作業に取り組み続ける力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316382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コミュニケーション力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584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人と話したり伝えたりする力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" y="435254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370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体力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773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身体的な活動への耐久力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6704" y="197510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192024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192024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1993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几帳面さ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2395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丁寧・正確に作業する力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6704" y="316382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10896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310896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感情コントロール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584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気持ちを安定させる力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46704" y="4352544"/>
            <a:ext cx="2834640" cy="1051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0" y="4297680"/>
            <a:ext cx="2834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297680"/>
            <a:ext cx="91440" cy="1051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43708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学習意欲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773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7D"/>
                </a:solidFill>
              </a:rPr>
              <a:t>新しいことを学ぼうとする力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</a:rPr>
              <a:t>💼 判定される5つの仕事タイプ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011680"/>
            <a:ext cx="16916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21031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🌾 農業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9" y="2011680"/>
            <a:ext cx="16916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199" y="21031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🏭 製造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78" y="2011680"/>
            <a:ext cx="16916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18" y="21031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🧹 清掃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926080"/>
            <a:ext cx="16916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🍱 食品加工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59" y="2926080"/>
            <a:ext cx="16916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199" y="30175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🤝 接客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8521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▶ 結果として「強み・課題・仕事タイプ」をわかりやすく表示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🗺️ 成長ロードマップ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実装済み ★ ｜ 仕事タイプ別 × 3ステップ構成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472184"/>
            <a:ext cx="3749039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49039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356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2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6A4F"/>
                </a:solidFill>
              </a:rPr>
              <a:t>生活習慣の安定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3200399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3383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▶ 規則正しい生活リズムの確立
▶ 体調管理の基本スキル
▶ 日々の記録をつける習慣</a:t>
            </a:r>
          </a:p>
        </p:txBody>
      </p:sp>
      <p:sp>
        <p:nvSpPr>
          <p:cNvPr id="14" name="Can 13"/>
          <p:cNvSpPr/>
          <p:nvPr/>
        </p:nvSpPr>
        <p:spPr>
          <a:xfrm>
            <a:off x="4059935" y="3657600"/>
            <a:ext cx="182880" cy="457200"/>
          </a:xfrm>
          <a:prstGeom prst="ca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72184"/>
            <a:ext cx="3749039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4173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417320"/>
            <a:ext cx="3749039" cy="36576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4356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187452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37AB0"/>
                </a:solidFill>
              </a:rPr>
              <a:t>作業スキルの習得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587752"/>
            <a:ext cx="3200399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715768"/>
            <a:ext cx="3383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▶ 仕事タイプ別の基礎作業練習
▶ 集中力・体力の強化
▶ 職場でのマナー学習</a:t>
            </a:r>
          </a:p>
        </p:txBody>
      </p:sp>
      <p:sp>
        <p:nvSpPr>
          <p:cNvPr id="22" name="Can 21"/>
          <p:cNvSpPr/>
          <p:nvPr/>
        </p:nvSpPr>
        <p:spPr>
          <a:xfrm>
            <a:off x="8010143" y="3657600"/>
            <a:ext cx="182880" cy="457200"/>
          </a:xfrm>
          <a:prstGeom prst="ca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72184"/>
            <a:ext cx="3749039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417320"/>
            <a:ext cx="3749039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1417320"/>
            <a:ext cx="3749039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143560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1874520"/>
            <a:ext cx="34747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6F51"/>
                </a:solidFill>
              </a:rPr>
              <a:t>就労準備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49056" y="2587752"/>
            <a:ext cx="3200399" cy="3657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715768"/>
            <a:ext cx="3383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▶ 実際の就労先の見学・体験
▶ 面接・職場コミュニケーション練習
▶ 就労後のフォローアップ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💡 タブ切り替えUIで仕事タイプ別に見やすく表示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🧑 自分似のアバター機能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実装済み ★ ｜ SVGカスタマイズ・診断連動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760720" cy="21488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7607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91440" cy="2148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56692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9961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🎨  外見カスタマイズ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肌の色・髪型・目・表情などをSVGで
自由にカスタマイズ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1517904"/>
            <a:ext cx="5760720" cy="21488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63040"/>
            <a:ext cx="57607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91440" cy="214884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463040"/>
            <a:ext cx="5669280" cy="36576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👕  仕事タイプ連動制服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9202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診断結果の仕事タイプに応じた
制服が自動的に設定される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" y="3849624"/>
            <a:ext cx="5760720" cy="21488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794760"/>
            <a:ext cx="57607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794760"/>
            <a:ext cx="91440" cy="21488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94760"/>
            <a:ext cx="5669280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31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😊  特性スコア連動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特性スコアに応じてアクセサリー・
表情が自動的に変化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3849624"/>
            <a:ext cx="5760720" cy="21488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0488" y="3794760"/>
            <a:ext cx="57607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94760"/>
            <a:ext cx="91440" cy="2148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794760"/>
            <a:ext cx="566928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83133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常時表示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2519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ダッシュボードでアバターを
常に表示し、成長を実感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💬 アバターとのAIチャット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実装済み ★ ｜ GPT-4o-mini搭載・フォールバック対応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76072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760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57607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OpenAI APIキーあり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▶ GPT-4o-mini による個別対応
▶ 本人の診断結果・特性を踏まえた会話
▶ 自然で共感的な対話が可能
▶ 会話履歴の保持・リセット機能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517904"/>
            <a:ext cx="576072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760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760720" cy="41148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 APIキーなし（フォールバック）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▶ ルールベースの会話で動作
▶ 誰でも追加費用なしで利用可能
▶ 基本的な励まし・アドバイスに対応
▶ APIキー設定でいつでも高機能化可能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A261"/>
                </a:solidFill>
              </a:rPr>
              <a:t>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🈶 漢字/ひらがな切り替え ＋ 支援者ダッシュボード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実装済み ★ ｜ ユニバーサルデザインへの配慮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76072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760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57607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🈶 漢字 / ひらがな 切り替え機能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✅ 全ページで漢字表記 ↔ ひらがな表記を切り替え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32887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✅ セッションで設定を保持（ページ移動しても維持）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54094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✅ 知的障害のある利用者への読みやすさへの配慮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575301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9650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📌 ユニバーサルデザインの重要な実装の一つ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15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　　本人が自分に合った表示で操作できる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517904"/>
            <a:ext cx="576072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5760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63040"/>
            <a:ext cx="5760720" cy="41148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👩‍💼 支援者ダッシュボード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1168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✅ 担当利用者の進捗・記録を一覧確認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32887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✅ 利用者へのメモ機能（支援コメント）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054094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75301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👨‍👩‍👧  支援者（家族・支援員・作業所スタッフ）が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0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　　利用者の状況をリアルタイムで把握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17715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138922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📌 支援者も安心して使えるシンプルなUI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◎ 次のステップで追加できる機能（AIなし）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既存のDjangoアプリに追加実装するだけで対応可能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175004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17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機能名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17904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51790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期待効果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5179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難易度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911096"/>
            <a:ext cx="11750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94767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4767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支援者評価 × レーダーチャート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47672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支援者が6特性を評点入力・自己評価と重ねて表示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4767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認識ギャップの可視化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194767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低〜中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532888"/>
            <a:ext cx="11750040" cy="59436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2569464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69464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希望と適性のギャップ表示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569464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希望タイプと診断結果のズレを表示・次のステップを提示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56946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目標設定のサポート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56946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154680"/>
            <a:ext cx="11750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191256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191256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進捗カレンダー + ストリーク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191256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月間カレンダーで記録日を色付け・連続記録日数を表示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91256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習慣化の動機付け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191256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776472"/>
            <a:ext cx="11750040" cy="59436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81304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813048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朝・夕のルーティンチェック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813048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仕事前後のやること一覧をチェック形式で管理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813048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生活習慣の定着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813048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398264"/>
            <a:ext cx="11750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443484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434840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先輩事例データベース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43484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同じ仕事タイプを目指した先輩の体験談を表示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434840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就労イメージの形成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4434840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5020056"/>
            <a:ext cx="11750040" cy="59436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505663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056632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支援者間の連携ノート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5056632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家族・支援員・スタッフが情報共有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05663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支援の一貫性向上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5056632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41848"/>
            <a:ext cx="11750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5678424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6F51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678424"/>
            <a:ext cx="2423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過去診断との比較グラフ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5678424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複数回の診断結果を時系列で比較・成長を可視化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5678424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成長の見える化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678424"/>
            <a:ext cx="1463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低〜中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△ AI搭載で実現できる機能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OpenAI APIキーを設定することで実現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11750040" cy="9326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117500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411480" cy="9326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7190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9961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個別化された次のステップアドバイス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診断結果・支援者評価・日々の記録を総合分析
「あなたの場合、まず○○を伸ばすといい」を生成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" y="2505456"/>
            <a:ext cx="11750040" cy="9326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450592"/>
            <a:ext cx="117500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450592"/>
            <a:ext cx="411480" cy="9326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7066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8716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複数記録の時系列パターン認識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7121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感情ログ・タスク完了率の変化傾向を自動分析
支援者向けAI所見レポートを自動生成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" y="3493008"/>
            <a:ext cx="11750040" cy="9326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438144"/>
            <a:ext cx="117500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438144"/>
            <a:ext cx="411480" cy="9326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36941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本人評価 × 支援者評価の統合分析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複数の支援者コメントをAIが統合・要約
矛盾する評価の意味を解釈し深い洞察を提供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" y="4480560"/>
            <a:ext cx="11750040" cy="9326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425696"/>
            <a:ext cx="117500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425696"/>
            <a:ext cx="411480" cy="9326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46817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622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職場シーンのコミュニケーション練習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「遅刻しそうなとき、上司に何て言う？」
職場でよくある場面をAIと繰り返し練習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" y="5468112"/>
            <a:ext cx="11750040" cy="9326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5413248"/>
            <a:ext cx="11750040" cy="932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413248"/>
            <a:ext cx="411480" cy="93268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5669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982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6A4F"/>
                </a:solidFill>
              </a:rPr>
              <a:t>アバターとの深い対話（完全版）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83387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現状はフォールバックで動作済み
APIキー設定で完全なAI対話・個別化された会話が実現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◇ 将来の構想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さらに大きなビジョンへ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760720" cy="22402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7607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5760720" cy="3657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🏢  地元企業タイアップ・マッチング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企業が「求める特性プロフィール」を登録
利用者の診断結果と自動マッチング
「あなたの特性にはこの企業が向いています」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1517904"/>
            <a:ext cx="5760720" cy="22402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7607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760720" cy="36576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📚  就労実績データベース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実際に就労した利用者の特性・就職先を匿名で蓄積
「あなたと似た特性の方はここに就職しました」
時間とともに精度が向上するデータ資産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" y="3941064"/>
            <a:ext cx="5760720" cy="22402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886200"/>
            <a:ext cx="57607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86200"/>
            <a:ext cx="5760720" cy="3657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🤝  多職種連携プラットフォーム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作業療法士・就労支援員・ハローワーク
担当者・企業が一つのプラットフォームで連携
縦割り支援体制を横断的につなぐ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8504" y="3941064"/>
            <a:ext cx="5760720" cy="22402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576072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86200"/>
            <a:ext cx="5760720" cy="36576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 スマートフォンアプリ化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プッシュ通知によるルーティン・タスクのリマインダー
オフライン対応（インターネットなしでも動作）
日常生活に溶け込んだ支援ツールへ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開発ロードマップ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フェーズ別の全体像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472184"/>
            <a:ext cx="2834640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834640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379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実装済み ★</a:t>
            </a:r>
          </a:p>
        </p:txBody>
      </p:sp>
      <p:sp>
        <p:nvSpPr>
          <p:cNvPr id="11" name="Can 10"/>
          <p:cNvSpPr/>
          <p:nvPr/>
        </p:nvSpPr>
        <p:spPr>
          <a:xfrm>
            <a:off x="3081528" y="1655064"/>
            <a:ext cx="137160" cy="347472"/>
          </a:xfrm>
          <a:prstGeom prst="can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94560"/>
            <a:ext cx="2834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194560"/>
            <a:ext cx="54864" cy="4663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30428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利用者・支援者 登録/ログイン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77977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性格・特性診断（6特性・5タイプ）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25526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成長ロードマップ（3ステップ）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73075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日々の記録・ダッシュボード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206240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自分似のアバター機能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468172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AIチャット（GPT/フォールバック）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515721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支援者ダッシュボード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563270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漢字/ひらがな切り替え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" y="610819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本番デプロイ（Railway）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472184"/>
            <a:ext cx="2834640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91256" y="1417320"/>
            <a:ext cx="2834640" cy="77724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2696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2696" y="18379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AIなし追加 ◎</a:t>
            </a:r>
          </a:p>
        </p:txBody>
      </p:sp>
      <p:sp>
        <p:nvSpPr>
          <p:cNvPr id="27" name="Can 26"/>
          <p:cNvSpPr/>
          <p:nvPr/>
        </p:nvSpPr>
        <p:spPr>
          <a:xfrm>
            <a:off x="6044184" y="1655064"/>
            <a:ext cx="137160" cy="347472"/>
          </a:xfrm>
          <a:prstGeom prst="can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1256" y="2194560"/>
            <a:ext cx="2834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91256" y="2194560"/>
            <a:ext cx="54864" cy="4663440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0984" y="230428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支援者評価 × レーダーチャート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0984" y="277977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希望と適性のギャップ表示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325526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進捗カレンダー + ストリーク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0984" y="373075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朝・夕のルーティンチェック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0984" y="4206240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先輩事例データベース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0984" y="468172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支援者間の連携ノート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0984" y="515721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過去診断との比較グラフ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8776" y="1472184"/>
            <a:ext cx="2834640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53912" y="1417320"/>
            <a:ext cx="2834640" cy="7772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18379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AI搭載 △</a:t>
            </a:r>
          </a:p>
        </p:txBody>
      </p:sp>
      <p:sp>
        <p:nvSpPr>
          <p:cNvPr id="41" name="Can 40"/>
          <p:cNvSpPr/>
          <p:nvPr/>
        </p:nvSpPr>
        <p:spPr>
          <a:xfrm>
            <a:off x="9006840" y="1655064"/>
            <a:ext cx="137160" cy="347472"/>
          </a:xfrm>
          <a:prstGeom prst="ca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53912" y="2194560"/>
            <a:ext cx="2834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53912" y="2194560"/>
            <a:ext cx="54864" cy="46634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30428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個別化ステップアドバイス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77977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時系列パターン認識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25526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本人×支援者評価の統合分析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3075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職場シーンのロールプレイ練習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206240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アバターとの深い対話（完全版）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71432" y="1472184"/>
            <a:ext cx="2834640" cy="54406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16568" y="1417320"/>
            <a:ext cx="2834640" cy="7772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8008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18379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将来構想 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16568" y="2194560"/>
            <a:ext cx="2834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16568" y="2194560"/>
            <a:ext cx="54864" cy="466344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26296" y="2304288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地元企業タイアップ・マッチング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26296" y="2779776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就労実績データベース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6296" y="3255264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多職種連携プラットフォーム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26296" y="3730752"/>
            <a:ext cx="2670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▶ スマートフォンアプリ化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AIをより賢くする仕組み：RAG（ラグ）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RAG = Retrieval-Augmented Generation（検索して見つけてから答えるAI）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760720" cy="5074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760720" cy="5074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5760720" cy="41148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❌  普通のAI（単体）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「清掃の仕事に向いてる人は？」
↓
一般的な知識だけで回答
「几帳面で体力がある人が
　向いています」
→ あなた個人のことは知らない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517904"/>
            <a:ext cx="5760720" cy="5074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760720" cy="5074920"/>
          </a:xfrm>
          <a:prstGeom prst="rect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760720" cy="4114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179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✅  RAGあり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440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「清掃の仕事に向いてる人は？」
↓　まずアプリのデータを検索
　・田中さんの診断結果
　・支援者の評価記録
　・先輩の就職事例
↓
「田中さんは几帳面スコアが高く、
先輩Aさんも同じ傾向で
〇〇センターに就職しました」
→ 個人に寄り添った回答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3794760"/>
            <a:ext cx="603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A261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RAGを使うと何が変わる？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アプリ内データを活用することで「個人に合った」回答が実現する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472184"/>
            <a:ext cx="3749039" cy="45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749039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💬  アバターとの会話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" y="2020824"/>
            <a:ext cx="3749039" cy="18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65960"/>
            <a:ext cx="3749039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391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4444"/>
                </a:solidFill>
              </a:rPr>
              <a:t>❌ なし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423160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一般的な励ましの言葉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" y="3941064"/>
            <a:ext cx="3749039" cy="2377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886200"/>
            <a:ext cx="3749039" cy="2377440"/>
          </a:xfrm>
          <a:prstGeom prst="rect">
            <a:avLst/>
          </a:prstGeom>
          <a:solidFill>
            <a:srgbClr val="D8F3DC"/>
          </a:solidFill>
          <a:ln w="190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5935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✅ あり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「先週より体調ログが改善してるね！
今週も一緒にがんばろう」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72184"/>
            <a:ext cx="3749039" cy="45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417320"/>
            <a:ext cx="3749039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4813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🏢  就職先の提案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020824"/>
            <a:ext cx="3749039" cy="18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1965960"/>
            <a:ext cx="3749039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20391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4444"/>
                </a:solidFill>
              </a:rPr>
              <a:t>❌ なし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2423160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「清掃系が向いています」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9392" y="3941064"/>
            <a:ext cx="3749039" cy="2377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24528" y="3886200"/>
            <a:ext cx="3749039" cy="2377440"/>
          </a:xfrm>
          <a:prstGeom prst="rect">
            <a:avLst/>
          </a:prstGeom>
          <a:solidFill>
            <a:srgbClr val="D8F3DC"/>
          </a:solidFill>
          <a:ln w="190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95935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✅ あり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343400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「似た特性の山田さんは
〇〇会社の清掃スタッフに
就職しました」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6" y="1472184"/>
            <a:ext cx="3749039" cy="457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1312" y="1417320"/>
            <a:ext cx="3749039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1481328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📋  支援者向け所見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6" y="2020824"/>
            <a:ext cx="3749039" cy="1828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11312" y="1965960"/>
            <a:ext cx="3749039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03911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4444"/>
                </a:solidFill>
              </a:rPr>
              <a:t>❌ なし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423160"/>
            <a:ext cx="3566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定型文のレポート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6" y="3941064"/>
            <a:ext cx="3749039" cy="2377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2" y="3886200"/>
            <a:ext cx="3749039" cy="2377440"/>
          </a:xfrm>
          <a:prstGeom prst="rect">
            <a:avLst/>
          </a:prstGeom>
          <a:solidFill>
            <a:srgbClr val="D8F3DC"/>
          </a:solidFill>
          <a:ln w="190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95935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✅ あり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343400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「3ヶ月の記録を見ると
月曜に調子を崩しやすい
傾向があります」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データを活用するしくみ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RAG構成イメージ：利用者データがAIの「記憶」になる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517904"/>
            <a:ext cx="534924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73152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5448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👤  利用者の診断結果・日々の記録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5976" y="1517904"/>
            <a:ext cx="534924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11112" y="146304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11112" y="1463040"/>
            <a:ext cx="73152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75704" y="1554480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👩‍💼  支援者の評価・観察メモ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" y="2267712"/>
            <a:ext cx="534924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212848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212848"/>
            <a:ext cx="73152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304288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🏆  先輩の就職事例（匿名）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2267712"/>
            <a:ext cx="534924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1112" y="2212848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11112" y="2212848"/>
            <a:ext cx="73152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2304288"/>
            <a:ext cx="5074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🏢  地元企業の求人情報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6168" y="2880360"/>
            <a:ext cx="36576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53512" y="3328416"/>
            <a:ext cx="640080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98648" y="3273552"/>
            <a:ext cx="6400800" cy="5669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3364992"/>
            <a:ext cx="6035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🗄️  データベース（蓄積・管理）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16168" y="3840480"/>
            <a:ext cx="36576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53512" y="4242816"/>
            <a:ext cx="640080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98648" y="4187952"/>
            <a:ext cx="6400800" cy="566928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1528" y="4279392"/>
            <a:ext cx="6035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🔍  質問に関連するデータを自動検索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16168" y="4754880"/>
            <a:ext cx="365760" cy="32004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53512" y="5157216"/>
            <a:ext cx="6400800" cy="5669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98648" y="5102352"/>
            <a:ext cx="6400800" cy="5669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193792"/>
            <a:ext cx="6035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🤖  AIが文脈を踏まえて回答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30936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A4F"/>
                </a:solidFill>
              </a:rPr>
              <a:t>💡 データが蓄積されるほどAIの精度が上がる「育てるAI」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フェーズ別 実装機能マップ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現在から将来へ：段階的な機能拡張のロードマップ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" y="1472184"/>
            <a:ext cx="2834640" cy="54132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834640" cy="7498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53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1051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★ 実装済み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67128"/>
            <a:ext cx="2834640" cy="46634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276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利用者・支援者登録/ログイン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734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性格・特性診断（6特性）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191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成長ロードマップ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36484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日々の記録・ダッシュボード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41056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自分似のアバター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4562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アバターとのAIチャット（基本）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5020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漢字/ひらがな切り替え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5477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支援者ダッシュボード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59344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Railway本番デプロイ済み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36976" y="1472184"/>
            <a:ext cx="2834640" cy="54132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2112" y="1417320"/>
            <a:ext cx="2834640" cy="749808"/>
          </a:xfrm>
          <a:prstGeom prst="rect">
            <a:avLst/>
          </a:prstGeom>
          <a:solidFill>
            <a:srgbClr val="23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1453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181051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◎ AIなしで追加可能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2167128"/>
            <a:ext cx="2834640" cy="4663440"/>
          </a:xfrm>
          <a:prstGeom prst="rect">
            <a:avLst/>
          </a:prstGeom>
          <a:solidFill>
            <a:srgbClr val="D1ECF1"/>
          </a:solidFill>
          <a:ln w="12700">
            <a:solidFill>
              <a:srgbClr val="237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276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支援者評価×多角的レーダーチャート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734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希望と適性のギャップ表示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191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次のステップ提示（ルールベース）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6484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進捗カレンダー＋継続ストリーク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1056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朝・夕のルーティンチェックリスト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62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先輩事例データベース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020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支援者間の連携ノート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477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過去診断との比較グラフ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0488" y="1472184"/>
            <a:ext cx="2834640" cy="54132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35624" y="1417320"/>
            <a:ext cx="2834640" cy="74980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1453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7064" y="181051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△ AI搭載で強化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5624" y="2167128"/>
            <a:ext cx="2834640" cy="4663440"/>
          </a:xfrm>
          <a:prstGeom prst="rect">
            <a:avLst/>
          </a:prstGeom>
          <a:solidFill>
            <a:srgbClr val="FFE8D6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2276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個別化された次のステップ（RAG）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2734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時系列パターン認識・AI所見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3191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本人×支援者評価の統合AI分析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6484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職場シーン練習（AIロールプレイ）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41056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アバターとの深い対話（完全AI）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1472184"/>
            <a:ext cx="2834640" cy="54132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89136" y="1417320"/>
            <a:ext cx="2834640" cy="74980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576" y="145389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1810512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◇ 将来構想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89136" y="2167128"/>
            <a:ext cx="2834640" cy="466344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98864" y="22768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地元企業タイアップ・マッチング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98864" y="27340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就労実績データベース（先輩事例）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98864" y="31912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多職種連携プラットフォーム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8864" y="364845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▶ スマートフォンアプリ化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フェーズ別 月額費用の目安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利用者規模に応じた従量課金制・小規模なら実質ほぼ無料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1175004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1790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フェーズ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51790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主な追加機能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517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利用者規模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Railway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51790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OpenAI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517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月額合計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947672"/>
            <a:ext cx="11750040" cy="914400"/>
          </a:xfrm>
          <a:prstGeom prst="rect">
            <a:avLst/>
          </a:prstGeom>
          <a:solidFill>
            <a:srgbClr val="D8F3DC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03911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Phase 1
（現状）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03911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基本機能・AIチャット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39112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〜30人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39112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$0〜5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039112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$1〜3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03911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約$1〜8
（〜1,200円）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898648"/>
            <a:ext cx="11750040" cy="914400"/>
          </a:xfrm>
          <a:prstGeom prst="rect">
            <a:avLst/>
          </a:prstGeom>
          <a:solidFill>
            <a:srgbClr val="D1ECF1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990088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Phase 2
（AIなし追加）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2990088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評価・記録・事例DB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990088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30〜100人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90088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$5〜20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990088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$3〜10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99008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約$8〜30
（〜4,500円）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9624"/>
            <a:ext cx="11750040" cy="914400"/>
          </a:xfrm>
          <a:prstGeom prst="rect">
            <a:avLst/>
          </a:prstGeom>
          <a:solidFill>
            <a:srgbClr val="FFE8D6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941064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Phase 3
（AI強化）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3941064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RAG・個別分析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941064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50〜200人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41064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3941064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$20〜60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941064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約$40〜80
（〜12,000円）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800600"/>
            <a:ext cx="11750040" cy="914400"/>
          </a:xfrm>
          <a:prstGeom prst="rect">
            <a:avLst/>
          </a:prstGeom>
          <a:solidFill>
            <a:srgbClr val="E9ECEF"/>
          </a:solidFill>
          <a:ln w="635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892040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Phase 4
（将来構想）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892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企業連携・アプリ化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8920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200人以上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8920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$20〜50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89204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$50〜150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8920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約$70〜200
（〜30,000円）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78815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💡 OpenAI APIはGPT-4o-miniを使用。1チャット約0.1円以下の低コスト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04418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💡 利用者が少ない間はほぼ無料。使った分だけ払う従量課金制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30021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</a:rPr>
              <a:t>💡 Railwayは月$5のクレジット付与あり（小規模なら実質無料）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C757D"/>
                </a:solidFill>
              </a:rPr>
              <a:t>🌱 ステップアップナビ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</a:rPr>
              <a:t>次のステップを一緒に決めましょう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2688"/>
            <a:ext cx="27432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</a:rPr>
              <a:t>ご確認・ご検討いただきたい項目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📋 検討事項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2020824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65960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2148840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Phase 2（AIなし追加機能）の優先順位を決める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715768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60904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60904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2843784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5234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OpenAI APIキーの導入・費用の検討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" y="3410712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55848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55848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7200" y="3538728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472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本番環境での利用者テスト実施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4105656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050792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050792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233672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422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支援者・利用者へのフィードバック収集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4800600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745736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745736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" y="4928616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371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Phase 3以降のAI機能実装スケジュール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" y="5495544"/>
            <a:ext cx="5852160" cy="62179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440680"/>
            <a:ext cx="58521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440680"/>
            <a:ext cx="91440" cy="6217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5623560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532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地元企業・支援機関との連携検討（Phase 4）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7104" y="1472184"/>
            <a:ext cx="5486400" cy="51206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1417320"/>
            <a:ext cx="5486400" cy="5120640"/>
          </a:xfrm>
          <a:prstGeom prst="rect">
            <a:avLst/>
          </a:prstGeom>
          <a:solidFill>
            <a:srgbClr val="1B4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4A261"/>
                </a:solidFill>
              </a:rPr>
              <a:t>🚀 現在の本番URL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D5B2"/>
                </a:solidFill>
              </a:rPr>
              <a:t>https://web-production-c0abe.up.railway.app/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743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すでに動いています！
今すぐお試しいただけます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593592"/>
            <a:ext cx="493776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7216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D5B2"/>
                </a:solidFill>
              </a:rPr>
              <a:t>ご質問・ご要望はお気軽にどうぞ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2519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一緒に「ステップアップナビ」を
育てていきましょう 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