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721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21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20000" y="468000"/>
            <a:ext cx="4320000" cy="25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8FAFC"/>
                </a:solidFill>
              </a:rPr>
              <a:t>東濃信用金庫様 ご提案資料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8FAFC"/>
                </a:solidFill>
              </a:rPr>
              <a:t>ステップアップナビ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340000"/>
            <a:ext cx="28800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93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</a:rPr>
              <a:t>障がいのある人が、自分らしく「働き・育つ」社会へ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311999"/>
            <a:ext cx="93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特定非営利活動法人 思いやりの糸 / HIローズ</a:t>
            </a:r>
          </a:p>
        </p:txBody>
      </p:sp>
      <p:sp>
        <p:nvSpPr>
          <p:cNvPr id="8" name="Rectangle 7"/>
          <p:cNvSpPr/>
          <p:nvPr/>
        </p:nvSpPr>
        <p:spPr>
          <a:xfrm>
            <a:off x="8460000" y="3600000"/>
            <a:ext cx="468000" cy="30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72000" y="3600000"/>
            <a:ext cx="468000" cy="30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684000" y="3600000"/>
            <a:ext cx="468000" cy="30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96000" y="3600000"/>
            <a:ext cx="468000" cy="30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908000" y="3600000"/>
            <a:ext cx="468000" cy="30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520000" y="3600000"/>
            <a:ext cx="468000" cy="30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324000"/>
            <a:ext cx="106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現場が抱える、解決されない問題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900000"/>
            <a:ext cx="2160000" cy="3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5472000" cy="5328000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" y="1116000"/>
            <a:ext cx="5472000" cy="144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1367999"/>
            <a:ext cx="511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</a:rPr>
              <a:t>【就労現場】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1961999"/>
            <a:ext cx="108000" cy="10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0000" y="1836000"/>
            <a:ext cx="500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企業が障がい者を雇用しても特性を理解できず対処できない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329999"/>
            <a:ext cx="108000" cy="10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0000" y="3204000"/>
            <a:ext cx="500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「仕事ができない」レッテルを貼られ解雇になるケースも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4697999"/>
            <a:ext cx="108000" cy="10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0000" y="4572000"/>
            <a:ext cx="500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企業と障がい者の間に深刻なミスマッチが生じている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0000" y="3311999"/>
            <a:ext cx="5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4A3B8"/>
                </a:solidFill>
              </a:rPr>
              <a:t>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2000" y="1116000"/>
            <a:ext cx="5328000" cy="5328000"/>
          </a:xfrm>
          <a:prstGeom prst="rect">
            <a:avLst/>
          </a:prstGeom>
          <a:solidFill>
            <a:srgbClr val="2A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72000" y="1116000"/>
            <a:ext cx="5328000" cy="144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52000" y="1367999"/>
            <a:ext cx="49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</a:rPr>
              <a:t>【放課後デイ現場】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2000" y="1961999"/>
            <a:ext cx="108000" cy="10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32000" y="1836000"/>
            <a:ext cx="486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児童の特性把握が支援員の経験則に依存している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2000" y="3329999"/>
            <a:ext cx="108000" cy="10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32000" y="3204000"/>
            <a:ext cx="486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日々の記録・書類作業に追われ子どもと向き合う時間が不足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2000" y="4697999"/>
            <a:ext cx="108000" cy="10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32000" y="4572000"/>
            <a:ext cx="486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保護者への適切なフィードバックができていない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324000"/>
            <a:ext cx="10620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>
                <a:solidFill>
                  <a:srgbClr val="F8FAFC"/>
                </a:solidFill>
              </a:rPr>
              <a:t>解決できる2つの課題</a:t>
            </a:r>
            <a:endParaRPr sz="2500" b="1">
              <a:solidFill>
                <a:srgbClr val="F8FAFC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20000" y="900000"/>
            <a:ext cx="21600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5472000" cy="5220000"/>
          </a:xfrm>
          <a:prstGeom prst="rect">
            <a:avLst/>
          </a:prstGeom>
          <a:solidFill>
            <a:srgbClr val="0A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" y="1152000"/>
            <a:ext cx="5472000" cy="16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1422000"/>
            <a:ext cx="51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</a:rPr>
              <a:t>就労支援アプリ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" y="1872000"/>
            <a:ext cx="108000" cy="10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0000" y="1854000"/>
            <a:ext cx="500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特性の見える化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160000"/>
            <a:ext cx="500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</a:rPr>
              <a:t>性格・強み・苦手を診断し客観データとして提示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4000" y="3240000"/>
            <a:ext cx="108000" cy="10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0000" y="3222000"/>
            <a:ext cx="500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企業への配慮提案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28000"/>
            <a:ext cx="500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</a:rPr>
              <a:t>採用企業が「どう配慮すればよいか」を即理解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4000" y="4608000"/>
            <a:ext cx="108000" cy="10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000" y="4590000"/>
            <a:ext cx="500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本人の成長サポート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4896000"/>
            <a:ext cx="500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</a:rPr>
              <a:t>ロードマップと達成記録で自信とモチベーションを育む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000" y="1152000"/>
            <a:ext cx="5328000" cy="5220000"/>
          </a:xfrm>
          <a:prstGeom prst="rect">
            <a:avLst/>
          </a:prstGeom>
          <a:solidFill>
            <a:srgbClr val="2A1E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0000" y="1152000"/>
            <a:ext cx="5328000" cy="16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80000" y="1422000"/>
            <a:ext cx="49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</a:rPr>
              <a:t>放課後デイアプリ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4000" y="1872000"/>
            <a:ext cx="108000" cy="1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60000" y="1854000"/>
            <a:ext cx="48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児童の発達記録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0000" y="2160000"/>
            <a:ext cx="48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</a:rPr>
              <a:t>日々の支援データを自動で蓄積・分析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4000" y="3240000"/>
            <a:ext cx="108000" cy="1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60000" y="3222000"/>
            <a:ext cx="48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支援計画の作成サポート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0000" y="3528000"/>
            <a:ext cx="48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</a:rPr>
              <a:t>支援記録の蓄積をもとに、個別支援計画の作成をサポート・補助し書類作業を大幅軽減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4000" y="4608000"/>
            <a:ext cx="108000" cy="1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60000" y="4590000"/>
            <a:ext cx="48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保護者連携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0000" y="4896000"/>
            <a:ext cx="48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</a:rPr>
              <a:t>今日のできた！をリアルタイムで保護者と共有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20000" y="288000"/>
            <a:ext cx="2880000" cy="25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8FAFC"/>
                </a:solidFill>
              </a:rPr>
              <a:t>AIチャット機能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720000"/>
            <a:ext cx="1062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“相談相手”</a:t>
            </a:r>
            <a:r>
              <a:rPr lang="ja-JP" altLang="en-US" sz="2600" b="1">
                <a:solidFill>
                  <a:srgbClr val="F8FAFC"/>
                </a:solidFill>
              </a:rPr>
              <a:t>としての</a:t>
            </a:r>
            <a:r>
              <a:rPr lang="en-US" altLang="ja-JP" sz="2600" b="1">
                <a:solidFill>
                  <a:srgbClr val="F8FAFC"/>
                </a:solidFill>
              </a:rPr>
              <a:t>AI</a:t>
            </a:r>
            <a:endParaRPr sz="2600" b="1">
              <a:solidFill>
                <a:srgbClr val="F8FAF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0000" y="1332000"/>
            <a:ext cx="21600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8000" y="1584000"/>
            <a:ext cx="3420000" cy="45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8000" y="1584000"/>
            <a:ext cx="3420000" cy="14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8000" y="1835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</a:rPr>
              <a:t>就労者向け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000" y="2484000"/>
            <a:ext cx="30600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8000" y="2664000"/>
            <a:ext cx="306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仕事の悩み・人間関係・体調の変化をチャットで打ち明けると、自分の特性に合ったアドバイスを返す。支援員がいない時間も孤立させない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2000" y="1584000"/>
            <a:ext cx="3420000" cy="45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92000" y="1584000"/>
            <a:ext cx="3420000" cy="14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835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</a:rPr>
              <a:t>放課後デイ
児童・保護者向け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484000"/>
            <a:ext cx="306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2664000"/>
            <a:ext cx="306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ゲーム感覚でAIキャラクターと会話しながら、自分の気持ちや得意を発見。保護者は家庭でできる関わり方のヒントをAIから得られる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6000" y="1584000"/>
            <a:ext cx="3420000" cy="45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6000" y="1584000"/>
            <a:ext cx="3420000" cy="144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16000" y="1835999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B82F6"/>
                </a:solidFill>
              </a:rPr>
              <a:t>支援員向け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16000" y="2484000"/>
            <a:ext cx="30600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16000" y="2664000"/>
            <a:ext cx="306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「この子にどう関わればいい？」をAIに聞ける
・支援の現場では、児童の行動に戸惑い・悩む場面が日々起きる
・「こんなとき、どうすればいいか」をAIアドバイザーに相談すると、特性に応じた関わり方のヒントを提案
・先輩や専門家に聞きにくい悩みも、AIなら気軽に相談できる
・経験の浅い支援員でも、自信を持って支援に臨める
※支援員の孤立・バーンアウト防止にも貢献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20000" y="288000"/>
            <a:ext cx="3420000" cy="25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8FAFC"/>
                </a:solidFill>
              </a:rPr>
              <a:t>就労支援（大人向け）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720000"/>
            <a:ext cx="10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「できない」を「できる」に変える、成長の地図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332000"/>
            <a:ext cx="21600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0000" y="1548000"/>
            <a:ext cx="5328000" cy="21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" y="1548000"/>
            <a:ext cx="72000" cy="21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6000" y="1692000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0B981"/>
                </a:solidFill>
              </a:rPr>
              <a:t>性格・特性診断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000" y="2070000"/>
            <a:ext cx="50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「得意なこと・苦手なこと」を可視化
本人も支援者も企業担当者も同じ地図を共有できる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2000" y="1548000"/>
            <a:ext cx="5328000" cy="21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72000" y="1548000"/>
            <a:ext cx="72000" cy="21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8000" y="1692000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0B981"/>
                </a:solidFill>
              </a:rPr>
              <a:t>3ステップのロードマップ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8000" y="2070000"/>
            <a:ext cx="50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仕事に必要なスキルを段階的に提示
「今日やること」が明確になり、迷わず前進できる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3924000"/>
            <a:ext cx="5328000" cy="21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0000" y="3924000"/>
            <a:ext cx="72000" cy="21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6000" y="4068000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0B981"/>
                </a:solidFill>
              </a:rPr>
              <a:t>達成記録で自信を育む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" y="4446000"/>
            <a:ext cx="50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日々の小さな達成を記録し、モチベーションと自己肯定感を継続的に育む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2000" y="3924000"/>
            <a:ext cx="5328000" cy="21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72000" y="3924000"/>
            <a:ext cx="72000" cy="21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8000" y="4068000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0B981"/>
                </a:solidFill>
              </a:rPr>
              <a:t>支援者・企業ダッシュボード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8000" y="4446000"/>
            <a:ext cx="50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本人の状況を支援者・企業担当者がリアルタイムで把握
ミスマッチを事前に防ぐ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20000" y="288000"/>
            <a:ext cx="2520000" cy="259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8FAFC"/>
                </a:solidFill>
              </a:rPr>
              <a:t>採用企業向け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720000"/>
            <a:ext cx="10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企業が「採用してよかった」と思える仕組み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332000"/>
            <a:ext cx="21600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0000" y="1620000"/>
            <a:ext cx="10620000" cy="12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" y="1620000"/>
            <a:ext cx="79200" cy="126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00000" y="1908000"/>
            <a:ext cx="432000" cy="43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2000" y="1926000"/>
            <a:ext cx="964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F8FAFC"/>
                </a:solidFill>
              </a:rPr>
              <a:t>本人の特性レポートで「どう配慮すれば良いか」が一目でわかる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060000"/>
            <a:ext cx="10620000" cy="12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0000" y="3060000"/>
            <a:ext cx="79200" cy="126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00000" y="3348000"/>
            <a:ext cx="432000" cy="43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2000" y="3366000"/>
            <a:ext cx="964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F8FAFC"/>
                </a:solidFill>
              </a:rPr>
              <a:t>成長記録を共有することで、長期雇用につながる信頼関係を構築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4500000"/>
            <a:ext cx="10620000" cy="12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0000" y="4500000"/>
            <a:ext cx="79200" cy="126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0000" y="4788000"/>
            <a:ext cx="432000" cy="43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2000" y="4806000"/>
            <a:ext cx="964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F8FAFC"/>
                </a:solidFill>
              </a:rPr>
              <a:t>法定雇用率の達成と定着率向上を同時に実現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6120000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</a:rPr>
              <a:t>障がい者雇用の「採用→定着→成長」を一つのアプリで完結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20000" y="288000"/>
            <a:ext cx="3600000" cy="25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8FAFC"/>
                </a:solidFill>
              </a:rPr>
              <a:t>放課後デイサービス向け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720000"/>
            <a:ext cx="10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</a:rPr>
              <a:t>支援員が「本当にやりたい支援」に集中できる環境へ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332000"/>
            <a:ext cx="216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0000" y="1548000"/>
            <a:ext cx="5328000" cy="21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" y="1548000"/>
            <a:ext cx="72000" cy="216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6000" y="1692000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F59E0B"/>
                </a:solidFill>
              </a:rPr>
              <a:t>音声入力＋AI効率化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000" y="2070000"/>
            <a:ext cx="50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日々の支援記録を音声入力＋AIで効率化・補助
書類作業を大幅削減し、子どもとの時間を最大化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2000" y="1548000"/>
            <a:ext cx="5328000" cy="21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72000" y="1548000"/>
            <a:ext cx="72000" cy="216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8000" y="1692000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F59E0B"/>
                </a:solidFill>
              </a:rPr>
              <a:t>個別支援計画の作成サポート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8000" y="2070000"/>
            <a:ext cx="50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支援記録のデータをもとに、個別支援計画の作成をサポート・補助
経験則に頼らない客観的な支援が実現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3924000"/>
            <a:ext cx="5328000" cy="21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0000" y="3924000"/>
            <a:ext cx="72000" cy="216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6000" y="4068000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F59E0B"/>
                </a:solidFill>
              </a:rPr>
              <a:t>保護者アプリと連携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" y="4446000"/>
            <a:ext cx="50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「今日のできた！」をリアルタイムで保護者と共有
保護者の安心感と事業所への信頼が高まる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2000" y="3924000"/>
            <a:ext cx="5328000" cy="21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72000" y="3924000"/>
            <a:ext cx="72000" cy="216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8000" y="4068000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F59E0B"/>
                </a:solidFill>
              </a:rPr>
              <a:t>発達の見える化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8000" y="4446000"/>
            <a:ext cx="50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発達の変化を時系列グラフで可視化
支援の成果が「エビデンス」として蓄積される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324000"/>
            <a:ext cx="106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600" b="1">
                <a:solidFill>
                  <a:srgbClr val="F8FAFC"/>
                </a:solidFill>
              </a:rPr>
              <a:t>開発スケジュール</a:t>
            </a:r>
            <a:endParaRPr sz="2600" b="1">
              <a:solidFill>
                <a:srgbClr val="F8FAFC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20000" y="900000"/>
            <a:ext cx="21600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5364000" cy="54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" y="1152000"/>
            <a:ext cx="5364000" cy="16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1403999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746000"/>
            <a:ext cx="50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</a:rPr>
              <a:t>〜3ヶ月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962000"/>
            <a:ext cx="50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</a:rPr>
              <a:t>基盤構築 + 主要機能 + 地域展開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2250000"/>
            <a:ext cx="50040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6000" y="2574000"/>
            <a:ext cx="90000" cy="9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953999" y="2430000"/>
            <a:ext cx="4824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性格・特性診断とロードマップ機能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6000" y="2934000"/>
            <a:ext cx="90000" cy="9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953999" y="2790000"/>
            <a:ext cx="4824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日々の記録・成長の可視化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6000" y="3294000"/>
            <a:ext cx="90000" cy="9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953999" y="3150000"/>
            <a:ext cx="4824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アバターによるAIチャット相談機能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6000" y="3654000"/>
            <a:ext cx="90000" cy="9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TextBox 17"/>
          <p:cNvSpPr txBox="1"/>
          <p:nvPr/>
        </p:nvSpPr>
        <p:spPr>
          <a:xfrm>
            <a:off x="953999" y="3510000"/>
            <a:ext cx="4824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支援記録の音声入力・効率化サポート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6000" y="4014000"/>
            <a:ext cx="90000" cy="9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TextBox 19"/>
          <p:cNvSpPr txBox="1"/>
          <p:nvPr/>
        </p:nvSpPr>
        <p:spPr>
          <a:xfrm>
            <a:off x="953999" y="3870000"/>
            <a:ext cx="4824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就労者向け・放課後デイ向け 基本機能すべてリリース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6000" y="4374000"/>
            <a:ext cx="90000" cy="9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TextBox 21"/>
          <p:cNvSpPr txBox="1"/>
          <p:nvPr/>
        </p:nvSpPr>
        <p:spPr>
          <a:xfrm>
            <a:off x="953999" y="4230000"/>
            <a:ext cx="4824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企業向けダッシュボード（特性レポート・定着サポート）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6000" y="4734000"/>
            <a:ext cx="90000" cy="9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TextBox 23"/>
          <p:cNvSpPr txBox="1"/>
          <p:nvPr/>
        </p:nvSpPr>
        <p:spPr>
          <a:xfrm>
            <a:off x="953999" y="4590000"/>
            <a:ext cx="4824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保護者連携アプリ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000" y="5688000"/>
            <a:ext cx="5004000" cy="720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0000" y="5862082"/>
            <a:ext cx="493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全基本機能リリース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4000" y="1152000"/>
            <a:ext cx="5364000" cy="54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4000" y="1152000"/>
            <a:ext cx="5364000" cy="16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4000" y="1403999"/>
            <a:ext cx="500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</a:rPr>
              <a:t>Phase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4000" y="1746000"/>
            <a:ext cx="5004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</a:rPr>
              <a:t>〜</a:t>
            </a:r>
            <a:r>
              <a:rPr lang="ja-JP" altLang="en-US" sz="1250" b="0">
                <a:solidFill>
                  <a:srgbClr val="94A3B8"/>
                </a:solidFill>
              </a:rPr>
              <a:t>数</a:t>
            </a:r>
            <a:r>
              <a:rPr sz="1250" b="0">
                <a:solidFill>
                  <a:srgbClr val="94A3B8"/>
                </a:solidFill>
              </a:rPr>
              <a:t>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4000" y="1962000"/>
            <a:ext cx="50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</a:rPr>
              <a:t>拡張・地域展開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4000" y="2250000"/>
            <a:ext cx="50040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80000" y="2574000"/>
            <a:ext cx="90000" cy="9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77999" y="2430000"/>
            <a:ext cx="4824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企業向けダッシュボード
（特性レポート・定着サポート）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80000" y="3240000"/>
            <a:ext cx="90000" cy="9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77999" y="3096000"/>
            <a:ext cx="4824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保護者連携アプリ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80000" y="3906000"/>
            <a:ext cx="90000" cy="9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7999" y="3762000"/>
            <a:ext cx="4824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地域企業・行政とのタイアップ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80000" y="4572000"/>
            <a:ext cx="90000" cy="9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7999" y="4428000"/>
            <a:ext cx="4824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</a:rPr>
              <a:t>他自治体へのライセンス展開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4000" y="5688000"/>
            <a:ext cx="5004000" cy="720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80000" y="5778000"/>
            <a:ext cx="49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B82F6"/>
                </a:solidFill>
              </a:rPr>
              <a:t>地域展開・
ライセンス全国展開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324000"/>
            <a:ext cx="106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クラウドファンディング 300万円の根拠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900000"/>
            <a:ext cx="21600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116000"/>
            <a:ext cx="10620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0B981"/>
                </a:solidFill>
              </a:rPr>
              <a:t>エンジニア単価 約8</a:t>
            </a:r>
            <a:r>
              <a:rPr lang="en-US" sz="1700" b="1">
                <a:solidFill>
                  <a:srgbClr val="10B981"/>
                </a:solidFill>
              </a:rPr>
              <a:t>0</a:t>
            </a:r>
            <a:r>
              <a:rPr sz="1700" b="1">
                <a:solidFill>
                  <a:srgbClr val="10B981"/>
                </a:solidFill>
              </a:rPr>
              <a:t>万円/月 × 3ヶ月 = 2</a:t>
            </a:r>
            <a:r>
              <a:rPr lang="en-US" sz="1700" b="1">
                <a:solidFill>
                  <a:srgbClr val="10B981"/>
                </a:solidFill>
              </a:rPr>
              <a:t>4</a:t>
            </a:r>
            <a:r>
              <a:rPr sz="1700" b="1">
                <a:solidFill>
                  <a:srgbClr val="10B981"/>
                </a:solidFill>
              </a:rPr>
              <a:t>0万円 ＋ 運営費</a:t>
            </a:r>
            <a:r>
              <a:rPr lang="en-US" sz="1700" b="1">
                <a:solidFill>
                  <a:srgbClr val="10B981"/>
                </a:solidFill>
              </a:rPr>
              <a:t>60</a:t>
            </a:r>
            <a:r>
              <a:rPr sz="1700" b="1">
                <a:solidFill>
                  <a:srgbClr val="10B981"/>
                </a:solidFill>
              </a:rPr>
              <a:t>万円 = 合計300万円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440000"/>
            <a:ext cx="6660000" cy="16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4000" y="1458000"/>
            <a:ext cx="64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</a:rPr>
              <a:t>  項目                                金額        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602000"/>
            <a:ext cx="6660000" cy="414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1602000"/>
            <a:ext cx="64800" cy="41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4000" y="1656000"/>
            <a:ext cx="331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開発人件費（約83万×3ヶ月）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1999" y="1656000"/>
            <a:ext cx="108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2</a:t>
            </a:r>
            <a:r>
              <a:rPr lang="en-US" sz="1100" b="1">
                <a:solidFill>
                  <a:srgbClr val="10B981"/>
                </a:solidFill>
              </a:rPr>
              <a:t>4</a:t>
            </a:r>
            <a:r>
              <a:rPr sz="1100" b="1">
                <a:solidFill>
                  <a:srgbClr val="10B981"/>
                </a:solidFill>
              </a:rPr>
              <a:t>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0000" y="1656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設計・実装・テスト・リリース・保守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2034000"/>
            <a:ext cx="6660000" cy="4140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0000" y="2034000"/>
            <a:ext cx="64800" cy="41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4000" y="2088000"/>
            <a:ext cx="331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AWSインフラ費（3ヶ月分）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1999" y="2088000"/>
            <a:ext cx="108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  </a:t>
            </a:r>
            <a:r>
              <a:rPr lang="en-US" sz="1100" b="1">
                <a:solidFill>
                  <a:srgbClr val="10B981"/>
                </a:solidFill>
              </a:rPr>
              <a:t>6</a:t>
            </a:r>
            <a:r>
              <a:rPr sz="1100" b="1">
                <a:solidFill>
                  <a:srgbClr val="10B981"/>
                </a:solidFill>
              </a:rPr>
              <a:t>万円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0000" y="2088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EC2・RDS・S3・CloudFront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2466000"/>
            <a:ext cx="6660000" cy="414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0000" y="2466000"/>
            <a:ext cx="64800" cy="41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4000" y="2520000"/>
            <a:ext cx="331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広報・PR費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1999" y="2520000"/>
            <a:ext cx="1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 20万円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0000" y="2520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SNS広告、プレスリリース、チラシ制作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2898000"/>
            <a:ext cx="6660000" cy="4140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0000" y="2898000"/>
            <a:ext cx="64800" cy="41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4000" y="2952000"/>
            <a:ext cx="331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デザイン・UX制作費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31999" y="2952000"/>
            <a:ext cx="1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 12万円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0000" y="2952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UI改善、アイコン、動画制作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3330000"/>
            <a:ext cx="6660000" cy="414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0000" y="3330000"/>
            <a:ext cx="64800" cy="41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4000" y="3384000"/>
            <a:ext cx="331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イベント・説明会開催費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1999" y="3384000"/>
            <a:ext cx="108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  </a:t>
            </a:r>
            <a:r>
              <a:rPr lang="en-US" sz="1100" b="1">
                <a:solidFill>
                  <a:srgbClr val="10B981"/>
                </a:solidFill>
              </a:rPr>
              <a:t>6</a:t>
            </a:r>
            <a:r>
              <a:rPr sz="1100" b="1">
                <a:solidFill>
                  <a:srgbClr val="10B981"/>
                </a:solidFill>
              </a:rPr>
              <a:t>万円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0000" y="3384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福祉事業所向け説明会、デモ展示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0000" y="3762000"/>
            <a:ext cx="6660000" cy="4140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0000" y="3762000"/>
            <a:ext cx="64800" cy="41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4000" y="3816000"/>
            <a:ext cx="331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福祉事業所導入サポート費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31999" y="3816000"/>
            <a:ext cx="1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  6万円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20000" y="3816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初期研修・マニュアル・問い合わせ対応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0" y="4230000"/>
            <a:ext cx="6660000" cy="41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4000" y="4284000"/>
            <a:ext cx="331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</a:rPr>
              <a:t>合計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31999" y="4284000"/>
            <a:ext cx="1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8FAFC"/>
                </a:solidFill>
              </a:rPr>
              <a:t>300万円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" y="4698000"/>
            <a:ext cx="66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※AWSは月約1</a:t>
            </a:r>
            <a:r>
              <a:rPr lang="en-US" sz="900" b="0">
                <a:solidFill>
                  <a:srgbClr val="94A3B8"/>
                </a:solidFill>
              </a:rPr>
              <a:t>~2</a:t>
            </a:r>
            <a:r>
              <a:rPr sz="900" b="0">
                <a:solidFill>
                  <a:srgbClr val="94A3B8"/>
                </a:solidFill>
              </a:rPr>
              <a:t>万円〜のスモールスタート。利用者増加に応じてスケールアップ</a:t>
            </a:r>
            <a:r>
              <a:rPr lang="ja-JP" altLang="en-US" sz="900" b="0">
                <a:solidFill>
                  <a:srgbClr val="94A3B8"/>
                </a:solidFill>
              </a:rPr>
              <a:t>予定</a:t>
            </a:r>
            <a:r>
              <a:rPr sz="900" b="0">
                <a:solidFill>
                  <a:srgbClr val="94A3B8"/>
                </a:solidFill>
              </a:rPr>
              <a:t>。
※フリーランスエンジニア市場単価：月60〜120万円が相場。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60000" y="1440000"/>
            <a:ext cx="4320000" cy="3204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560000" y="1440000"/>
            <a:ext cx="4320000" cy="14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668000" y="1638000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▼ 開発人件費 2</a:t>
            </a:r>
            <a:r>
              <a:rPr lang="en-US" sz="1200" b="1">
                <a:solidFill>
                  <a:srgbClr val="10B981"/>
                </a:solidFill>
              </a:rPr>
              <a:t>4</a:t>
            </a:r>
            <a:r>
              <a:rPr sz="1200" b="1">
                <a:solidFill>
                  <a:srgbClr val="10B981"/>
                </a:solidFill>
              </a:rPr>
              <a:t>0万円の内訳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2000" y="1982509"/>
            <a:ext cx="4176000" cy="195492"/>
          </a:xfrm>
          <a:prstGeom prst="rect">
            <a:avLst/>
          </a:prstGeom>
          <a:solidFill>
            <a:srgbClr val="0A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85999" y="1975649"/>
            <a:ext cx="12960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工程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8000" y="1975649"/>
            <a:ext cx="6840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</a:rPr>
              <a:t>期間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56000" y="1975649"/>
            <a:ext cx="19800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内容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32000" y="2293200"/>
            <a:ext cx="4176000" cy="42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685999" y="2322000"/>
            <a:ext cx="12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要件定義・設計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18000" y="2322000"/>
            <a:ext cx="68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B981"/>
                </a:solidFill>
              </a:rPr>
              <a:t>2週間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56000" y="23220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システム設計、DB設計、UI/UXワイヤーフレーム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32000" y="2732400"/>
            <a:ext cx="4176000" cy="4248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685999" y="2761200"/>
            <a:ext cx="12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バックエンド開発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18000" y="2761200"/>
            <a:ext cx="68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B981"/>
                </a:solidFill>
              </a:rPr>
              <a:t>4週間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56000" y="2761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Django/Python、API実装、AI連携（OpenAI）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32000" y="3171600"/>
            <a:ext cx="4176000" cy="42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685999" y="3200400"/>
            <a:ext cx="12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フロントエンド開発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18000" y="3200400"/>
            <a:ext cx="68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B981"/>
                </a:solidFill>
              </a:rPr>
              <a:t>3週間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56000" y="32004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画面実装、レスポンシブ対応、アバター機能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32000" y="3610800"/>
            <a:ext cx="4176000" cy="4248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685999" y="3639600"/>
            <a:ext cx="12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テスト・品質保証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18000" y="3639600"/>
            <a:ext cx="68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B981"/>
                </a:solidFill>
              </a:rPr>
              <a:t>2週間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56000" y="36396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単体テスト、結合テスト、セキュリティ確認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32000" y="4050000"/>
            <a:ext cx="4176000" cy="42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85999" y="4078800"/>
            <a:ext cx="12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リリース・導入支援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18000" y="4078800"/>
            <a:ext cx="68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B981"/>
                </a:solidFill>
              </a:rPr>
              <a:t>1週間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56000" y="40788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本番環境構築、マニュアル作成、初期サポート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21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0000" y="1188000"/>
            <a:ext cx="10260000" cy="30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>
                <a:solidFill>
                  <a:srgbClr val="F8FAFC"/>
                </a:solidFill>
              </a:rPr>
              <a:t>障がいのある人も、その家族も、支援する人も——
みんながもっと笑顔になれる社会を、多治見から作ります。
</a:t>
            </a:r>
            <a:r>
              <a:rPr lang="en-US" sz="1700">
                <a:solidFill>
                  <a:srgbClr val="F8FAFC"/>
                </a:solidFill>
              </a:rPr>
              <a:t>ご検討の程よろしくお願い致します。</a:t>
            </a:r>
            <a:endParaRPr sz="1700">
              <a:solidFill>
                <a:srgbClr val="F8FAF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5220000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特定非営利活動法人 思いやりの糸 / HIローズ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616000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4A3B8"/>
                </a:solidFill>
              </a:rPr>
              <a:t>代表 廣瀬 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3999"/>
            <a:ext cx="12192119" cy="23400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652</Words>
  <Application>Microsoft Macintosh PowerPoint</Application>
  <PresentationFormat>ワイド画面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Matsunaga Naoto (松永 直人)</cp:lastModifiedBy>
  <cp:revision>4</cp:revision>
  <dcterms:created xsi:type="dcterms:W3CDTF">2013-01-27T09:14:16Z</dcterms:created>
  <dcterms:modified xsi:type="dcterms:W3CDTF">2026-07-22T02:22:35Z</dcterms:modified>
  <cp:category/>
</cp:coreProperties>
</file>