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211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本日はお時間をいただきありがとうございます。</a:t>
            </a:r>
          </a:p>
          <a:p>
            <a:r>
              <a:t>私は「ステップアップナビ」というAIを活用した福祉支援アプリを開発しております、廣瀬と申します。</a:t>
            </a:r>
          </a:p>
          <a:p>
            <a:r>
              <a:t>多治見から、地域の課題をテクノロジーで解決する取り組みを始めております。</a:t>
            </a:r>
          </a:p>
          <a:p>
            <a:r>
              <a:t>本日は東濃信用金庫様にご支援のご相談にまいりました。どうぞよろしくお願いいたします。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このアプリを作ろうと思ったのは、私自身が障がいを持つ娘の父親だからです。</a:t>
            </a:r>
          </a:p>
          <a:p>
            <a:r>
              <a:t>既存の支援ツールは、現場の当事者目線が欠けていることが多い。</a:t>
            </a:r>
          </a:p>
          <a:p>
            <a:r>
              <a:t>だからこそ、「使う人の気持ちが分かるエンジニア」が作るべきだと感じました。</a:t>
            </a:r>
          </a:p>
          <a:p>
            <a:r>
              <a:t>7月から9月の3ヶ月間、失業給付を活用しながら、この開発にフルコミットする覚悟です。</a:t>
            </a:r>
          </a:p>
          <a:p>
            <a:r>
              <a:t>コアとなるプログラムはすでに60%完成しており、残りの仕上げに向けて資金が必要な状況です。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このアプリは、大きく4つの対象に向けたプログラムで構成されています。</a:t>
            </a:r>
          </a:p>
          <a:p>
            <a:r>
              <a:t>一つ目は障がいを持つ本人とそのご家族。二つ目は福祉事業所の支援員・職員の方々。</a:t>
            </a:r>
          </a:p>
          <a:p>
            <a:r>
              <a:t>三つ目は発達に課題のあるお子さんとその保護者。四つ目は学校や行政機関です。</a:t>
            </a:r>
          </a:p>
          <a:p>
            <a:r>
              <a:t>それぞれの立場に合わせたAI機能を提供することで、地域全体の支援力を高めることを目指しています。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区分①は、軽度知的障害などを持つ大人の方とそのご家族向けです。</a:t>
            </a:r>
          </a:p>
          <a:p>
            <a:r>
              <a:t>AIがその日の体調や気分を察知し、無理のない自己トレーニングメニューを提案します。</a:t>
            </a:r>
          </a:p>
          <a:p>
            <a:r>
              <a:t>小さな成功体験を積み重ねることで自信を育み、就労への第一歩を後押しします。</a:t>
            </a:r>
          </a:p>
          <a:p>
            <a:r>
              <a:t>また、本人の「できた！」という記録をリアルタイムで可視化することで、</a:t>
            </a:r>
          </a:p>
          <a:p>
            <a:r>
              <a:t>ご家族の「この子は大丈夫だろうか」という不安を安心に変えます。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区分②は、福祉事業所で働く支援員・職員の方々向けです。</a:t>
            </a:r>
          </a:p>
          <a:p>
            <a:r>
              <a:t>現場では日々の支援記録や報告書作成に多くの時間が取られています。</a:t>
            </a:r>
          </a:p>
          <a:p>
            <a:r>
              <a:t>AIが音声入力や日々のデータをもとに、これらの書類を自動作成します。</a:t>
            </a:r>
          </a:p>
          <a:p>
            <a:r>
              <a:t>残業を大幅に減らし、職員が子どもたちと向き合う時間を最大化することが目標です。</a:t>
            </a:r>
          </a:p>
          <a:p>
            <a:r>
              <a:t>また、AIによる行動データ分析で、経験則だけに頼らない質の高い支援計画の策定をサポートします。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区分③は、発達に特性のあるお子さんとその保護者向けです。</a:t>
            </a:r>
          </a:p>
          <a:p>
            <a:r>
              <a:t>ゲーム感覚のミッションや対話を通じて、子ども自身が自分の「好き」と「得意」を自然に見つけていきます。</a:t>
            </a:r>
          </a:p>
          <a:p>
            <a:r>
              <a:t>親御さんが気づいていなかった才能が見つかることもあります。</a:t>
            </a:r>
          </a:p>
          <a:p>
            <a:r>
              <a:t>また、AIが日々の記録から学習し、保護者に「今日試してみてほしいこと」をそっとアドバイスします。</a:t>
            </a:r>
          </a:p>
          <a:p>
            <a:r>
              <a:t>一人で抱え込みがちな子育ての不安を、チームでのサポートに変えていきます。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区分④は、学校や行政機関向けです。</a:t>
            </a:r>
          </a:p>
          <a:p>
            <a:r>
              <a:t>個々の支援データを匿名化してダッシュボードで一元管理し、地域全体の支援状況を可視化します。</a:t>
            </a:r>
          </a:p>
          <a:p>
            <a:r>
              <a:t>これにより、「感覚」ではなく「データ」で語れる福祉政策の立案が可能になります。</a:t>
            </a:r>
          </a:p>
          <a:p>
            <a:r>
              <a:t>そして、多治見で実証されたモデルをパッケージ化し、全国の他自治体へ展開することを目指します。</a:t>
            </a:r>
          </a:p>
          <a:p>
            <a:r>
              <a:t>東濃信用金庫様との連携実績は、他自治体への展開における大きな説得力になると考えています。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ここで、東濃信用金庫様への具体的なご提案です。</a:t>
            </a:r>
          </a:p>
          <a:p>
            <a:r>
              <a:t>Readyforには、信用金庫がパートナーとして参画することで、クラウドファンディングの手数料が無料になる制度があります。</a:t>
            </a:r>
          </a:p>
          <a:p>
            <a:r>
              <a:t>通常、目標金額の8%が手数料としてかかります。300万円の目標であれば、約24万円です。</a:t>
            </a:r>
          </a:p>
          <a:p>
            <a:r>
              <a:t>東濃信用金庫様にパートナーとしてご参画いただければ、この24万円が丸ごとプロジェクトに活きることになります。</a:t>
            </a:r>
          </a:p>
          <a:p>
            <a:r>
              <a:t>地域の信用金庫として福祉DXを支援するという、社会貢献とPRを兼ねた取り組みになります。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スポンサーとしてご参画いただくことで、ブランド価値・地域連携・PR効果・社会貢献という4つのメリットがあります。</a:t>
            </a:r>
          </a:p>
          <a:p>
            <a:r>
              <a:t>福祉DXのパイオニアとして、東濃信用金庫様のお名前をメディアやSNSで広く発信いたします。</a:t>
            </a:r>
          </a:p>
          <a:p>
            <a:r>
              <a:t>また、福祉事業所・保護者・行政機関との新たなネットワーク構築にもつながります。</a:t>
            </a:r>
          </a:p>
          <a:p>
            <a:r>
              <a:t>ESG・CSRの観点からも、地域社会への貢献として高く評価されるご取り組みになると考えています。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こちらが制度の概要です。</a:t>
            </a:r>
          </a:p>
          <a:p>
            <a:r>
              <a:t>左側が通常のクラウドファンディングで、目標金額の8%が手数料としてかかります。</a:t>
            </a:r>
          </a:p>
          <a:p>
            <a:r>
              <a:t>一方、右側のように東濃信用金庫様にパートナーとしてご参画いただくと、手数料が0円になります。</a:t>
            </a:r>
          </a:p>
          <a:p>
            <a:r>
              <a:t>支援者から集まった全額がそのままプロジェクトに活かされる仕組みです。</a:t>
            </a:r>
          </a:p>
          <a:p>
            <a:r>
              <a:t>この制度はReadyforと信用金庫が連携することで成立する、大変有利な制度です。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こちらが資金の使い道です。</a:t>
            </a:r>
          </a:p>
          <a:p>
            <a:r>
              <a:t>エンジニア単価80万円×3ヶ月の開発人件費が240万円、サーバーや広報などの運営費が60万円、合計300万円が必要な資金です。</a:t>
            </a:r>
          </a:p>
          <a:p>
            <a:r>
              <a:t>AI×福祉領域の専門エンジニアとして、3ヶ月間フルコミットでこのプロジェクトに取り組みます。</a:t>
            </a:r>
          </a:p>
          <a:p>
            <a:r>
              <a:t>失業給付期間を最大限に活用し、娘のため、そして地域の皆さんのために開発に専念する計画です。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最後に、一言お伝えさせてください。</a:t>
            </a:r>
          </a:p>
          <a:p>
            <a:r>
              <a:t>これは一人の父が、娘のために始めたプロジェクトです。</a:t>
            </a:r>
          </a:p>
          <a:p>
            <a:r>
              <a:t>しかし、このアプリが完成すれば、多治見だけでなく全国の何万人もの方の自立を支えるインフラになり得ます。</a:t>
            </a:r>
          </a:p>
          <a:p>
            <a:r>
              <a:t>東濃信用金庫様にも、この「共犯者」になっていただけませんか。</a:t>
            </a:r>
          </a:p>
          <a:p>
            <a:r>
              <a:t>ぜひ一度、詳しいお話しを聞いていただけますと幸いです。本日はありがとうございました。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2119" cy="180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20000" y="432000"/>
            <a:ext cx="3600000" cy="251999"/>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8FAFC"/>
                </a:solidFill>
              </a:rPr>
              <a:t>東濃信用金庫様 ご提案資料</a:t>
            </a:r>
          </a:p>
        </p:txBody>
      </p:sp>
      <p:sp>
        <p:nvSpPr>
          <p:cNvPr id="4" name="TextBox 3"/>
          <p:cNvSpPr txBox="1"/>
          <p:nvPr/>
        </p:nvSpPr>
        <p:spPr>
          <a:xfrm>
            <a:off x="720000" y="1080000"/>
            <a:ext cx="10440000" cy="1260000"/>
          </a:xfrm>
          <a:prstGeom prst="rect">
            <a:avLst/>
          </a:prstGeom>
          <a:noFill/>
        </p:spPr>
        <p:txBody>
          <a:bodyPr wrap="square">
            <a:spAutoFit/>
          </a:bodyPr>
          <a:lstStyle/>
          <a:p>
            <a:pPr algn="l"/>
            <a:r>
              <a:rPr sz="5400" b="1">
                <a:solidFill>
                  <a:srgbClr val="F8FAFC"/>
                </a:solidFill>
              </a:rPr>
              <a:t>AI × 福祉 × 教育</a:t>
            </a:r>
          </a:p>
        </p:txBody>
      </p:sp>
      <p:sp>
        <p:nvSpPr>
          <p:cNvPr id="5" name="Rectangle 4"/>
          <p:cNvSpPr/>
          <p:nvPr/>
        </p:nvSpPr>
        <p:spPr>
          <a:xfrm>
            <a:off x="720000" y="2520000"/>
            <a:ext cx="2160000" cy="432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2664000"/>
            <a:ext cx="10440000" cy="540000"/>
          </a:xfrm>
          <a:prstGeom prst="rect">
            <a:avLst/>
          </a:prstGeom>
          <a:noFill/>
        </p:spPr>
        <p:txBody>
          <a:bodyPr wrap="square">
            <a:spAutoFit/>
          </a:bodyPr>
          <a:lstStyle/>
          <a:p>
            <a:pPr algn="l"/>
            <a:r>
              <a:rPr sz="1800" b="0">
                <a:solidFill>
                  <a:srgbClr val="94A3B8"/>
                </a:solidFill>
              </a:rPr>
              <a:t>多治見から始まる、地域共生社会のイノベーション</a:t>
            </a:r>
          </a:p>
        </p:txBody>
      </p:sp>
      <p:sp>
        <p:nvSpPr>
          <p:cNvPr id="7" name="TextBox 6"/>
          <p:cNvSpPr txBox="1"/>
          <p:nvPr/>
        </p:nvSpPr>
        <p:spPr>
          <a:xfrm>
            <a:off x="720000" y="3384000"/>
            <a:ext cx="10440000" cy="432000"/>
          </a:xfrm>
          <a:prstGeom prst="rect">
            <a:avLst/>
          </a:prstGeom>
          <a:noFill/>
        </p:spPr>
        <p:txBody>
          <a:bodyPr wrap="square">
            <a:spAutoFit/>
          </a:bodyPr>
          <a:lstStyle/>
          <a:p>
            <a:pPr algn="l"/>
            <a:r>
              <a:rPr sz="1300" b="0">
                <a:solidFill>
                  <a:srgbClr val="94A3B8"/>
                </a:solidFill>
              </a:rPr>
              <a:t>特定非営利活動法人 思いやりの糸 / HIローズ</a:t>
            </a:r>
          </a:p>
        </p:txBody>
      </p:sp>
      <p:sp>
        <p:nvSpPr>
          <p:cNvPr id="8" name="Rectangle 7"/>
          <p:cNvSpPr/>
          <p:nvPr/>
        </p:nvSpPr>
        <p:spPr>
          <a:xfrm>
            <a:off x="8640000" y="3960000"/>
            <a:ext cx="503999" cy="2700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288000" y="3960000"/>
            <a:ext cx="503999" cy="2700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936000" y="3960000"/>
            <a:ext cx="503999" cy="2700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584000" y="3960000"/>
            <a:ext cx="503999" cy="2700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232000" y="3960000"/>
            <a:ext cx="503999" cy="2700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6623999"/>
            <a:ext cx="12192119" cy="234000"/>
          </a:xfrm>
          <a:prstGeom prst="rect">
            <a:avLst/>
          </a:prstGeom>
          <a:solidFill>
            <a:srgbClr val="070C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2119" cy="180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20000" y="288000"/>
            <a:ext cx="10440000" cy="432000"/>
          </a:xfrm>
          <a:prstGeom prst="rect">
            <a:avLst/>
          </a:prstGeom>
          <a:noFill/>
        </p:spPr>
        <p:txBody>
          <a:bodyPr wrap="square">
            <a:spAutoFit/>
          </a:bodyPr>
          <a:lstStyle/>
          <a:p>
            <a:pPr algn="l"/>
            <a:r>
              <a:rPr sz="2800" b="1">
                <a:solidFill>
                  <a:srgbClr val="F8FAFC"/>
                </a:solidFill>
              </a:rPr>
              <a:t>開発の背景とビジョン</a:t>
            </a:r>
          </a:p>
        </p:txBody>
      </p:sp>
      <p:sp>
        <p:nvSpPr>
          <p:cNvPr id="4" name="Rectangle 3"/>
          <p:cNvSpPr/>
          <p:nvPr/>
        </p:nvSpPr>
        <p:spPr>
          <a:xfrm>
            <a:off x="0" y="756000"/>
            <a:ext cx="12192119" cy="288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0000" y="900000"/>
            <a:ext cx="10440000" cy="360000"/>
          </a:xfrm>
          <a:prstGeom prst="rect">
            <a:avLst/>
          </a:prstGeom>
          <a:noFill/>
        </p:spPr>
        <p:txBody>
          <a:bodyPr wrap="square">
            <a:spAutoFit/>
          </a:bodyPr>
          <a:lstStyle/>
          <a:p>
            <a:pPr algn="l"/>
            <a:r>
              <a:rPr sz="2000" b="1">
                <a:solidFill>
                  <a:srgbClr val="10B981"/>
                </a:solidFill>
              </a:rPr>
              <a:t>「愛」と「現場」から生まれた技術</a:t>
            </a:r>
          </a:p>
        </p:txBody>
      </p:sp>
      <p:sp>
        <p:nvSpPr>
          <p:cNvPr id="6" name="Rectangle 5"/>
          <p:cNvSpPr/>
          <p:nvPr/>
        </p:nvSpPr>
        <p:spPr>
          <a:xfrm>
            <a:off x="720000" y="1368000"/>
            <a:ext cx="7560000" cy="3060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a:solidFill>
                  <a:srgbClr val="F8FAFC"/>
                </a:solidFill>
              </a:rPr>
              <a:t>既存のシステムにはない、障がいを持つ当事者の家族（お父さんエンジニア）が
開発するからこそ到達できる、究極の使いやすさと自立支援を目指します。
7月〜9月の3ヶ月間、失業保険を活用しながらフルコミットし、
娘のため、そして地域のために命がけで形にします。</a:t>
            </a:r>
          </a:p>
        </p:txBody>
      </p:sp>
      <p:sp>
        <p:nvSpPr>
          <p:cNvPr id="7" name="Rectangle 6"/>
          <p:cNvSpPr/>
          <p:nvPr/>
        </p:nvSpPr>
        <p:spPr>
          <a:xfrm>
            <a:off x="8820000" y="1800000"/>
            <a:ext cx="2520000" cy="1620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20000" y="1980000"/>
            <a:ext cx="2520000" cy="540000"/>
          </a:xfrm>
          <a:prstGeom prst="rect">
            <a:avLst/>
          </a:prstGeom>
          <a:noFill/>
        </p:spPr>
        <p:txBody>
          <a:bodyPr wrap="square">
            <a:spAutoFit/>
          </a:bodyPr>
          <a:lstStyle/>
          <a:p>
            <a:pPr algn="ctr"/>
            <a:r>
              <a:rPr sz="4200" b="1">
                <a:solidFill>
                  <a:srgbClr val="F8FAFC"/>
                </a:solidFill>
              </a:rPr>
              <a:t>60%</a:t>
            </a:r>
          </a:p>
        </p:txBody>
      </p:sp>
      <p:sp>
        <p:nvSpPr>
          <p:cNvPr id="9" name="TextBox 8"/>
          <p:cNvSpPr txBox="1"/>
          <p:nvPr/>
        </p:nvSpPr>
        <p:spPr>
          <a:xfrm>
            <a:off x="8820000" y="2700000"/>
            <a:ext cx="2520000" cy="540000"/>
          </a:xfrm>
          <a:prstGeom prst="rect">
            <a:avLst/>
          </a:prstGeom>
          <a:noFill/>
        </p:spPr>
        <p:txBody>
          <a:bodyPr wrap="square">
            <a:spAutoFit/>
          </a:bodyPr>
          <a:lstStyle/>
          <a:p>
            <a:pPr algn="ctr"/>
            <a:r>
              <a:rPr sz="1300" b="1">
                <a:solidFill>
                  <a:srgbClr val="F8FAFC"/>
                </a:solidFill>
              </a:rPr>
              <a:t>コアプログラム
完成済み</a:t>
            </a:r>
          </a:p>
        </p:txBody>
      </p:sp>
      <p:sp>
        <p:nvSpPr>
          <p:cNvPr id="10" name="Rectangle 9"/>
          <p:cNvSpPr/>
          <p:nvPr/>
        </p:nvSpPr>
        <p:spPr>
          <a:xfrm>
            <a:off x="0" y="6623999"/>
            <a:ext cx="12192119" cy="234000"/>
          </a:xfrm>
          <a:prstGeom prst="rect">
            <a:avLst/>
          </a:prstGeom>
          <a:solidFill>
            <a:srgbClr val="070C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2119" cy="180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20000" y="288000"/>
            <a:ext cx="10440000" cy="432000"/>
          </a:xfrm>
          <a:prstGeom prst="rect">
            <a:avLst/>
          </a:prstGeom>
          <a:noFill/>
        </p:spPr>
        <p:txBody>
          <a:bodyPr wrap="square">
            <a:spAutoFit/>
          </a:bodyPr>
          <a:lstStyle/>
          <a:p>
            <a:pPr algn="l"/>
            <a:r>
              <a:rPr sz="2400" b="1">
                <a:solidFill>
                  <a:srgbClr val="F8FAFC"/>
                </a:solidFill>
              </a:rPr>
              <a:t>目的・対象に応じたAIプログラムの区分分け</a:t>
            </a:r>
          </a:p>
        </p:txBody>
      </p:sp>
      <p:sp>
        <p:nvSpPr>
          <p:cNvPr id="4" name="Rectangle 3"/>
          <p:cNvSpPr/>
          <p:nvPr/>
        </p:nvSpPr>
        <p:spPr>
          <a:xfrm>
            <a:off x="0" y="756000"/>
            <a:ext cx="12192119" cy="288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20000" y="1152000"/>
            <a:ext cx="2628000" cy="3600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8000" y="1296000"/>
            <a:ext cx="432000" cy="432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8FAFC"/>
                </a:solidFill>
              </a:rPr>
              <a:t>①</a:t>
            </a:r>
          </a:p>
        </p:txBody>
      </p:sp>
      <p:sp>
        <p:nvSpPr>
          <p:cNvPr id="7" name="TextBox 6"/>
          <p:cNvSpPr txBox="1"/>
          <p:nvPr/>
        </p:nvSpPr>
        <p:spPr>
          <a:xfrm>
            <a:off x="828000" y="1836000"/>
            <a:ext cx="2412000" cy="503999"/>
          </a:xfrm>
          <a:prstGeom prst="rect">
            <a:avLst/>
          </a:prstGeom>
          <a:noFill/>
        </p:spPr>
        <p:txBody>
          <a:bodyPr wrap="square">
            <a:spAutoFit/>
          </a:bodyPr>
          <a:lstStyle/>
          <a:p>
            <a:pPr algn="l"/>
            <a:r>
              <a:rPr sz="1700" b="1">
                <a:solidFill>
                  <a:srgbClr val="F8FAFC"/>
                </a:solidFill>
              </a:rPr>
              <a:t>本人・家族</a:t>
            </a:r>
          </a:p>
        </p:txBody>
      </p:sp>
      <p:sp>
        <p:nvSpPr>
          <p:cNvPr id="8" name="TextBox 7"/>
          <p:cNvSpPr txBox="1"/>
          <p:nvPr/>
        </p:nvSpPr>
        <p:spPr>
          <a:xfrm>
            <a:off x="828000" y="2412000"/>
            <a:ext cx="2412000" cy="1080000"/>
          </a:xfrm>
          <a:prstGeom prst="rect">
            <a:avLst/>
          </a:prstGeom>
          <a:noFill/>
        </p:spPr>
        <p:txBody>
          <a:bodyPr wrap="square">
            <a:spAutoFit/>
          </a:bodyPr>
          <a:lstStyle/>
          <a:p>
            <a:pPr algn="l"/>
            <a:r>
              <a:rPr sz="1300" b="0">
                <a:solidFill>
                  <a:srgbClr val="94A3B8"/>
                </a:solidFill>
              </a:rPr>
              <a:t>QOLの向上と将来への安心</a:t>
            </a:r>
          </a:p>
        </p:txBody>
      </p:sp>
      <p:sp>
        <p:nvSpPr>
          <p:cNvPr id="9" name="Rectangle 8"/>
          <p:cNvSpPr/>
          <p:nvPr/>
        </p:nvSpPr>
        <p:spPr>
          <a:xfrm>
            <a:off x="3528000" y="1152000"/>
            <a:ext cx="2628000" cy="3600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36000" y="1296000"/>
            <a:ext cx="432000" cy="432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8FAFC"/>
                </a:solidFill>
              </a:rPr>
              <a:t>②</a:t>
            </a:r>
          </a:p>
        </p:txBody>
      </p:sp>
      <p:sp>
        <p:nvSpPr>
          <p:cNvPr id="11" name="TextBox 10"/>
          <p:cNvSpPr txBox="1"/>
          <p:nvPr/>
        </p:nvSpPr>
        <p:spPr>
          <a:xfrm>
            <a:off x="3636000" y="1836000"/>
            <a:ext cx="2412000" cy="503999"/>
          </a:xfrm>
          <a:prstGeom prst="rect">
            <a:avLst/>
          </a:prstGeom>
          <a:noFill/>
        </p:spPr>
        <p:txBody>
          <a:bodyPr wrap="square">
            <a:spAutoFit/>
          </a:bodyPr>
          <a:lstStyle/>
          <a:p>
            <a:pPr algn="l"/>
            <a:r>
              <a:rPr sz="1700" b="1">
                <a:solidFill>
                  <a:srgbClr val="F8FAFC"/>
                </a:solidFill>
              </a:rPr>
              <a:t>福祉事業所</a:t>
            </a:r>
          </a:p>
        </p:txBody>
      </p:sp>
      <p:sp>
        <p:nvSpPr>
          <p:cNvPr id="12" name="TextBox 11"/>
          <p:cNvSpPr txBox="1"/>
          <p:nvPr/>
        </p:nvSpPr>
        <p:spPr>
          <a:xfrm>
            <a:off x="3636000" y="2412000"/>
            <a:ext cx="2412000" cy="1080000"/>
          </a:xfrm>
          <a:prstGeom prst="rect">
            <a:avLst/>
          </a:prstGeom>
          <a:noFill/>
        </p:spPr>
        <p:txBody>
          <a:bodyPr wrap="square">
            <a:spAutoFit/>
          </a:bodyPr>
          <a:lstStyle/>
          <a:p>
            <a:pPr algn="l"/>
            <a:r>
              <a:rPr sz="1300" b="0">
                <a:solidFill>
                  <a:srgbClr val="94A3B8"/>
                </a:solidFill>
              </a:rPr>
              <a:t>現場DXによる支援の質向上</a:t>
            </a:r>
          </a:p>
        </p:txBody>
      </p:sp>
      <p:sp>
        <p:nvSpPr>
          <p:cNvPr id="13" name="Rectangle 12"/>
          <p:cNvSpPr/>
          <p:nvPr/>
        </p:nvSpPr>
        <p:spPr>
          <a:xfrm>
            <a:off x="6336000" y="1152000"/>
            <a:ext cx="2628000" cy="3600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44000" y="1296000"/>
            <a:ext cx="432000" cy="432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8FAFC"/>
                </a:solidFill>
              </a:rPr>
              <a:t>③</a:t>
            </a:r>
          </a:p>
        </p:txBody>
      </p:sp>
      <p:sp>
        <p:nvSpPr>
          <p:cNvPr id="15" name="TextBox 14"/>
          <p:cNvSpPr txBox="1"/>
          <p:nvPr/>
        </p:nvSpPr>
        <p:spPr>
          <a:xfrm>
            <a:off x="6444000" y="1836000"/>
            <a:ext cx="2412000" cy="503999"/>
          </a:xfrm>
          <a:prstGeom prst="rect">
            <a:avLst/>
          </a:prstGeom>
          <a:noFill/>
        </p:spPr>
        <p:txBody>
          <a:bodyPr wrap="square">
            <a:spAutoFit/>
          </a:bodyPr>
          <a:lstStyle/>
          <a:p>
            <a:pPr algn="l"/>
            <a:r>
              <a:rPr sz="1700" b="1">
                <a:solidFill>
                  <a:srgbClr val="F8FAFC"/>
                </a:solidFill>
              </a:rPr>
              <a:t>児童・保護者</a:t>
            </a:r>
          </a:p>
        </p:txBody>
      </p:sp>
      <p:sp>
        <p:nvSpPr>
          <p:cNvPr id="16" name="TextBox 15"/>
          <p:cNvSpPr txBox="1"/>
          <p:nvPr/>
        </p:nvSpPr>
        <p:spPr>
          <a:xfrm>
            <a:off x="6444000" y="2412000"/>
            <a:ext cx="2412000" cy="1080000"/>
          </a:xfrm>
          <a:prstGeom prst="rect">
            <a:avLst/>
          </a:prstGeom>
          <a:noFill/>
        </p:spPr>
        <p:txBody>
          <a:bodyPr wrap="square">
            <a:spAutoFit/>
          </a:bodyPr>
          <a:lstStyle/>
          <a:p>
            <a:pPr algn="l"/>
            <a:r>
              <a:rPr sz="1300" b="0">
                <a:solidFill>
                  <a:srgbClr val="94A3B8"/>
                </a:solidFill>
              </a:rPr>
              <a:t>遊びを通じた早期の自己成長</a:t>
            </a:r>
          </a:p>
        </p:txBody>
      </p:sp>
      <p:sp>
        <p:nvSpPr>
          <p:cNvPr id="17" name="Rectangle 16"/>
          <p:cNvSpPr/>
          <p:nvPr/>
        </p:nvSpPr>
        <p:spPr>
          <a:xfrm>
            <a:off x="9144000" y="1152000"/>
            <a:ext cx="2628000" cy="3600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252000" y="1296000"/>
            <a:ext cx="432000" cy="432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8FAFC"/>
                </a:solidFill>
              </a:rPr>
              <a:t>④</a:t>
            </a:r>
          </a:p>
        </p:txBody>
      </p:sp>
      <p:sp>
        <p:nvSpPr>
          <p:cNvPr id="19" name="TextBox 18"/>
          <p:cNvSpPr txBox="1"/>
          <p:nvPr/>
        </p:nvSpPr>
        <p:spPr>
          <a:xfrm>
            <a:off x="9252000" y="1836000"/>
            <a:ext cx="2412000" cy="503999"/>
          </a:xfrm>
          <a:prstGeom prst="rect">
            <a:avLst/>
          </a:prstGeom>
          <a:noFill/>
        </p:spPr>
        <p:txBody>
          <a:bodyPr wrap="square">
            <a:spAutoFit/>
          </a:bodyPr>
          <a:lstStyle/>
          <a:p>
            <a:pPr algn="l"/>
            <a:r>
              <a:rPr sz="1700" b="1">
                <a:solidFill>
                  <a:srgbClr val="F8FAFC"/>
                </a:solidFill>
              </a:rPr>
              <a:t>教育・行政</a:t>
            </a:r>
          </a:p>
        </p:txBody>
      </p:sp>
      <p:sp>
        <p:nvSpPr>
          <p:cNvPr id="20" name="TextBox 19"/>
          <p:cNvSpPr txBox="1"/>
          <p:nvPr/>
        </p:nvSpPr>
        <p:spPr>
          <a:xfrm>
            <a:off x="9252000" y="2412000"/>
            <a:ext cx="2412000" cy="1080000"/>
          </a:xfrm>
          <a:prstGeom prst="rect">
            <a:avLst/>
          </a:prstGeom>
          <a:noFill/>
        </p:spPr>
        <p:txBody>
          <a:bodyPr wrap="square">
            <a:spAutoFit/>
          </a:bodyPr>
          <a:lstStyle/>
          <a:p>
            <a:pPr algn="l"/>
            <a:r>
              <a:rPr sz="1300" b="0">
                <a:solidFill>
                  <a:srgbClr val="94A3B8"/>
                </a:solidFill>
              </a:rPr>
              <a:t>地域モデル確立と政策的な連携</a:t>
            </a:r>
          </a:p>
        </p:txBody>
      </p:sp>
      <p:sp>
        <p:nvSpPr>
          <p:cNvPr id="21" name="Rectangle 20"/>
          <p:cNvSpPr/>
          <p:nvPr/>
        </p:nvSpPr>
        <p:spPr>
          <a:xfrm>
            <a:off x="0" y="6623999"/>
            <a:ext cx="12192119" cy="234000"/>
          </a:xfrm>
          <a:prstGeom prst="rect">
            <a:avLst/>
          </a:prstGeom>
          <a:solidFill>
            <a:srgbClr val="070C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2119" cy="180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20000" y="324000"/>
            <a:ext cx="3600000" cy="251999"/>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8FAFC"/>
                </a:solidFill>
              </a:rPr>
              <a:t>区分① 大人向け</a:t>
            </a:r>
          </a:p>
        </p:txBody>
      </p:sp>
      <p:sp>
        <p:nvSpPr>
          <p:cNvPr id="4" name="TextBox 3"/>
          <p:cNvSpPr txBox="1"/>
          <p:nvPr/>
        </p:nvSpPr>
        <p:spPr>
          <a:xfrm>
            <a:off x="720000" y="720000"/>
            <a:ext cx="10440000" cy="432000"/>
          </a:xfrm>
          <a:prstGeom prst="rect">
            <a:avLst/>
          </a:prstGeom>
          <a:noFill/>
        </p:spPr>
        <p:txBody>
          <a:bodyPr wrap="square">
            <a:spAutoFit/>
          </a:bodyPr>
          <a:lstStyle/>
          <a:p>
            <a:pPr algn="l"/>
            <a:r>
              <a:rPr sz="2600" b="1">
                <a:solidFill>
                  <a:srgbClr val="F8FAFC"/>
                </a:solidFill>
              </a:rPr>
              <a:t>障がい者本人・ご家族向けプログラム</a:t>
            </a:r>
          </a:p>
        </p:txBody>
      </p:sp>
      <p:sp>
        <p:nvSpPr>
          <p:cNvPr id="5" name="Rectangle 4"/>
          <p:cNvSpPr/>
          <p:nvPr/>
        </p:nvSpPr>
        <p:spPr>
          <a:xfrm>
            <a:off x="0" y="1188000"/>
            <a:ext cx="12192119" cy="288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1332000"/>
            <a:ext cx="10440000" cy="360000"/>
          </a:xfrm>
          <a:prstGeom prst="rect">
            <a:avLst/>
          </a:prstGeom>
          <a:noFill/>
        </p:spPr>
        <p:txBody>
          <a:bodyPr wrap="square">
            <a:spAutoFit/>
          </a:bodyPr>
          <a:lstStyle/>
          <a:p>
            <a:pPr algn="l"/>
            <a:r>
              <a:rPr sz="1600" b="1">
                <a:solidFill>
                  <a:srgbClr val="10B981"/>
                </a:solidFill>
              </a:rPr>
              <a:t>「我慢する毎日から、自分で未来を選ぶ毎日へ」</a:t>
            </a:r>
          </a:p>
        </p:txBody>
      </p:sp>
      <p:sp>
        <p:nvSpPr>
          <p:cNvPr id="7" name="Rectangle 6"/>
          <p:cNvSpPr/>
          <p:nvPr/>
        </p:nvSpPr>
        <p:spPr>
          <a:xfrm>
            <a:off x="720000" y="1872000"/>
            <a:ext cx="10440000" cy="1728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20000" y="1872000"/>
            <a:ext cx="72000" cy="1728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6000" y="2016000"/>
            <a:ext cx="10080000" cy="360000"/>
          </a:xfrm>
          <a:prstGeom prst="rect">
            <a:avLst/>
          </a:prstGeom>
          <a:noFill/>
        </p:spPr>
        <p:txBody>
          <a:bodyPr wrap="square">
            <a:spAutoFit/>
          </a:bodyPr>
          <a:lstStyle/>
          <a:p>
            <a:pPr algn="l"/>
            <a:r>
              <a:rPr sz="1600" b="1">
                <a:solidFill>
                  <a:srgbClr val="10B981"/>
                </a:solidFill>
              </a:rPr>
              <a:t>● 自律的な学習支援</a:t>
            </a:r>
          </a:p>
        </p:txBody>
      </p:sp>
      <p:sp>
        <p:nvSpPr>
          <p:cNvPr id="10" name="TextBox 9"/>
          <p:cNvSpPr txBox="1"/>
          <p:nvPr/>
        </p:nvSpPr>
        <p:spPr>
          <a:xfrm>
            <a:off x="936000" y="2412000"/>
            <a:ext cx="10080000" cy="1007999"/>
          </a:xfrm>
          <a:prstGeom prst="rect">
            <a:avLst/>
          </a:prstGeom>
          <a:noFill/>
        </p:spPr>
        <p:txBody>
          <a:bodyPr wrap="square">
            <a:spAutoFit/>
          </a:bodyPr>
          <a:lstStyle/>
          <a:p>
            <a:pPr algn="l"/>
            <a:r>
              <a:rPr sz="1300" b="0">
                <a:solidFill>
                  <a:srgbClr val="F8FAFC"/>
                </a:solidFill>
              </a:rPr>
              <a:t>AIがその日の体調や気分を察知し、最適な「自己トレーニングメニュー」を提案。
成功体験を積み重ね、自信を育みます。</a:t>
            </a:r>
          </a:p>
        </p:txBody>
      </p:sp>
      <p:sp>
        <p:nvSpPr>
          <p:cNvPr id="11" name="Rectangle 10"/>
          <p:cNvSpPr/>
          <p:nvPr/>
        </p:nvSpPr>
        <p:spPr>
          <a:xfrm>
            <a:off x="720000" y="3852000"/>
            <a:ext cx="10440000" cy="1728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0000" y="3852000"/>
            <a:ext cx="72000" cy="1728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6000" y="3996000"/>
            <a:ext cx="10080000" cy="360000"/>
          </a:xfrm>
          <a:prstGeom prst="rect">
            <a:avLst/>
          </a:prstGeom>
          <a:noFill/>
        </p:spPr>
        <p:txBody>
          <a:bodyPr wrap="square">
            <a:spAutoFit/>
          </a:bodyPr>
          <a:lstStyle/>
          <a:p>
            <a:pPr algn="l"/>
            <a:r>
              <a:rPr sz="1600" b="1">
                <a:solidFill>
                  <a:srgbClr val="10B981"/>
                </a:solidFill>
              </a:rPr>
              <a:t>● 家族の不安を安心に</a:t>
            </a:r>
          </a:p>
        </p:txBody>
      </p:sp>
      <p:sp>
        <p:nvSpPr>
          <p:cNvPr id="14" name="TextBox 13"/>
          <p:cNvSpPr txBox="1"/>
          <p:nvPr/>
        </p:nvSpPr>
        <p:spPr>
          <a:xfrm>
            <a:off x="936000" y="4392000"/>
            <a:ext cx="10080000" cy="1007999"/>
          </a:xfrm>
          <a:prstGeom prst="rect">
            <a:avLst/>
          </a:prstGeom>
          <a:noFill/>
        </p:spPr>
        <p:txBody>
          <a:bodyPr wrap="square">
            <a:spAutoFit/>
          </a:bodyPr>
          <a:lstStyle/>
          <a:p>
            <a:pPr algn="l"/>
            <a:r>
              <a:rPr sz="1300" b="0">
                <a:solidFill>
                  <a:srgbClr val="F8FAFC"/>
                </a:solidFill>
              </a:rPr>
              <a:t>本人の「できた！」をリアルタイムに視覚化。
「親がいなくなってもこの子は大丈夫」と思える未来のお守りに。</a:t>
            </a:r>
          </a:p>
        </p:txBody>
      </p:sp>
      <p:sp>
        <p:nvSpPr>
          <p:cNvPr id="15" name="Rectangle 14"/>
          <p:cNvSpPr/>
          <p:nvPr/>
        </p:nvSpPr>
        <p:spPr>
          <a:xfrm>
            <a:off x="0" y="6623999"/>
            <a:ext cx="12192119" cy="234000"/>
          </a:xfrm>
          <a:prstGeom prst="rect">
            <a:avLst/>
          </a:prstGeom>
          <a:solidFill>
            <a:srgbClr val="070C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2119" cy="180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20000" y="324000"/>
            <a:ext cx="3600000" cy="251999"/>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8FAFC"/>
                </a:solidFill>
              </a:rPr>
              <a:t>区分② 福祉事業所向け</a:t>
            </a:r>
          </a:p>
        </p:txBody>
      </p:sp>
      <p:sp>
        <p:nvSpPr>
          <p:cNvPr id="4" name="TextBox 3"/>
          <p:cNvSpPr txBox="1"/>
          <p:nvPr/>
        </p:nvSpPr>
        <p:spPr>
          <a:xfrm>
            <a:off x="720000" y="720000"/>
            <a:ext cx="10440000" cy="432000"/>
          </a:xfrm>
          <a:prstGeom prst="rect">
            <a:avLst/>
          </a:prstGeom>
          <a:noFill/>
        </p:spPr>
        <p:txBody>
          <a:bodyPr wrap="square">
            <a:spAutoFit/>
          </a:bodyPr>
          <a:lstStyle/>
          <a:p>
            <a:pPr algn="l"/>
            <a:r>
              <a:rPr sz="2600" b="1">
                <a:solidFill>
                  <a:srgbClr val="F8FAFC"/>
                </a:solidFill>
              </a:rPr>
              <a:t>福祉事業所・職員向けプログラム</a:t>
            </a:r>
          </a:p>
        </p:txBody>
      </p:sp>
      <p:sp>
        <p:nvSpPr>
          <p:cNvPr id="5" name="Rectangle 4"/>
          <p:cNvSpPr/>
          <p:nvPr/>
        </p:nvSpPr>
        <p:spPr>
          <a:xfrm>
            <a:off x="0" y="1188000"/>
            <a:ext cx="12192119" cy="288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1332000"/>
            <a:ext cx="10440000" cy="360000"/>
          </a:xfrm>
          <a:prstGeom prst="rect">
            <a:avLst/>
          </a:prstGeom>
          <a:noFill/>
        </p:spPr>
        <p:txBody>
          <a:bodyPr wrap="square">
            <a:spAutoFit/>
          </a:bodyPr>
          <a:lstStyle/>
          <a:p>
            <a:pPr algn="l"/>
            <a:r>
              <a:rPr sz="1600" b="1">
                <a:solidFill>
                  <a:srgbClr val="3B82F6"/>
                </a:solidFill>
              </a:rPr>
              <a:t>「事務作業をゼロにして、100%の愛を子どもたちへ」</a:t>
            </a:r>
          </a:p>
        </p:txBody>
      </p:sp>
      <p:sp>
        <p:nvSpPr>
          <p:cNvPr id="7" name="Rectangle 6"/>
          <p:cNvSpPr/>
          <p:nvPr/>
        </p:nvSpPr>
        <p:spPr>
          <a:xfrm>
            <a:off x="720000" y="1872000"/>
            <a:ext cx="10440000" cy="1728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20000" y="1872000"/>
            <a:ext cx="72000" cy="17280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6000" y="2016000"/>
            <a:ext cx="10080000" cy="360000"/>
          </a:xfrm>
          <a:prstGeom prst="rect">
            <a:avLst/>
          </a:prstGeom>
          <a:noFill/>
        </p:spPr>
        <p:txBody>
          <a:bodyPr wrap="square">
            <a:spAutoFit/>
          </a:bodyPr>
          <a:lstStyle/>
          <a:p>
            <a:pPr algn="l"/>
            <a:r>
              <a:rPr sz="1600" b="1">
                <a:solidFill>
                  <a:srgbClr val="3B82F6"/>
                </a:solidFill>
              </a:rPr>
              <a:t>● 現場の書類仕事を自動化</a:t>
            </a:r>
          </a:p>
        </p:txBody>
      </p:sp>
      <p:sp>
        <p:nvSpPr>
          <p:cNvPr id="10" name="TextBox 9"/>
          <p:cNvSpPr txBox="1"/>
          <p:nvPr/>
        </p:nvSpPr>
        <p:spPr>
          <a:xfrm>
            <a:off x="936000" y="2412000"/>
            <a:ext cx="10080000" cy="1007999"/>
          </a:xfrm>
          <a:prstGeom prst="rect">
            <a:avLst/>
          </a:prstGeom>
          <a:noFill/>
        </p:spPr>
        <p:txBody>
          <a:bodyPr wrap="square">
            <a:spAutoFit/>
          </a:bodyPr>
          <a:lstStyle/>
          <a:p>
            <a:pPr algn="l"/>
            <a:r>
              <a:rPr sz="1300" b="0">
                <a:solidFill>
                  <a:srgbClr val="F8FAFC"/>
                </a:solidFill>
              </a:rPr>
              <a:t>音声入力や日々のデータから、AIがプロ仕様の支援記録や報告書を秒速で自動作成。
残業を大幅削減。</a:t>
            </a:r>
          </a:p>
        </p:txBody>
      </p:sp>
      <p:sp>
        <p:nvSpPr>
          <p:cNvPr id="11" name="Rectangle 10"/>
          <p:cNvSpPr/>
          <p:nvPr/>
        </p:nvSpPr>
        <p:spPr>
          <a:xfrm>
            <a:off x="720000" y="3852000"/>
            <a:ext cx="10440000" cy="1728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0000" y="3852000"/>
            <a:ext cx="72000" cy="17280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6000" y="3996000"/>
            <a:ext cx="10080000" cy="360000"/>
          </a:xfrm>
          <a:prstGeom prst="rect">
            <a:avLst/>
          </a:prstGeom>
          <a:noFill/>
        </p:spPr>
        <p:txBody>
          <a:bodyPr wrap="square">
            <a:spAutoFit/>
          </a:bodyPr>
          <a:lstStyle/>
          <a:p>
            <a:pPr algn="l"/>
            <a:r>
              <a:rPr sz="1600" b="1">
                <a:solidFill>
                  <a:srgbClr val="3B82F6"/>
                </a:solidFill>
              </a:rPr>
              <a:t>● データ駆動型の支援</a:t>
            </a:r>
          </a:p>
        </p:txBody>
      </p:sp>
      <p:sp>
        <p:nvSpPr>
          <p:cNvPr id="14" name="TextBox 13"/>
          <p:cNvSpPr txBox="1"/>
          <p:nvPr/>
        </p:nvSpPr>
        <p:spPr>
          <a:xfrm>
            <a:off x="936000" y="4392000"/>
            <a:ext cx="10080000" cy="1007999"/>
          </a:xfrm>
          <a:prstGeom prst="rect">
            <a:avLst/>
          </a:prstGeom>
          <a:noFill/>
        </p:spPr>
        <p:txBody>
          <a:bodyPr wrap="square">
            <a:spAutoFit/>
          </a:bodyPr>
          <a:lstStyle/>
          <a:p>
            <a:pPr algn="l"/>
            <a:r>
              <a:rPr sz="1300" b="0">
                <a:solidFill>
                  <a:srgbClr val="F8FAFC"/>
                </a:solidFill>
              </a:rPr>
              <a:t>経験則だけに頼らず、AIによる客観的な行動データ分析に基づいた、
より質の高い個別支援計画の策定をサポート。</a:t>
            </a:r>
          </a:p>
        </p:txBody>
      </p:sp>
      <p:sp>
        <p:nvSpPr>
          <p:cNvPr id="15" name="Rectangle 14"/>
          <p:cNvSpPr/>
          <p:nvPr/>
        </p:nvSpPr>
        <p:spPr>
          <a:xfrm>
            <a:off x="0" y="6623999"/>
            <a:ext cx="12192119" cy="234000"/>
          </a:xfrm>
          <a:prstGeom prst="rect">
            <a:avLst/>
          </a:prstGeom>
          <a:solidFill>
            <a:srgbClr val="070C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2119" cy="180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20000" y="324000"/>
            <a:ext cx="3600000" cy="251999"/>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8FAFC"/>
                </a:solidFill>
              </a:rPr>
              <a:t>区分③ 児童・保護者向け</a:t>
            </a:r>
          </a:p>
        </p:txBody>
      </p:sp>
      <p:sp>
        <p:nvSpPr>
          <p:cNvPr id="4" name="TextBox 3"/>
          <p:cNvSpPr txBox="1"/>
          <p:nvPr/>
        </p:nvSpPr>
        <p:spPr>
          <a:xfrm>
            <a:off x="720000" y="720000"/>
            <a:ext cx="10440000" cy="432000"/>
          </a:xfrm>
          <a:prstGeom prst="rect">
            <a:avLst/>
          </a:prstGeom>
          <a:noFill/>
        </p:spPr>
        <p:txBody>
          <a:bodyPr wrap="square">
            <a:spAutoFit/>
          </a:bodyPr>
          <a:lstStyle/>
          <a:p>
            <a:pPr algn="l"/>
            <a:r>
              <a:rPr sz="2600" b="1">
                <a:solidFill>
                  <a:srgbClr val="F8FAFC"/>
                </a:solidFill>
              </a:rPr>
              <a:t>児童・保護者向けプログラム</a:t>
            </a:r>
          </a:p>
        </p:txBody>
      </p:sp>
      <p:sp>
        <p:nvSpPr>
          <p:cNvPr id="5" name="Rectangle 4"/>
          <p:cNvSpPr/>
          <p:nvPr/>
        </p:nvSpPr>
        <p:spPr>
          <a:xfrm>
            <a:off x="0" y="1188000"/>
            <a:ext cx="12192119" cy="288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1332000"/>
            <a:ext cx="10440000" cy="360000"/>
          </a:xfrm>
          <a:prstGeom prst="rect">
            <a:avLst/>
          </a:prstGeom>
          <a:noFill/>
        </p:spPr>
        <p:txBody>
          <a:bodyPr wrap="square">
            <a:spAutoFit/>
          </a:bodyPr>
          <a:lstStyle/>
          <a:p>
            <a:pPr algn="l"/>
            <a:r>
              <a:rPr sz="1600" b="1">
                <a:solidFill>
                  <a:srgbClr val="10B981"/>
                </a:solidFill>
              </a:rPr>
              <a:t>「遊びながら、自分の「好き」と「得意」を見つける旅へ」</a:t>
            </a:r>
          </a:p>
        </p:txBody>
      </p:sp>
      <p:sp>
        <p:nvSpPr>
          <p:cNvPr id="7" name="Rectangle 6"/>
          <p:cNvSpPr/>
          <p:nvPr/>
        </p:nvSpPr>
        <p:spPr>
          <a:xfrm>
            <a:off x="720000" y="1872000"/>
            <a:ext cx="10440000" cy="1728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20000" y="1872000"/>
            <a:ext cx="72000" cy="1728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6000" y="2016000"/>
            <a:ext cx="10080000" cy="360000"/>
          </a:xfrm>
          <a:prstGeom prst="rect">
            <a:avLst/>
          </a:prstGeom>
          <a:noFill/>
        </p:spPr>
        <p:txBody>
          <a:bodyPr wrap="square">
            <a:spAutoFit/>
          </a:bodyPr>
          <a:lstStyle/>
          <a:p>
            <a:pPr algn="l"/>
            <a:r>
              <a:rPr sz="1600" b="1">
                <a:solidFill>
                  <a:srgbClr val="10B981"/>
                </a:solidFill>
              </a:rPr>
              <a:t>● ゲーム感覚の自己発見</a:t>
            </a:r>
          </a:p>
        </p:txBody>
      </p:sp>
      <p:sp>
        <p:nvSpPr>
          <p:cNvPr id="10" name="TextBox 9"/>
          <p:cNvSpPr txBox="1"/>
          <p:nvPr/>
        </p:nvSpPr>
        <p:spPr>
          <a:xfrm>
            <a:off x="936000" y="2412000"/>
            <a:ext cx="10080000" cy="1007999"/>
          </a:xfrm>
          <a:prstGeom prst="rect">
            <a:avLst/>
          </a:prstGeom>
          <a:noFill/>
        </p:spPr>
        <p:txBody>
          <a:bodyPr wrap="square">
            <a:spAutoFit/>
          </a:bodyPr>
          <a:lstStyle/>
          <a:p>
            <a:pPr algn="l"/>
            <a:r>
              <a:rPr sz="1300" b="0">
                <a:solidFill>
                  <a:srgbClr val="F8FAFC"/>
                </a:solidFill>
              </a:rPr>
              <a:t>AIとの対話や楽しいミッションを通じて、子ども自身が自分の興味・強みを自然に言語化。
親が気づけなかった才能の発見にも。</a:t>
            </a:r>
          </a:p>
        </p:txBody>
      </p:sp>
      <p:sp>
        <p:nvSpPr>
          <p:cNvPr id="11" name="Rectangle 10"/>
          <p:cNvSpPr/>
          <p:nvPr/>
        </p:nvSpPr>
        <p:spPr>
          <a:xfrm>
            <a:off x="720000" y="3852000"/>
            <a:ext cx="10440000" cy="1728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0000" y="3852000"/>
            <a:ext cx="72000" cy="1728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6000" y="3996000"/>
            <a:ext cx="10080000" cy="360000"/>
          </a:xfrm>
          <a:prstGeom prst="rect">
            <a:avLst/>
          </a:prstGeom>
          <a:noFill/>
        </p:spPr>
        <p:txBody>
          <a:bodyPr wrap="square">
            <a:spAutoFit/>
          </a:bodyPr>
          <a:lstStyle/>
          <a:p>
            <a:pPr algn="l"/>
            <a:r>
              <a:rPr sz="1600" b="1">
                <a:solidFill>
                  <a:srgbClr val="10B981"/>
                </a:solidFill>
              </a:rPr>
              <a:t>● 保護者の「一人で抱え込まない」を実現</a:t>
            </a:r>
          </a:p>
        </p:txBody>
      </p:sp>
      <p:sp>
        <p:nvSpPr>
          <p:cNvPr id="14" name="TextBox 13"/>
          <p:cNvSpPr txBox="1"/>
          <p:nvPr/>
        </p:nvSpPr>
        <p:spPr>
          <a:xfrm>
            <a:off x="936000" y="4392000"/>
            <a:ext cx="10080000" cy="1007999"/>
          </a:xfrm>
          <a:prstGeom prst="rect">
            <a:avLst/>
          </a:prstGeom>
          <a:noFill/>
        </p:spPr>
        <p:txBody>
          <a:bodyPr wrap="square">
            <a:spAutoFit/>
          </a:bodyPr>
          <a:lstStyle/>
          <a:p>
            <a:pPr algn="l"/>
            <a:r>
              <a:rPr sz="1300" b="0">
                <a:solidFill>
                  <a:srgbClr val="F8FAFC"/>
                </a:solidFill>
              </a:rPr>
              <a:t>AIが日々の記録から学習し、「今日試してみてほしいこと」を保護者にそっとアドバイス。
孤独な子育てを、チームでのサポートに。</a:t>
            </a:r>
          </a:p>
        </p:txBody>
      </p:sp>
      <p:sp>
        <p:nvSpPr>
          <p:cNvPr id="15" name="Rectangle 14"/>
          <p:cNvSpPr/>
          <p:nvPr/>
        </p:nvSpPr>
        <p:spPr>
          <a:xfrm>
            <a:off x="0" y="6623999"/>
            <a:ext cx="12192119" cy="234000"/>
          </a:xfrm>
          <a:prstGeom prst="rect">
            <a:avLst/>
          </a:prstGeom>
          <a:solidFill>
            <a:srgbClr val="070C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2119" cy="180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20000" y="324000"/>
            <a:ext cx="3600000" cy="251999"/>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8FAFC"/>
                </a:solidFill>
              </a:rPr>
              <a:t>区分④ 教育・行政向け</a:t>
            </a:r>
          </a:p>
        </p:txBody>
      </p:sp>
      <p:sp>
        <p:nvSpPr>
          <p:cNvPr id="4" name="TextBox 3"/>
          <p:cNvSpPr txBox="1"/>
          <p:nvPr/>
        </p:nvSpPr>
        <p:spPr>
          <a:xfrm>
            <a:off x="720000" y="720000"/>
            <a:ext cx="10440000" cy="432000"/>
          </a:xfrm>
          <a:prstGeom prst="rect">
            <a:avLst/>
          </a:prstGeom>
          <a:noFill/>
        </p:spPr>
        <p:txBody>
          <a:bodyPr wrap="square">
            <a:spAutoFit/>
          </a:bodyPr>
          <a:lstStyle/>
          <a:p>
            <a:pPr algn="l"/>
            <a:r>
              <a:rPr sz="2600" b="1">
                <a:solidFill>
                  <a:srgbClr val="F8FAFC"/>
                </a:solidFill>
              </a:rPr>
              <a:t>教育機関・行政向けプログラム</a:t>
            </a:r>
          </a:p>
        </p:txBody>
      </p:sp>
      <p:sp>
        <p:nvSpPr>
          <p:cNvPr id="5" name="Rectangle 4"/>
          <p:cNvSpPr/>
          <p:nvPr/>
        </p:nvSpPr>
        <p:spPr>
          <a:xfrm>
            <a:off x="0" y="1188000"/>
            <a:ext cx="12192119" cy="288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1332000"/>
            <a:ext cx="10440000" cy="360000"/>
          </a:xfrm>
          <a:prstGeom prst="rect">
            <a:avLst/>
          </a:prstGeom>
          <a:noFill/>
        </p:spPr>
        <p:txBody>
          <a:bodyPr wrap="square">
            <a:spAutoFit/>
          </a:bodyPr>
          <a:lstStyle/>
          <a:p>
            <a:pPr algn="l"/>
            <a:r>
              <a:rPr sz="1600" b="1">
                <a:solidFill>
                  <a:srgbClr val="10B981"/>
                </a:solidFill>
              </a:rPr>
              <a:t>「データで語る、多治見モデルを全国へ」</a:t>
            </a:r>
          </a:p>
        </p:txBody>
      </p:sp>
      <p:sp>
        <p:nvSpPr>
          <p:cNvPr id="7" name="Rectangle 6"/>
          <p:cNvSpPr/>
          <p:nvPr/>
        </p:nvSpPr>
        <p:spPr>
          <a:xfrm>
            <a:off x="720000" y="1872000"/>
            <a:ext cx="10440000" cy="1728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20000" y="1872000"/>
            <a:ext cx="72000" cy="1728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6000" y="2016000"/>
            <a:ext cx="10080000" cy="360000"/>
          </a:xfrm>
          <a:prstGeom prst="rect">
            <a:avLst/>
          </a:prstGeom>
          <a:noFill/>
        </p:spPr>
        <p:txBody>
          <a:bodyPr wrap="square">
            <a:spAutoFit/>
          </a:bodyPr>
          <a:lstStyle/>
          <a:p>
            <a:pPr algn="l"/>
            <a:r>
              <a:rPr sz="1600" b="1">
                <a:solidFill>
                  <a:srgbClr val="10B981"/>
                </a:solidFill>
              </a:rPr>
              <a:t>● 地域全体の支援データを可視化</a:t>
            </a:r>
          </a:p>
        </p:txBody>
      </p:sp>
      <p:sp>
        <p:nvSpPr>
          <p:cNvPr id="10" name="TextBox 9"/>
          <p:cNvSpPr txBox="1"/>
          <p:nvPr/>
        </p:nvSpPr>
        <p:spPr>
          <a:xfrm>
            <a:off x="936000" y="2412000"/>
            <a:ext cx="10080000" cy="1007999"/>
          </a:xfrm>
          <a:prstGeom prst="rect">
            <a:avLst/>
          </a:prstGeom>
          <a:noFill/>
        </p:spPr>
        <p:txBody>
          <a:bodyPr wrap="square">
            <a:spAutoFit/>
          </a:bodyPr>
          <a:lstStyle/>
          <a:p>
            <a:pPr algn="l"/>
            <a:r>
              <a:rPr sz="1300" b="0">
                <a:solidFill>
                  <a:srgbClr val="F8FAFC"/>
                </a:solidFill>
              </a:rPr>
              <a:t>匿名化された支援実績・就労データをダッシュボードで一元管理。
福祉政策の立案に活用できる「エビデンス」を提供。</a:t>
            </a:r>
          </a:p>
        </p:txBody>
      </p:sp>
      <p:sp>
        <p:nvSpPr>
          <p:cNvPr id="11" name="Rectangle 10"/>
          <p:cNvSpPr/>
          <p:nvPr/>
        </p:nvSpPr>
        <p:spPr>
          <a:xfrm>
            <a:off x="720000" y="3852000"/>
            <a:ext cx="10440000" cy="1728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20000" y="3852000"/>
            <a:ext cx="72000" cy="1728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6000" y="3996000"/>
            <a:ext cx="10080000" cy="360000"/>
          </a:xfrm>
          <a:prstGeom prst="rect">
            <a:avLst/>
          </a:prstGeom>
          <a:noFill/>
        </p:spPr>
        <p:txBody>
          <a:bodyPr wrap="square">
            <a:spAutoFit/>
          </a:bodyPr>
          <a:lstStyle/>
          <a:p>
            <a:pPr algn="l"/>
            <a:r>
              <a:rPr sz="1600" b="1">
                <a:solidFill>
                  <a:srgbClr val="10B981"/>
                </a:solidFill>
              </a:rPr>
              <a:t>● 全国展開への橋渡し</a:t>
            </a:r>
          </a:p>
        </p:txBody>
      </p:sp>
      <p:sp>
        <p:nvSpPr>
          <p:cNvPr id="14" name="TextBox 13"/>
          <p:cNvSpPr txBox="1"/>
          <p:nvPr/>
        </p:nvSpPr>
        <p:spPr>
          <a:xfrm>
            <a:off x="936000" y="4392000"/>
            <a:ext cx="10080000" cy="1007999"/>
          </a:xfrm>
          <a:prstGeom prst="rect">
            <a:avLst/>
          </a:prstGeom>
          <a:noFill/>
        </p:spPr>
        <p:txBody>
          <a:bodyPr wrap="square">
            <a:spAutoFit/>
          </a:bodyPr>
          <a:lstStyle/>
          <a:p>
            <a:pPr algn="l"/>
            <a:r>
              <a:rPr sz="1300" b="0">
                <a:solidFill>
                  <a:srgbClr val="F8FAFC"/>
                </a:solidFill>
              </a:rPr>
              <a:t>多治見で実証されたモデルをパッケージ化し、他自治体へのライセンス展開を目指します。
東濃信用金庫様との連携実績が全国への説得力に。</a:t>
            </a:r>
          </a:p>
        </p:txBody>
      </p:sp>
      <p:sp>
        <p:nvSpPr>
          <p:cNvPr id="15" name="Rectangle 14"/>
          <p:cNvSpPr/>
          <p:nvPr/>
        </p:nvSpPr>
        <p:spPr>
          <a:xfrm>
            <a:off x="0" y="6623999"/>
            <a:ext cx="12192119" cy="234000"/>
          </a:xfrm>
          <a:prstGeom prst="rect">
            <a:avLst/>
          </a:prstGeom>
          <a:solidFill>
            <a:srgbClr val="070C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2119" cy="1800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20000" y="324000"/>
            <a:ext cx="3600000" cy="251999"/>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8FAFC"/>
                </a:solidFill>
              </a:rPr>
              <a:t>東濃信用金庫様へのご提案</a:t>
            </a:r>
          </a:p>
        </p:txBody>
      </p:sp>
      <p:sp>
        <p:nvSpPr>
          <p:cNvPr id="4" name="TextBox 3"/>
          <p:cNvSpPr txBox="1"/>
          <p:nvPr/>
        </p:nvSpPr>
        <p:spPr>
          <a:xfrm>
            <a:off x="720000" y="720000"/>
            <a:ext cx="10440000" cy="432000"/>
          </a:xfrm>
          <a:prstGeom prst="rect">
            <a:avLst/>
          </a:prstGeom>
          <a:noFill/>
        </p:spPr>
        <p:txBody>
          <a:bodyPr wrap="square">
            <a:spAutoFit/>
          </a:bodyPr>
          <a:lstStyle/>
          <a:p>
            <a:pPr algn="l"/>
            <a:r>
              <a:rPr sz="2800" b="1">
                <a:solidFill>
                  <a:srgbClr val="F8FAFC"/>
                </a:solidFill>
              </a:rPr>
              <a:t>地域の未来を、一緒に作りませんか</a:t>
            </a:r>
          </a:p>
        </p:txBody>
      </p:sp>
      <p:sp>
        <p:nvSpPr>
          <p:cNvPr id="5" name="Rectangle 4"/>
          <p:cNvSpPr/>
          <p:nvPr/>
        </p:nvSpPr>
        <p:spPr>
          <a:xfrm>
            <a:off x="0" y="1188000"/>
            <a:ext cx="12192119" cy="288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1332000"/>
            <a:ext cx="7200000" cy="324000"/>
          </a:xfrm>
          <a:prstGeom prst="rect">
            <a:avLst/>
          </a:prstGeom>
          <a:noFill/>
        </p:spPr>
        <p:txBody>
          <a:bodyPr wrap="square">
            <a:spAutoFit/>
          </a:bodyPr>
          <a:lstStyle/>
          <a:p>
            <a:pPr algn="l"/>
            <a:r>
              <a:rPr sz="1600" b="1">
                <a:solidFill>
                  <a:srgbClr val="3B82F6"/>
                </a:solidFill>
              </a:rPr>
              <a:t>スポンサーとしてご参画いただくと</a:t>
            </a:r>
          </a:p>
        </p:txBody>
      </p:sp>
      <p:sp>
        <p:nvSpPr>
          <p:cNvPr id="7" name="Rectangle 6"/>
          <p:cNvSpPr/>
          <p:nvPr/>
        </p:nvSpPr>
        <p:spPr>
          <a:xfrm>
            <a:off x="720000" y="1872000"/>
            <a:ext cx="125999" cy="125999"/>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2000" y="1764000"/>
            <a:ext cx="7200000" cy="503999"/>
          </a:xfrm>
          <a:prstGeom prst="rect">
            <a:avLst/>
          </a:prstGeom>
          <a:noFill/>
        </p:spPr>
        <p:txBody>
          <a:bodyPr wrap="square">
            <a:spAutoFit/>
          </a:bodyPr>
          <a:lstStyle/>
          <a:p>
            <a:pPr algn="l"/>
            <a:r>
              <a:rPr sz="1400" b="0">
                <a:solidFill>
                  <a:srgbClr val="F8FAFC"/>
                </a:solidFill>
              </a:rPr>
              <a:t>Readyforクラウドファンディングの手数料（通常8%）が無料に</a:t>
            </a:r>
          </a:p>
        </p:txBody>
      </p:sp>
      <p:sp>
        <p:nvSpPr>
          <p:cNvPr id="9" name="Rectangle 8"/>
          <p:cNvSpPr/>
          <p:nvPr/>
        </p:nvSpPr>
        <p:spPr>
          <a:xfrm>
            <a:off x="720000" y="2430000"/>
            <a:ext cx="125999" cy="125999"/>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2000" y="2322000"/>
            <a:ext cx="7200000" cy="503999"/>
          </a:xfrm>
          <a:prstGeom prst="rect">
            <a:avLst/>
          </a:prstGeom>
          <a:noFill/>
        </p:spPr>
        <p:txBody>
          <a:bodyPr wrap="square">
            <a:spAutoFit/>
          </a:bodyPr>
          <a:lstStyle/>
          <a:p>
            <a:pPr algn="l"/>
            <a:r>
              <a:rPr sz="1400" b="0">
                <a:solidFill>
                  <a:srgbClr val="F8FAFC"/>
                </a:solidFill>
              </a:rPr>
              <a:t>300万円の目標なら約24万円のコスト削減</a:t>
            </a:r>
          </a:p>
        </p:txBody>
      </p:sp>
      <p:sp>
        <p:nvSpPr>
          <p:cNvPr id="11" name="Rectangle 10"/>
          <p:cNvSpPr/>
          <p:nvPr/>
        </p:nvSpPr>
        <p:spPr>
          <a:xfrm>
            <a:off x="720000" y="2988000"/>
            <a:ext cx="125999" cy="125999"/>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2000" y="2880000"/>
            <a:ext cx="7200000" cy="503999"/>
          </a:xfrm>
          <a:prstGeom prst="rect">
            <a:avLst/>
          </a:prstGeom>
          <a:noFill/>
        </p:spPr>
        <p:txBody>
          <a:bodyPr wrap="square">
            <a:spAutoFit/>
          </a:bodyPr>
          <a:lstStyle/>
          <a:p>
            <a:pPr algn="l"/>
            <a:r>
              <a:rPr sz="1400" b="0">
                <a:solidFill>
                  <a:srgbClr val="F8FAFC"/>
                </a:solidFill>
              </a:rPr>
              <a:t>多治見発・地域貢献の先進事例として信金の名前を全国に発信</a:t>
            </a:r>
          </a:p>
        </p:txBody>
      </p:sp>
      <p:sp>
        <p:nvSpPr>
          <p:cNvPr id="13" name="Rectangle 12"/>
          <p:cNvSpPr/>
          <p:nvPr/>
        </p:nvSpPr>
        <p:spPr>
          <a:xfrm>
            <a:off x="720000" y="3546000"/>
            <a:ext cx="125999" cy="125999"/>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2000" y="3438000"/>
            <a:ext cx="7200000" cy="503999"/>
          </a:xfrm>
          <a:prstGeom prst="rect">
            <a:avLst/>
          </a:prstGeom>
          <a:noFill/>
        </p:spPr>
        <p:txBody>
          <a:bodyPr wrap="square">
            <a:spAutoFit/>
          </a:bodyPr>
          <a:lstStyle/>
          <a:p>
            <a:pPr algn="l"/>
            <a:r>
              <a:rPr sz="1400" b="0">
                <a:solidFill>
                  <a:srgbClr val="F8FAFC"/>
                </a:solidFill>
              </a:rPr>
              <a:t>地元企業・住民・福祉事業所との信頼関係構築</a:t>
            </a:r>
          </a:p>
        </p:txBody>
      </p:sp>
      <p:sp>
        <p:nvSpPr>
          <p:cNvPr id="15" name="Rectangle 14"/>
          <p:cNvSpPr/>
          <p:nvPr/>
        </p:nvSpPr>
        <p:spPr>
          <a:xfrm>
            <a:off x="8640000" y="1620000"/>
            <a:ext cx="2880000" cy="25200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0000" y="1980000"/>
            <a:ext cx="2880000" cy="540000"/>
          </a:xfrm>
          <a:prstGeom prst="rect">
            <a:avLst/>
          </a:prstGeom>
          <a:noFill/>
        </p:spPr>
        <p:txBody>
          <a:bodyPr wrap="square">
            <a:spAutoFit/>
          </a:bodyPr>
          <a:lstStyle/>
          <a:p>
            <a:pPr algn="ctr"/>
            <a:r>
              <a:rPr sz="3200" b="1">
                <a:solidFill>
                  <a:srgbClr val="F8FAFC"/>
                </a:solidFill>
              </a:rPr>
              <a:t>¥240,000</a:t>
            </a:r>
          </a:p>
        </p:txBody>
      </p:sp>
      <p:sp>
        <p:nvSpPr>
          <p:cNvPr id="17" name="TextBox 16"/>
          <p:cNvSpPr txBox="1"/>
          <p:nvPr/>
        </p:nvSpPr>
        <p:spPr>
          <a:xfrm>
            <a:off x="8640000" y="2700000"/>
            <a:ext cx="2880000" cy="540000"/>
          </a:xfrm>
          <a:prstGeom prst="rect">
            <a:avLst/>
          </a:prstGeom>
          <a:noFill/>
        </p:spPr>
        <p:txBody>
          <a:bodyPr wrap="square">
            <a:spAutoFit/>
          </a:bodyPr>
          <a:lstStyle/>
          <a:p>
            <a:pPr algn="ctr"/>
            <a:r>
              <a:rPr sz="1400" b="1">
                <a:solidFill>
                  <a:srgbClr val="F8FAFC"/>
                </a:solidFill>
              </a:rPr>
              <a:t>削減できる手数料</a:t>
            </a:r>
          </a:p>
        </p:txBody>
      </p:sp>
      <p:sp>
        <p:nvSpPr>
          <p:cNvPr id="18" name="Rectangle 17"/>
          <p:cNvSpPr/>
          <p:nvPr/>
        </p:nvSpPr>
        <p:spPr>
          <a:xfrm>
            <a:off x="0" y="6623999"/>
            <a:ext cx="12192119" cy="234000"/>
          </a:xfrm>
          <a:prstGeom prst="rect">
            <a:avLst/>
          </a:prstGeom>
          <a:solidFill>
            <a:srgbClr val="070C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2119" cy="1800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20000" y="324000"/>
            <a:ext cx="3600000" cy="251999"/>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8FAFC"/>
                </a:solidFill>
              </a:rPr>
              <a:t>東濃信用金庫様限定</a:t>
            </a:r>
          </a:p>
        </p:txBody>
      </p:sp>
      <p:sp>
        <p:nvSpPr>
          <p:cNvPr id="4" name="TextBox 3"/>
          <p:cNvSpPr txBox="1"/>
          <p:nvPr/>
        </p:nvSpPr>
        <p:spPr>
          <a:xfrm>
            <a:off x="720000" y="720000"/>
            <a:ext cx="10440000" cy="432000"/>
          </a:xfrm>
          <a:prstGeom prst="rect">
            <a:avLst/>
          </a:prstGeom>
          <a:noFill/>
        </p:spPr>
        <p:txBody>
          <a:bodyPr wrap="square">
            <a:spAutoFit/>
          </a:bodyPr>
          <a:lstStyle/>
          <a:p>
            <a:pPr algn="l"/>
            <a:r>
              <a:rPr sz="2800" b="1">
                <a:solidFill>
                  <a:srgbClr val="F8FAFC"/>
                </a:solidFill>
              </a:rPr>
              <a:t>スポンサー参画のメリット</a:t>
            </a:r>
          </a:p>
        </p:txBody>
      </p:sp>
      <p:sp>
        <p:nvSpPr>
          <p:cNvPr id="5" name="Rectangle 4"/>
          <p:cNvSpPr/>
          <p:nvPr/>
        </p:nvSpPr>
        <p:spPr>
          <a:xfrm>
            <a:off x="0" y="1188000"/>
            <a:ext cx="12192119" cy="288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20000" y="1440000"/>
            <a:ext cx="2628000" cy="3420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20000" y="1440000"/>
            <a:ext cx="2628000" cy="1080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4000" y="1691999"/>
            <a:ext cx="2340000" cy="432000"/>
          </a:xfrm>
          <a:prstGeom prst="rect">
            <a:avLst/>
          </a:prstGeom>
          <a:noFill/>
        </p:spPr>
        <p:txBody>
          <a:bodyPr wrap="square">
            <a:spAutoFit/>
          </a:bodyPr>
          <a:lstStyle/>
          <a:p>
            <a:pPr algn="l"/>
            <a:r>
              <a:rPr sz="1700" b="1">
                <a:solidFill>
                  <a:srgbClr val="3B82F6"/>
                </a:solidFill>
              </a:rPr>
              <a:t>ブランド価値</a:t>
            </a:r>
          </a:p>
        </p:txBody>
      </p:sp>
      <p:sp>
        <p:nvSpPr>
          <p:cNvPr id="9" name="TextBox 8"/>
          <p:cNvSpPr txBox="1"/>
          <p:nvPr/>
        </p:nvSpPr>
        <p:spPr>
          <a:xfrm>
            <a:off x="864000" y="2232000"/>
            <a:ext cx="2340000" cy="1800000"/>
          </a:xfrm>
          <a:prstGeom prst="rect">
            <a:avLst/>
          </a:prstGeom>
          <a:noFill/>
        </p:spPr>
        <p:txBody>
          <a:bodyPr wrap="square">
            <a:spAutoFit/>
          </a:bodyPr>
          <a:lstStyle/>
          <a:p>
            <a:pPr algn="l"/>
            <a:r>
              <a:rPr sz="1300" b="0">
                <a:solidFill>
                  <a:srgbClr val="F8FAFC"/>
                </a:solidFill>
              </a:rPr>
              <a:t>地域福祉DXのパイオニアとして
メディア・SNSで発信</a:t>
            </a:r>
          </a:p>
        </p:txBody>
      </p:sp>
      <p:sp>
        <p:nvSpPr>
          <p:cNvPr id="10" name="Rectangle 9"/>
          <p:cNvSpPr/>
          <p:nvPr/>
        </p:nvSpPr>
        <p:spPr>
          <a:xfrm>
            <a:off x="3528000" y="1440000"/>
            <a:ext cx="2628000" cy="3420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528000" y="1440000"/>
            <a:ext cx="2628000" cy="1080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72000" y="1691999"/>
            <a:ext cx="2340000" cy="432000"/>
          </a:xfrm>
          <a:prstGeom prst="rect">
            <a:avLst/>
          </a:prstGeom>
          <a:noFill/>
        </p:spPr>
        <p:txBody>
          <a:bodyPr wrap="square">
            <a:spAutoFit/>
          </a:bodyPr>
          <a:lstStyle/>
          <a:p>
            <a:pPr algn="l"/>
            <a:r>
              <a:rPr sz="1700" b="1">
                <a:solidFill>
                  <a:srgbClr val="3B82F6"/>
                </a:solidFill>
              </a:rPr>
              <a:t>地域連携</a:t>
            </a:r>
          </a:p>
        </p:txBody>
      </p:sp>
      <p:sp>
        <p:nvSpPr>
          <p:cNvPr id="13" name="TextBox 12"/>
          <p:cNvSpPr txBox="1"/>
          <p:nvPr/>
        </p:nvSpPr>
        <p:spPr>
          <a:xfrm>
            <a:off x="3672000" y="2232000"/>
            <a:ext cx="2340000" cy="1800000"/>
          </a:xfrm>
          <a:prstGeom prst="rect">
            <a:avLst/>
          </a:prstGeom>
          <a:noFill/>
        </p:spPr>
        <p:txBody>
          <a:bodyPr wrap="square">
            <a:spAutoFit/>
          </a:bodyPr>
          <a:lstStyle/>
          <a:p>
            <a:pPr algn="l"/>
            <a:r>
              <a:rPr sz="1300" b="0">
                <a:solidFill>
                  <a:srgbClr val="F8FAFC"/>
                </a:solidFill>
              </a:rPr>
              <a:t>福祉事業所・保護者・行政との
ネットワーク強化</a:t>
            </a:r>
          </a:p>
        </p:txBody>
      </p:sp>
      <p:sp>
        <p:nvSpPr>
          <p:cNvPr id="14" name="Rectangle 13"/>
          <p:cNvSpPr/>
          <p:nvPr/>
        </p:nvSpPr>
        <p:spPr>
          <a:xfrm>
            <a:off x="6336000" y="1440000"/>
            <a:ext cx="2628000" cy="3420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36000" y="1440000"/>
            <a:ext cx="2628000" cy="1080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80000" y="1691999"/>
            <a:ext cx="2340000" cy="432000"/>
          </a:xfrm>
          <a:prstGeom prst="rect">
            <a:avLst/>
          </a:prstGeom>
          <a:noFill/>
        </p:spPr>
        <p:txBody>
          <a:bodyPr wrap="square">
            <a:spAutoFit/>
          </a:bodyPr>
          <a:lstStyle/>
          <a:p>
            <a:pPr algn="l"/>
            <a:r>
              <a:rPr sz="1700" b="1">
                <a:solidFill>
                  <a:srgbClr val="3B82F6"/>
                </a:solidFill>
              </a:rPr>
              <a:t>PR効果</a:t>
            </a:r>
          </a:p>
        </p:txBody>
      </p:sp>
      <p:sp>
        <p:nvSpPr>
          <p:cNvPr id="17" name="TextBox 16"/>
          <p:cNvSpPr txBox="1"/>
          <p:nvPr/>
        </p:nvSpPr>
        <p:spPr>
          <a:xfrm>
            <a:off x="6480000" y="2232000"/>
            <a:ext cx="2340000" cy="1800000"/>
          </a:xfrm>
          <a:prstGeom prst="rect">
            <a:avLst/>
          </a:prstGeom>
          <a:noFill/>
        </p:spPr>
        <p:txBody>
          <a:bodyPr wrap="square">
            <a:spAutoFit/>
          </a:bodyPr>
          <a:lstStyle/>
          <a:p>
            <a:pPr algn="l"/>
            <a:r>
              <a:rPr sz="1300" b="0">
                <a:solidFill>
                  <a:srgbClr val="F8FAFC"/>
                </a:solidFill>
              </a:rPr>
              <a:t>アプリ内・クラファンページ・
広報資料への信金名掲載</a:t>
            </a:r>
          </a:p>
        </p:txBody>
      </p:sp>
      <p:sp>
        <p:nvSpPr>
          <p:cNvPr id="18" name="Rectangle 17"/>
          <p:cNvSpPr/>
          <p:nvPr/>
        </p:nvSpPr>
        <p:spPr>
          <a:xfrm>
            <a:off x="9144000" y="1440000"/>
            <a:ext cx="2628000" cy="3420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144000" y="1440000"/>
            <a:ext cx="2628000" cy="1080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88000" y="1691999"/>
            <a:ext cx="2340000" cy="432000"/>
          </a:xfrm>
          <a:prstGeom prst="rect">
            <a:avLst/>
          </a:prstGeom>
          <a:noFill/>
        </p:spPr>
        <p:txBody>
          <a:bodyPr wrap="square">
            <a:spAutoFit/>
          </a:bodyPr>
          <a:lstStyle/>
          <a:p>
            <a:pPr algn="l"/>
            <a:r>
              <a:rPr sz="1700" b="1">
                <a:solidFill>
                  <a:srgbClr val="3B82F6"/>
                </a:solidFill>
              </a:rPr>
              <a:t>社会貢献</a:t>
            </a:r>
          </a:p>
        </p:txBody>
      </p:sp>
      <p:sp>
        <p:nvSpPr>
          <p:cNvPr id="21" name="TextBox 20"/>
          <p:cNvSpPr txBox="1"/>
          <p:nvPr/>
        </p:nvSpPr>
        <p:spPr>
          <a:xfrm>
            <a:off x="9288000" y="2232000"/>
            <a:ext cx="2340000" cy="1800000"/>
          </a:xfrm>
          <a:prstGeom prst="rect">
            <a:avLst/>
          </a:prstGeom>
          <a:noFill/>
        </p:spPr>
        <p:txBody>
          <a:bodyPr wrap="square">
            <a:spAutoFit/>
          </a:bodyPr>
          <a:lstStyle/>
          <a:p>
            <a:pPr algn="l"/>
            <a:r>
              <a:rPr sz="1300" b="0">
                <a:solidFill>
                  <a:srgbClr val="F8FAFC"/>
                </a:solidFill>
              </a:rPr>
              <a:t>軽度知的障害者の就労支援という
ESG・CSRへの貢献</a:t>
            </a:r>
          </a:p>
        </p:txBody>
      </p:sp>
      <p:sp>
        <p:nvSpPr>
          <p:cNvPr id="22" name="Rectangle 21"/>
          <p:cNvSpPr/>
          <p:nvPr/>
        </p:nvSpPr>
        <p:spPr>
          <a:xfrm>
            <a:off x="0" y="6623999"/>
            <a:ext cx="12192119" cy="234000"/>
          </a:xfrm>
          <a:prstGeom prst="rect">
            <a:avLst/>
          </a:prstGeom>
          <a:solidFill>
            <a:srgbClr val="070C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2119" cy="1800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20000" y="324000"/>
            <a:ext cx="3600000" cy="251999"/>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8FAFC"/>
                </a:solidFill>
              </a:rPr>
              <a:t>制度のご説明</a:t>
            </a:r>
          </a:p>
        </p:txBody>
      </p:sp>
      <p:sp>
        <p:nvSpPr>
          <p:cNvPr id="4" name="TextBox 3"/>
          <p:cNvSpPr txBox="1"/>
          <p:nvPr/>
        </p:nvSpPr>
        <p:spPr>
          <a:xfrm>
            <a:off x="720000" y="720000"/>
            <a:ext cx="10440000" cy="432000"/>
          </a:xfrm>
          <a:prstGeom prst="rect">
            <a:avLst/>
          </a:prstGeom>
          <a:noFill/>
        </p:spPr>
        <p:txBody>
          <a:bodyPr wrap="square">
            <a:spAutoFit/>
          </a:bodyPr>
          <a:lstStyle/>
          <a:p>
            <a:pPr algn="l"/>
            <a:r>
              <a:rPr sz="2600" b="1">
                <a:solidFill>
                  <a:srgbClr val="F8FAFC"/>
                </a:solidFill>
              </a:rPr>
              <a:t>Readyfor × 信用金庫パートナープログラム</a:t>
            </a:r>
          </a:p>
        </p:txBody>
      </p:sp>
      <p:sp>
        <p:nvSpPr>
          <p:cNvPr id="5" name="Rectangle 4"/>
          <p:cNvSpPr/>
          <p:nvPr/>
        </p:nvSpPr>
        <p:spPr>
          <a:xfrm>
            <a:off x="0" y="1188000"/>
            <a:ext cx="12192119" cy="288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20000" y="1620000"/>
            <a:ext cx="4860000" cy="3240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20000" y="1620000"/>
            <a:ext cx="4860000" cy="125999"/>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0000" y="1835999"/>
            <a:ext cx="4500000" cy="360000"/>
          </a:xfrm>
          <a:prstGeom prst="rect">
            <a:avLst/>
          </a:prstGeom>
          <a:noFill/>
        </p:spPr>
        <p:txBody>
          <a:bodyPr wrap="square">
            <a:spAutoFit/>
          </a:bodyPr>
          <a:lstStyle/>
          <a:p>
            <a:pPr algn="l"/>
            <a:r>
              <a:rPr sz="1600" b="1">
                <a:solidFill>
                  <a:srgbClr val="EF4444"/>
                </a:solidFill>
              </a:rPr>
              <a:t>通常のクラウドファンディング</a:t>
            </a:r>
          </a:p>
        </p:txBody>
      </p:sp>
      <p:sp>
        <p:nvSpPr>
          <p:cNvPr id="9" name="TextBox 8"/>
          <p:cNvSpPr txBox="1"/>
          <p:nvPr/>
        </p:nvSpPr>
        <p:spPr>
          <a:xfrm>
            <a:off x="900000" y="2304000"/>
            <a:ext cx="4500000" cy="324000"/>
          </a:xfrm>
          <a:prstGeom prst="rect">
            <a:avLst/>
          </a:prstGeom>
          <a:noFill/>
        </p:spPr>
        <p:txBody>
          <a:bodyPr wrap="square">
            <a:spAutoFit/>
          </a:bodyPr>
          <a:lstStyle/>
          <a:p>
            <a:pPr algn="l"/>
            <a:r>
              <a:rPr sz="1400" b="0">
                <a:solidFill>
                  <a:srgbClr val="F8FAFC"/>
                </a:solidFill>
              </a:rPr>
              <a:t>手数料：目標金額の 8%</a:t>
            </a:r>
          </a:p>
        </p:txBody>
      </p:sp>
      <p:sp>
        <p:nvSpPr>
          <p:cNvPr id="10" name="TextBox 9"/>
          <p:cNvSpPr txBox="1"/>
          <p:nvPr/>
        </p:nvSpPr>
        <p:spPr>
          <a:xfrm>
            <a:off x="900000" y="2736000"/>
            <a:ext cx="4500000" cy="324000"/>
          </a:xfrm>
          <a:prstGeom prst="rect">
            <a:avLst/>
          </a:prstGeom>
          <a:noFill/>
        </p:spPr>
        <p:txBody>
          <a:bodyPr wrap="square">
            <a:spAutoFit/>
          </a:bodyPr>
          <a:lstStyle/>
          <a:p>
            <a:pPr algn="l"/>
            <a:r>
              <a:rPr sz="1400" b="0">
                <a:solidFill>
                  <a:srgbClr val="F8FAFC"/>
                </a:solidFill>
              </a:rPr>
              <a:t>300万円達成で 約24万円</a:t>
            </a:r>
          </a:p>
        </p:txBody>
      </p:sp>
      <p:sp>
        <p:nvSpPr>
          <p:cNvPr id="11" name="Rectangle 10"/>
          <p:cNvSpPr/>
          <p:nvPr/>
        </p:nvSpPr>
        <p:spPr>
          <a:xfrm>
            <a:off x="6480000" y="1620000"/>
            <a:ext cx="4860000" cy="3240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80000" y="1620000"/>
            <a:ext cx="4860000" cy="125999"/>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60000" y="1835999"/>
            <a:ext cx="4500000" cy="360000"/>
          </a:xfrm>
          <a:prstGeom prst="rect">
            <a:avLst/>
          </a:prstGeom>
          <a:noFill/>
        </p:spPr>
        <p:txBody>
          <a:bodyPr wrap="square">
            <a:spAutoFit/>
          </a:bodyPr>
          <a:lstStyle/>
          <a:p>
            <a:pPr algn="l"/>
            <a:r>
              <a:rPr sz="1600" b="1">
                <a:solidFill>
                  <a:srgbClr val="3B82F6"/>
                </a:solidFill>
              </a:rPr>
              <a:t>信用金庫パートナー参画後</a:t>
            </a:r>
          </a:p>
        </p:txBody>
      </p:sp>
      <p:sp>
        <p:nvSpPr>
          <p:cNvPr id="14" name="TextBox 13"/>
          <p:cNvSpPr txBox="1"/>
          <p:nvPr/>
        </p:nvSpPr>
        <p:spPr>
          <a:xfrm>
            <a:off x="6660000" y="2304000"/>
            <a:ext cx="4500000" cy="324000"/>
          </a:xfrm>
          <a:prstGeom prst="rect">
            <a:avLst/>
          </a:prstGeom>
          <a:noFill/>
        </p:spPr>
        <p:txBody>
          <a:bodyPr wrap="square">
            <a:spAutoFit/>
          </a:bodyPr>
          <a:lstStyle/>
          <a:p>
            <a:pPr algn="l"/>
            <a:r>
              <a:rPr sz="1400" b="0">
                <a:solidFill>
                  <a:srgbClr val="F8FAFC"/>
                </a:solidFill>
              </a:rPr>
              <a:t>手数料：0円（無料）</a:t>
            </a:r>
          </a:p>
        </p:txBody>
      </p:sp>
      <p:sp>
        <p:nvSpPr>
          <p:cNvPr id="15" name="TextBox 14"/>
          <p:cNvSpPr txBox="1"/>
          <p:nvPr/>
        </p:nvSpPr>
        <p:spPr>
          <a:xfrm>
            <a:off x="6660000" y="2736000"/>
            <a:ext cx="4500000" cy="324000"/>
          </a:xfrm>
          <a:prstGeom prst="rect">
            <a:avLst/>
          </a:prstGeom>
          <a:noFill/>
        </p:spPr>
        <p:txBody>
          <a:bodyPr wrap="square">
            <a:spAutoFit/>
          </a:bodyPr>
          <a:lstStyle/>
          <a:p>
            <a:pPr algn="l"/>
            <a:r>
              <a:rPr sz="1400" b="0">
                <a:solidFill>
                  <a:srgbClr val="F8FAFC"/>
                </a:solidFill>
              </a:rPr>
              <a:t>支援者から集まった全額がプロジェクトに</a:t>
            </a:r>
          </a:p>
        </p:txBody>
      </p:sp>
      <p:sp>
        <p:nvSpPr>
          <p:cNvPr id="16" name="TextBox 15"/>
          <p:cNvSpPr txBox="1"/>
          <p:nvPr/>
        </p:nvSpPr>
        <p:spPr>
          <a:xfrm>
            <a:off x="5472000" y="2700000"/>
            <a:ext cx="1080000" cy="720000"/>
          </a:xfrm>
          <a:prstGeom prst="rect">
            <a:avLst/>
          </a:prstGeom>
          <a:noFill/>
        </p:spPr>
        <p:txBody>
          <a:bodyPr wrap="square">
            <a:spAutoFit/>
          </a:bodyPr>
          <a:lstStyle/>
          <a:p>
            <a:pPr algn="ctr"/>
            <a:r>
              <a:rPr sz="4200" b="1">
                <a:solidFill>
                  <a:srgbClr val="10B981"/>
                </a:solidFill>
              </a:rPr>
              <a:t>→</a:t>
            </a:r>
          </a:p>
        </p:txBody>
      </p:sp>
      <p:sp>
        <p:nvSpPr>
          <p:cNvPr id="17" name="Rectangle 16"/>
          <p:cNvSpPr/>
          <p:nvPr/>
        </p:nvSpPr>
        <p:spPr>
          <a:xfrm>
            <a:off x="0" y="6623999"/>
            <a:ext cx="12192119" cy="234000"/>
          </a:xfrm>
          <a:prstGeom prst="rect">
            <a:avLst/>
          </a:prstGeom>
          <a:solidFill>
            <a:srgbClr val="070C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2119" cy="180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20000" y="324000"/>
            <a:ext cx="3600000" cy="251999"/>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F8FAFC"/>
                </a:solidFill>
              </a:rPr>
              <a:t>資金使途</a:t>
            </a:r>
          </a:p>
        </p:txBody>
      </p:sp>
      <p:sp>
        <p:nvSpPr>
          <p:cNvPr id="4" name="TextBox 3"/>
          <p:cNvSpPr txBox="1"/>
          <p:nvPr/>
        </p:nvSpPr>
        <p:spPr>
          <a:xfrm>
            <a:off x="720000" y="720000"/>
            <a:ext cx="10440000" cy="432000"/>
          </a:xfrm>
          <a:prstGeom prst="rect">
            <a:avLst/>
          </a:prstGeom>
          <a:noFill/>
        </p:spPr>
        <p:txBody>
          <a:bodyPr wrap="square">
            <a:spAutoFit/>
          </a:bodyPr>
          <a:lstStyle/>
          <a:p>
            <a:pPr algn="l"/>
            <a:r>
              <a:rPr sz="2600" b="1">
                <a:solidFill>
                  <a:srgbClr val="F8FAFC"/>
                </a:solidFill>
              </a:rPr>
              <a:t>クラウドファンディング 300万円の根拠</a:t>
            </a:r>
          </a:p>
        </p:txBody>
      </p:sp>
      <p:sp>
        <p:nvSpPr>
          <p:cNvPr id="5" name="Rectangle 4"/>
          <p:cNvSpPr/>
          <p:nvPr/>
        </p:nvSpPr>
        <p:spPr>
          <a:xfrm>
            <a:off x="0" y="1188000"/>
            <a:ext cx="12192119" cy="288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1332000"/>
            <a:ext cx="10440000" cy="540000"/>
          </a:xfrm>
          <a:prstGeom prst="rect">
            <a:avLst/>
          </a:prstGeom>
          <a:noFill/>
        </p:spPr>
        <p:txBody>
          <a:bodyPr wrap="square">
            <a:spAutoFit/>
          </a:bodyPr>
          <a:lstStyle/>
          <a:p>
            <a:pPr algn="ctr"/>
            <a:r>
              <a:rPr sz="3000" b="1">
                <a:solidFill>
                  <a:srgbClr val="10B981"/>
                </a:solidFill>
              </a:rPr>
              <a:t>エンジニア単価 80万円/月 × 3ヶ月 = 240万円 ＋ 運営費60万円 = 合計300万円</a:t>
            </a:r>
          </a:p>
        </p:txBody>
      </p:sp>
      <p:sp>
        <p:nvSpPr>
          <p:cNvPr id="7" name="TextBox 6"/>
          <p:cNvSpPr txBox="1"/>
          <p:nvPr/>
        </p:nvSpPr>
        <p:spPr>
          <a:xfrm>
            <a:off x="720000" y="1944000"/>
            <a:ext cx="10440000" cy="396000"/>
          </a:xfrm>
          <a:prstGeom prst="rect">
            <a:avLst/>
          </a:prstGeom>
          <a:noFill/>
        </p:spPr>
        <p:txBody>
          <a:bodyPr wrap="square">
            <a:spAutoFit/>
          </a:bodyPr>
          <a:lstStyle/>
          <a:p>
            <a:pPr algn="ctr"/>
            <a:r>
              <a:rPr sz="1200" b="0">
                <a:solidFill>
                  <a:srgbClr val="94A3B8"/>
                </a:solidFill>
              </a:rPr>
              <a:t>AI×福祉領域の専門エンジニアとして3ヶ月間フルコミット。失業給付期間を活用し、娘のため・地域のために命がけで開発します。</a:t>
            </a:r>
          </a:p>
        </p:txBody>
      </p:sp>
      <p:sp>
        <p:nvSpPr>
          <p:cNvPr id="8" name="Rectangle 7"/>
          <p:cNvSpPr/>
          <p:nvPr/>
        </p:nvSpPr>
        <p:spPr>
          <a:xfrm>
            <a:off x="720000" y="2286000"/>
            <a:ext cx="10620000" cy="198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l"/>
            <a:r>
              <a:rPr sz="1100" b="1">
                <a:solidFill>
                  <a:srgbClr val="F8FAFC"/>
                </a:solidFill>
              </a:rPr>
              <a:t>  項目                               金額            内容</a:t>
            </a:r>
          </a:p>
        </p:txBody>
      </p:sp>
      <p:sp>
        <p:nvSpPr>
          <p:cNvPr id="9" name="Rectangle 8"/>
          <p:cNvSpPr/>
          <p:nvPr/>
        </p:nvSpPr>
        <p:spPr>
          <a:xfrm>
            <a:off x="720000" y="2484000"/>
            <a:ext cx="10620000" cy="468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20000" y="2484000"/>
            <a:ext cx="64800" cy="468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0000" y="2538000"/>
            <a:ext cx="4320000" cy="360000"/>
          </a:xfrm>
          <a:prstGeom prst="rect">
            <a:avLst/>
          </a:prstGeom>
          <a:noFill/>
        </p:spPr>
        <p:txBody>
          <a:bodyPr wrap="square">
            <a:spAutoFit/>
          </a:bodyPr>
          <a:lstStyle/>
          <a:p>
            <a:pPr algn="l"/>
            <a:r>
              <a:rPr sz="1200" b="0">
                <a:solidFill>
                  <a:srgbClr val="F8FAFC"/>
                </a:solidFill>
              </a:rPr>
              <a:t>開発人件費（80万×3ヶ月）</a:t>
            </a:r>
          </a:p>
        </p:txBody>
      </p:sp>
      <p:sp>
        <p:nvSpPr>
          <p:cNvPr id="12" name="TextBox 11"/>
          <p:cNvSpPr txBox="1"/>
          <p:nvPr/>
        </p:nvSpPr>
        <p:spPr>
          <a:xfrm>
            <a:off x="5328000" y="2538000"/>
            <a:ext cx="1260000" cy="360000"/>
          </a:xfrm>
          <a:prstGeom prst="rect">
            <a:avLst/>
          </a:prstGeom>
          <a:noFill/>
        </p:spPr>
        <p:txBody>
          <a:bodyPr wrap="square">
            <a:spAutoFit/>
          </a:bodyPr>
          <a:lstStyle/>
          <a:p>
            <a:pPr algn="r"/>
            <a:r>
              <a:rPr sz="1200" b="1">
                <a:solidFill>
                  <a:srgbClr val="10B981"/>
                </a:solidFill>
              </a:rPr>
              <a:t>240万円</a:t>
            </a:r>
          </a:p>
        </p:txBody>
      </p:sp>
      <p:sp>
        <p:nvSpPr>
          <p:cNvPr id="13" name="TextBox 12"/>
          <p:cNvSpPr txBox="1"/>
          <p:nvPr/>
        </p:nvSpPr>
        <p:spPr>
          <a:xfrm>
            <a:off x="6840000" y="2538000"/>
            <a:ext cx="4320000" cy="360000"/>
          </a:xfrm>
          <a:prstGeom prst="rect">
            <a:avLst/>
          </a:prstGeom>
          <a:noFill/>
        </p:spPr>
        <p:txBody>
          <a:bodyPr wrap="square">
            <a:spAutoFit/>
          </a:bodyPr>
          <a:lstStyle/>
          <a:p>
            <a:pPr algn="l"/>
            <a:r>
              <a:rPr sz="1100" b="0">
                <a:solidFill>
                  <a:srgbClr val="94A3B8"/>
                </a:solidFill>
              </a:rPr>
              <a:t>設計・実装・テスト・リリース・保守</a:t>
            </a:r>
          </a:p>
        </p:txBody>
      </p:sp>
      <p:sp>
        <p:nvSpPr>
          <p:cNvPr id="14" name="Rectangle 13"/>
          <p:cNvSpPr/>
          <p:nvPr/>
        </p:nvSpPr>
        <p:spPr>
          <a:xfrm>
            <a:off x="720000" y="2970000"/>
            <a:ext cx="10620000" cy="468000"/>
          </a:xfrm>
          <a:prstGeom prst="rect">
            <a:avLst/>
          </a:prstGeom>
          <a:solidFill>
            <a:srgbClr val="162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20000" y="2970000"/>
            <a:ext cx="64800" cy="468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0000" y="3024000"/>
            <a:ext cx="4320000" cy="360000"/>
          </a:xfrm>
          <a:prstGeom prst="rect">
            <a:avLst/>
          </a:prstGeom>
          <a:noFill/>
        </p:spPr>
        <p:txBody>
          <a:bodyPr wrap="square">
            <a:spAutoFit/>
          </a:bodyPr>
          <a:lstStyle/>
          <a:p>
            <a:pPr algn="l"/>
            <a:r>
              <a:rPr sz="1200" b="0">
                <a:solidFill>
                  <a:srgbClr val="F8FAFC"/>
                </a:solidFill>
              </a:rPr>
              <a:t>広報・PR費</a:t>
            </a:r>
          </a:p>
        </p:txBody>
      </p:sp>
      <p:sp>
        <p:nvSpPr>
          <p:cNvPr id="17" name="TextBox 16"/>
          <p:cNvSpPr txBox="1"/>
          <p:nvPr/>
        </p:nvSpPr>
        <p:spPr>
          <a:xfrm>
            <a:off x="5328000" y="3024000"/>
            <a:ext cx="1260000" cy="360000"/>
          </a:xfrm>
          <a:prstGeom prst="rect">
            <a:avLst/>
          </a:prstGeom>
          <a:noFill/>
        </p:spPr>
        <p:txBody>
          <a:bodyPr wrap="square">
            <a:spAutoFit/>
          </a:bodyPr>
          <a:lstStyle/>
          <a:p>
            <a:pPr algn="r"/>
            <a:r>
              <a:rPr sz="1200" b="1">
                <a:solidFill>
                  <a:srgbClr val="10B981"/>
                </a:solidFill>
              </a:rPr>
              <a:t> 18万円</a:t>
            </a:r>
          </a:p>
        </p:txBody>
      </p:sp>
      <p:sp>
        <p:nvSpPr>
          <p:cNvPr id="18" name="TextBox 17"/>
          <p:cNvSpPr txBox="1"/>
          <p:nvPr/>
        </p:nvSpPr>
        <p:spPr>
          <a:xfrm>
            <a:off x="6840000" y="3024000"/>
            <a:ext cx="4320000" cy="360000"/>
          </a:xfrm>
          <a:prstGeom prst="rect">
            <a:avLst/>
          </a:prstGeom>
          <a:noFill/>
        </p:spPr>
        <p:txBody>
          <a:bodyPr wrap="square">
            <a:spAutoFit/>
          </a:bodyPr>
          <a:lstStyle/>
          <a:p>
            <a:pPr algn="l"/>
            <a:r>
              <a:rPr sz="1100" b="0">
                <a:solidFill>
                  <a:srgbClr val="94A3B8"/>
                </a:solidFill>
              </a:rPr>
              <a:t>SNS広告、プレスリリース、チラシ制作</a:t>
            </a:r>
          </a:p>
        </p:txBody>
      </p:sp>
      <p:sp>
        <p:nvSpPr>
          <p:cNvPr id="19" name="Rectangle 18"/>
          <p:cNvSpPr/>
          <p:nvPr/>
        </p:nvSpPr>
        <p:spPr>
          <a:xfrm>
            <a:off x="720000" y="3456000"/>
            <a:ext cx="10620000" cy="468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20000" y="3456000"/>
            <a:ext cx="64800" cy="468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0000" y="3510000"/>
            <a:ext cx="4320000" cy="360000"/>
          </a:xfrm>
          <a:prstGeom prst="rect">
            <a:avLst/>
          </a:prstGeom>
          <a:noFill/>
        </p:spPr>
        <p:txBody>
          <a:bodyPr wrap="square">
            <a:spAutoFit/>
          </a:bodyPr>
          <a:lstStyle/>
          <a:p>
            <a:pPr algn="l"/>
            <a:r>
              <a:rPr sz="1200" b="0">
                <a:solidFill>
                  <a:srgbClr val="F8FAFC"/>
                </a:solidFill>
              </a:rPr>
              <a:t>サーバー・インフラ費（3年分）</a:t>
            </a:r>
          </a:p>
        </p:txBody>
      </p:sp>
      <p:sp>
        <p:nvSpPr>
          <p:cNvPr id="22" name="TextBox 21"/>
          <p:cNvSpPr txBox="1"/>
          <p:nvPr/>
        </p:nvSpPr>
        <p:spPr>
          <a:xfrm>
            <a:off x="5328000" y="3510000"/>
            <a:ext cx="1260000" cy="360000"/>
          </a:xfrm>
          <a:prstGeom prst="rect">
            <a:avLst/>
          </a:prstGeom>
          <a:noFill/>
        </p:spPr>
        <p:txBody>
          <a:bodyPr wrap="square">
            <a:spAutoFit/>
          </a:bodyPr>
          <a:lstStyle/>
          <a:p>
            <a:pPr algn="r"/>
            <a:r>
              <a:rPr sz="1200" b="1">
                <a:solidFill>
                  <a:srgbClr val="10B981"/>
                </a:solidFill>
              </a:rPr>
              <a:t> 15万円</a:t>
            </a:r>
          </a:p>
        </p:txBody>
      </p:sp>
      <p:sp>
        <p:nvSpPr>
          <p:cNvPr id="23" name="TextBox 22"/>
          <p:cNvSpPr txBox="1"/>
          <p:nvPr/>
        </p:nvSpPr>
        <p:spPr>
          <a:xfrm>
            <a:off x="6840000" y="3510000"/>
            <a:ext cx="4320000" cy="360000"/>
          </a:xfrm>
          <a:prstGeom prst="rect">
            <a:avLst/>
          </a:prstGeom>
          <a:noFill/>
        </p:spPr>
        <p:txBody>
          <a:bodyPr wrap="square">
            <a:spAutoFit/>
          </a:bodyPr>
          <a:lstStyle/>
          <a:p>
            <a:pPr algn="l"/>
            <a:r>
              <a:rPr sz="1100" b="0">
                <a:solidFill>
                  <a:srgbClr val="94A3B8"/>
                </a:solidFill>
              </a:rPr>
              <a:t>Railway, PostgreSQL, ドメイン等</a:t>
            </a:r>
          </a:p>
        </p:txBody>
      </p:sp>
      <p:sp>
        <p:nvSpPr>
          <p:cNvPr id="24" name="Rectangle 23"/>
          <p:cNvSpPr/>
          <p:nvPr/>
        </p:nvSpPr>
        <p:spPr>
          <a:xfrm>
            <a:off x="720000" y="3942000"/>
            <a:ext cx="10620000" cy="468000"/>
          </a:xfrm>
          <a:prstGeom prst="rect">
            <a:avLst/>
          </a:prstGeom>
          <a:solidFill>
            <a:srgbClr val="162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0000" y="3942000"/>
            <a:ext cx="64800" cy="468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0000" y="3996000"/>
            <a:ext cx="4320000" cy="360000"/>
          </a:xfrm>
          <a:prstGeom prst="rect">
            <a:avLst/>
          </a:prstGeom>
          <a:noFill/>
        </p:spPr>
        <p:txBody>
          <a:bodyPr wrap="square">
            <a:spAutoFit/>
          </a:bodyPr>
          <a:lstStyle/>
          <a:p>
            <a:pPr algn="l"/>
            <a:r>
              <a:rPr sz="1200" b="0">
                <a:solidFill>
                  <a:srgbClr val="F8FAFC"/>
                </a:solidFill>
              </a:rPr>
              <a:t>デザイン・UX制作費</a:t>
            </a:r>
          </a:p>
        </p:txBody>
      </p:sp>
      <p:sp>
        <p:nvSpPr>
          <p:cNvPr id="27" name="TextBox 26"/>
          <p:cNvSpPr txBox="1"/>
          <p:nvPr/>
        </p:nvSpPr>
        <p:spPr>
          <a:xfrm>
            <a:off x="5328000" y="3996000"/>
            <a:ext cx="1260000" cy="360000"/>
          </a:xfrm>
          <a:prstGeom prst="rect">
            <a:avLst/>
          </a:prstGeom>
          <a:noFill/>
        </p:spPr>
        <p:txBody>
          <a:bodyPr wrap="square">
            <a:spAutoFit/>
          </a:bodyPr>
          <a:lstStyle/>
          <a:p>
            <a:pPr algn="r"/>
            <a:r>
              <a:rPr sz="1200" b="1">
                <a:solidFill>
                  <a:srgbClr val="10B981"/>
                </a:solidFill>
              </a:rPr>
              <a:t> 12万円</a:t>
            </a:r>
          </a:p>
        </p:txBody>
      </p:sp>
      <p:sp>
        <p:nvSpPr>
          <p:cNvPr id="28" name="TextBox 27"/>
          <p:cNvSpPr txBox="1"/>
          <p:nvPr/>
        </p:nvSpPr>
        <p:spPr>
          <a:xfrm>
            <a:off x="6840000" y="3996000"/>
            <a:ext cx="4320000" cy="360000"/>
          </a:xfrm>
          <a:prstGeom prst="rect">
            <a:avLst/>
          </a:prstGeom>
          <a:noFill/>
        </p:spPr>
        <p:txBody>
          <a:bodyPr wrap="square">
            <a:spAutoFit/>
          </a:bodyPr>
          <a:lstStyle/>
          <a:p>
            <a:pPr algn="l"/>
            <a:r>
              <a:rPr sz="1100" b="0">
                <a:solidFill>
                  <a:srgbClr val="94A3B8"/>
                </a:solidFill>
              </a:rPr>
              <a:t>UI改善、アイコン、動画制作</a:t>
            </a:r>
          </a:p>
        </p:txBody>
      </p:sp>
      <p:sp>
        <p:nvSpPr>
          <p:cNvPr id="29" name="Rectangle 28"/>
          <p:cNvSpPr/>
          <p:nvPr/>
        </p:nvSpPr>
        <p:spPr>
          <a:xfrm>
            <a:off x="720000" y="4428000"/>
            <a:ext cx="10620000" cy="468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20000" y="4428000"/>
            <a:ext cx="64800" cy="468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0000" y="4482000"/>
            <a:ext cx="4320000" cy="360000"/>
          </a:xfrm>
          <a:prstGeom prst="rect">
            <a:avLst/>
          </a:prstGeom>
          <a:noFill/>
        </p:spPr>
        <p:txBody>
          <a:bodyPr wrap="square">
            <a:spAutoFit/>
          </a:bodyPr>
          <a:lstStyle/>
          <a:p>
            <a:pPr algn="l"/>
            <a:r>
              <a:rPr sz="1200" b="0">
                <a:solidFill>
                  <a:srgbClr val="F8FAFC"/>
                </a:solidFill>
              </a:rPr>
              <a:t>イベント・説明会開催費</a:t>
            </a:r>
          </a:p>
        </p:txBody>
      </p:sp>
      <p:sp>
        <p:nvSpPr>
          <p:cNvPr id="32" name="TextBox 31"/>
          <p:cNvSpPr txBox="1"/>
          <p:nvPr/>
        </p:nvSpPr>
        <p:spPr>
          <a:xfrm>
            <a:off x="5328000" y="4482000"/>
            <a:ext cx="1260000" cy="360000"/>
          </a:xfrm>
          <a:prstGeom prst="rect">
            <a:avLst/>
          </a:prstGeom>
          <a:noFill/>
        </p:spPr>
        <p:txBody>
          <a:bodyPr wrap="square">
            <a:spAutoFit/>
          </a:bodyPr>
          <a:lstStyle/>
          <a:p>
            <a:pPr algn="r"/>
            <a:r>
              <a:rPr sz="1200" b="1">
                <a:solidFill>
                  <a:srgbClr val="10B981"/>
                </a:solidFill>
              </a:rPr>
              <a:t>  9万円</a:t>
            </a:r>
          </a:p>
        </p:txBody>
      </p:sp>
      <p:sp>
        <p:nvSpPr>
          <p:cNvPr id="33" name="TextBox 32"/>
          <p:cNvSpPr txBox="1"/>
          <p:nvPr/>
        </p:nvSpPr>
        <p:spPr>
          <a:xfrm>
            <a:off x="6840000" y="4482000"/>
            <a:ext cx="4320000" cy="360000"/>
          </a:xfrm>
          <a:prstGeom prst="rect">
            <a:avLst/>
          </a:prstGeom>
          <a:noFill/>
        </p:spPr>
        <p:txBody>
          <a:bodyPr wrap="square">
            <a:spAutoFit/>
          </a:bodyPr>
          <a:lstStyle/>
          <a:p>
            <a:pPr algn="l"/>
            <a:r>
              <a:rPr sz="1100" b="0">
                <a:solidFill>
                  <a:srgbClr val="94A3B8"/>
                </a:solidFill>
              </a:rPr>
              <a:t>福祉事業所向け説明会、デモ展示</a:t>
            </a:r>
          </a:p>
        </p:txBody>
      </p:sp>
      <p:sp>
        <p:nvSpPr>
          <p:cNvPr id="34" name="Rectangle 33"/>
          <p:cNvSpPr/>
          <p:nvPr/>
        </p:nvSpPr>
        <p:spPr>
          <a:xfrm>
            <a:off x="720000" y="4914000"/>
            <a:ext cx="10620000" cy="468000"/>
          </a:xfrm>
          <a:prstGeom prst="rect">
            <a:avLst/>
          </a:prstGeom>
          <a:solidFill>
            <a:srgbClr val="162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20000" y="4914000"/>
            <a:ext cx="64800" cy="468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00000" y="4968000"/>
            <a:ext cx="4320000" cy="360000"/>
          </a:xfrm>
          <a:prstGeom prst="rect">
            <a:avLst/>
          </a:prstGeom>
          <a:noFill/>
        </p:spPr>
        <p:txBody>
          <a:bodyPr wrap="square">
            <a:spAutoFit/>
          </a:bodyPr>
          <a:lstStyle/>
          <a:p>
            <a:pPr algn="l"/>
            <a:r>
              <a:rPr sz="1200" b="0">
                <a:solidFill>
                  <a:srgbClr val="F8FAFC"/>
                </a:solidFill>
              </a:rPr>
              <a:t>福祉事業所導入サポート費</a:t>
            </a:r>
          </a:p>
        </p:txBody>
      </p:sp>
      <p:sp>
        <p:nvSpPr>
          <p:cNvPr id="37" name="TextBox 36"/>
          <p:cNvSpPr txBox="1"/>
          <p:nvPr/>
        </p:nvSpPr>
        <p:spPr>
          <a:xfrm>
            <a:off x="5328000" y="4968000"/>
            <a:ext cx="1260000" cy="360000"/>
          </a:xfrm>
          <a:prstGeom prst="rect">
            <a:avLst/>
          </a:prstGeom>
          <a:noFill/>
        </p:spPr>
        <p:txBody>
          <a:bodyPr wrap="square">
            <a:spAutoFit/>
          </a:bodyPr>
          <a:lstStyle/>
          <a:p>
            <a:pPr algn="r"/>
            <a:r>
              <a:rPr sz="1200" b="1">
                <a:solidFill>
                  <a:srgbClr val="10B981"/>
                </a:solidFill>
              </a:rPr>
              <a:t>  6万円</a:t>
            </a:r>
          </a:p>
        </p:txBody>
      </p:sp>
      <p:sp>
        <p:nvSpPr>
          <p:cNvPr id="38" name="TextBox 37"/>
          <p:cNvSpPr txBox="1"/>
          <p:nvPr/>
        </p:nvSpPr>
        <p:spPr>
          <a:xfrm>
            <a:off x="6840000" y="4968000"/>
            <a:ext cx="4320000" cy="360000"/>
          </a:xfrm>
          <a:prstGeom prst="rect">
            <a:avLst/>
          </a:prstGeom>
          <a:noFill/>
        </p:spPr>
        <p:txBody>
          <a:bodyPr wrap="square">
            <a:spAutoFit/>
          </a:bodyPr>
          <a:lstStyle/>
          <a:p>
            <a:pPr algn="l"/>
            <a:r>
              <a:rPr sz="1100" b="0">
                <a:solidFill>
                  <a:srgbClr val="94A3B8"/>
                </a:solidFill>
              </a:rPr>
              <a:t>初期研修・マニュアル・問い合わせ対応</a:t>
            </a:r>
          </a:p>
        </p:txBody>
      </p:sp>
      <p:sp>
        <p:nvSpPr>
          <p:cNvPr id="39" name="Rectangle 38"/>
          <p:cNvSpPr/>
          <p:nvPr/>
        </p:nvSpPr>
        <p:spPr>
          <a:xfrm>
            <a:off x="720000" y="5436000"/>
            <a:ext cx="10620000" cy="468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0000" y="5490000"/>
            <a:ext cx="4320000" cy="360000"/>
          </a:xfrm>
          <a:prstGeom prst="rect">
            <a:avLst/>
          </a:prstGeom>
          <a:noFill/>
        </p:spPr>
        <p:txBody>
          <a:bodyPr wrap="square">
            <a:spAutoFit/>
          </a:bodyPr>
          <a:lstStyle/>
          <a:p>
            <a:pPr algn="l"/>
            <a:r>
              <a:rPr sz="1300" b="1">
                <a:solidFill>
                  <a:srgbClr val="F8FAFC"/>
                </a:solidFill>
              </a:rPr>
              <a:t>合計</a:t>
            </a:r>
          </a:p>
        </p:txBody>
      </p:sp>
      <p:sp>
        <p:nvSpPr>
          <p:cNvPr id="41" name="TextBox 40"/>
          <p:cNvSpPr txBox="1"/>
          <p:nvPr/>
        </p:nvSpPr>
        <p:spPr>
          <a:xfrm>
            <a:off x="5328000" y="5490000"/>
            <a:ext cx="1260000" cy="360000"/>
          </a:xfrm>
          <a:prstGeom prst="rect">
            <a:avLst/>
          </a:prstGeom>
          <a:noFill/>
        </p:spPr>
        <p:txBody>
          <a:bodyPr wrap="square">
            <a:spAutoFit/>
          </a:bodyPr>
          <a:lstStyle/>
          <a:p>
            <a:pPr algn="r"/>
            <a:r>
              <a:rPr sz="1300" b="1">
                <a:solidFill>
                  <a:srgbClr val="F8FAFC"/>
                </a:solidFill>
              </a:rPr>
              <a:t>300万円</a:t>
            </a:r>
          </a:p>
        </p:txBody>
      </p:sp>
      <p:sp>
        <p:nvSpPr>
          <p:cNvPr id="42" name="TextBox 41"/>
          <p:cNvSpPr txBox="1"/>
          <p:nvPr/>
        </p:nvSpPr>
        <p:spPr>
          <a:xfrm>
            <a:off x="720000" y="5976000"/>
            <a:ext cx="10620000" cy="251999"/>
          </a:xfrm>
          <a:prstGeom prst="rect">
            <a:avLst/>
          </a:prstGeom>
          <a:noFill/>
        </p:spPr>
        <p:txBody>
          <a:bodyPr wrap="square">
            <a:spAutoFit/>
          </a:bodyPr>
          <a:lstStyle/>
          <a:p>
            <a:pPr algn="l"/>
            <a:r>
              <a:rPr sz="1000" b="0">
                <a:solidFill>
                  <a:srgbClr val="94A3B8"/>
                </a:solidFill>
              </a:rPr>
              <a:t>※フリーランスエンジニアの市場単価：月60〜120万円が相場。AI×福祉の専門性を持つエンジニアは希少。</a:t>
            </a:r>
          </a:p>
        </p:txBody>
      </p:sp>
      <p:sp>
        <p:nvSpPr>
          <p:cNvPr id="43" name="TextBox 42"/>
          <p:cNvSpPr txBox="1"/>
          <p:nvPr/>
        </p:nvSpPr>
        <p:spPr>
          <a:xfrm>
            <a:off x="720000" y="6246000"/>
            <a:ext cx="10620000" cy="251999"/>
          </a:xfrm>
          <a:prstGeom prst="rect">
            <a:avLst/>
          </a:prstGeom>
          <a:noFill/>
        </p:spPr>
        <p:txBody>
          <a:bodyPr wrap="square">
            <a:spAutoFit/>
          </a:bodyPr>
          <a:lstStyle/>
          <a:p>
            <a:pPr algn="l"/>
            <a:r>
              <a:rPr sz="1000" b="0">
                <a:solidFill>
                  <a:srgbClr val="94A3B8"/>
                </a:solidFill>
              </a:rPr>
              <a:t>※広報費はクラウドファンディング達成後の認知拡大・事業者向け展開に活用。</a:t>
            </a:r>
          </a:p>
        </p:txBody>
      </p:sp>
      <p:sp>
        <p:nvSpPr>
          <p:cNvPr id="44" name="Rectangle 43"/>
          <p:cNvSpPr/>
          <p:nvPr/>
        </p:nvSpPr>
        <p:spPr>
          <a:xfrm>
            <a:off x="0" y="6623999"/>
            <a:ext cx="12192119" cy="234000"/>
          </a:xfrm>
          <a:prstGeom prst="rect">
            <a:avLst/>
          </a:prstGeom>
          <a:solidFill>
            <a:srgbClr val="070C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2119" cy="180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20000" y="540000"/>
            <a:ext cx="10440000" cy="720000"/>
          </a:xfrm>
          <a:prstGeom prst="rect">
            <a:avLst/>
          </a:prstGeom>
          <a:noFill/>
        </p:spPr>
        <p:txBody>
          <a:bodyPr wrap="square">
            <a:spAutoFit/>
          </a:bodyPr>
          <a:lstStyle/>
          <a:p>
            <a:pPr algn="ctr"/>
            <a:r>
              <a:rPr sz="3400" b="1">
                <a:solidFill>
                  <a:srgbClr val="F8FAFC"/>
                </a:solidFill>
              </a:rPr>
              <a:t>「共犯者」になってくれませんか？</a:t>
            </a:r>
          </a:p>
        </p:txBody>
      </p:sp>
      <p:sp>
        <p:nvSpPr>
          <p:cNvPr id="4" name="Rectangle 3"/>
          <p:cNvSpPr/>
          <p:nvPr/>
        </p:nvSpPr>
        <p:spPr>
          <a:xfrm>
            <a:off x="4320000" y="1440000"/>
            <a:ext cx="3600000" cy="432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80000" y="1655999"/>
            <a:ext cx="9900000" cy="2700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F8FAFC"/>
                </a:solidFill>
              </a:rPr>
              <a:t>一人の父の愛が、何万人の「自立」を支えるインフラに変わる。
まず一度、お話しを聞いていただけますか。
多治見の子どもたちと、はたらく大人のために。</a:t>
            </a:r>
          </a:p>
        </p:txBody>
      </p:sp>
      <p:sp>
        <p:nvSpPr>
          <p:cNvPr id="6" name="TextBox 5"/>
          <p:cNvSpPr txBox="1"/>
          <p:nvPr/>
        </p:nvSpPr>
        <p:spPr>
          <a:xfrm>
            <a:off x="720000" y="4860000"/>
            <a:ext cx="10440000" cy="360000"/>
          </a:xfrm>
          <a:prstGeom prst="rect">
            <a:avLst/>
          </a:prstGeom>
          <a:noFill/>
        </p:spPr>
        <p:txBody>
          <a:bodyPr wrap="square">
            <a:spAutoFit/>
          </a:bodyPr>
          <a:lstStyle/>
          <a:p>
            <a:pPr algn="ctr"/>
            <a:r>
              <a:rPr sz="1300" b="0">
                <a:solidFill>
                  <a:srgbClr val="94A3B8"/>
                </a:solidFill>
              </a:rPr>
              <a:t>特定非営利活動法人 思いやりの糸 / HIローズ</a:t>
            </a:r>
          </a:p>
        </p:txBody>
      </p:sp>
      <p:sp>
        <p:nvSpPr>
          <p:cNvPr id="7" name="TextBox 6"/>
          <p:cNvSpPr txBox="1"/>
          <p:nvPr/>
        </p:nvSpPr>
        <p:spPr>
          <a:xfrm>
            <a:off x="720000" y="5220000"/>
            <a:ext cx="10440000" cy="360000"/>
          </a:xfrm>
          <a:prstGeom prst="rect">
            <a:avLst/>
          </a:prstGeom>
          <a:noFill/>
        </p:spPr>
        <p:txBody>
          <a:bodyPr wrap="square">
            <a:spAutoFit/>
          </a:bodyPr>
          <a:lstStyle/>
          <a:p>
            <a:pPr algn="ctr"/>
            <a:r>
              <a:rPr sz="1300" b="0">
                <a:solidFill>
                  <a:srgbClr val="94A3B8"/>
                </a:solidFill>
              </a:rPr>
              <a:t>代表 廣瀬 豊</a:t>
            </a:r>
          </a:p>
        </p:txBody>
      </p:sp>
      <p:sp>
        <p:nvSpPr>
          <p:cNvPr id="8" name="Rectangle 7"/>
          <p:cNvSpPr/>
          <p:nvPr/>
        </p:nvSpPr>
        <p:spPr>
          <a:xfrm>
            <a:off x="0" y="6623999"/>
            <a:ext cx="12192119" cy="234000"/>
          </a:xfrm>
          <a:prstGeom prst="rect">
            <a:avLst/>
          </a:prstGeom>
          <a:solidFill>
            <a:srgbClr val="070C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