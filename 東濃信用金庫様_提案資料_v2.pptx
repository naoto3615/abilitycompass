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70" r:id="rId11"/>
    <p:sldId id="271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72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21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468000"/>
            <a:ext cx="432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東濃信用金庫様 ご提案資料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8FAFC"/>
                </a:solidFill>
              </a:rPr>
              <a:t>ステップアップナビ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340000"/>
            <a:ext cx="288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障がいのある人が、自分らしく「働き・育つ」社会へ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311999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特定非営利活動法人 思いやりの糸 / HIローズ</a:t>
            </a:r>
          </a:p>
        </p:txBody>
      </p:sp>
      <p:sp>
        <p:nvSpPr>
          <p:cNvPr id="8" name="Rectangle 7"/>
          <p:cNvSpPr/>
          <p:nvPr/>
        </p:nvSpPr>
        <p:spPr>
          <a:xfrm>
            <a:off x="8460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72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84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96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08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20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現場が抱える、解決されない問題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5472000" cy="532800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16000"/>
            <a:ext cx="5472000" cy="144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367999"/>
            <a:ext cx="51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</a:rPr>
              <a:t>【就労現場】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1961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1836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企業が障がい者を雇用しても特性を理解できず対処できない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329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000" y="3204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「仕事ができない」レッテルを貼られ解雇になるケースも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697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0" y="4572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企業と障がい者の間に深刻なミスマッチが生じている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2000" y="1116000"/>
            <a:ext cx="5328000" cy="5328000"/>
          </a:xfrm>
          <a:prstGeom prst="rect">
            <a:avLst/>
          </a:prstGeom>
          <a:solidFill>
            <a:srgbClr val="2A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72000" y="1116000"/>
            <a:ext cx="5328000" cy="144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2000" y="1367999"/>
            <a:ext cx="49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</a:rPr>
              <a:t>【放課後デイ現場】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2000" y="1961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2000" y="1836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児童の特性把握が支援員の経験則に依存している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3329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2000" y="3204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日々の記録・書類作業に追われ子どもと向き合う時間が不足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2000" y="4697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2000" y="4572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保護者への適切なフィードバックができていない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>
                <a:solidFill>
                  <a:srgbClr val="F8FAFC"/>
                </a:solidFill>
              </a:rPr>
              <a:t>解決できる2つの課題</a:t>
            </a:r>
            <a:endParaRPr sz="2500" b="1">
              <a:solidFill>
                <a:srgbClr val="F8FAF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472000" cy="5220000"/>
          </a:xfrm>
          <a:prstGeom prst="rect">
            <a:avLst/>
          </a:prstGeom>
          <a:solidFill>
            <a:srgbClr val="0A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472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42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就労支援アプリ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872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1854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特性の見える化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160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性格・強み・苦手を診断し客観データとして提示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3240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000" y="3222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企業への配慮提案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28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採用企業が「どう配慮すればよいか」を即理解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" y="4608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000" y="4590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本人の成長サポート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4896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ロードマップと達成記録で自信とモチベーションを育む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1152000"/>
            <a:ext cx="5328000" cy="5220000"/>
          </a:xfrm>
          <a:prstGeom prst="rect">
            <a:avLst/>
          </a:prstGeom>
          <a:solidFill>
            <a:srgbClr val="2A1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0000" y="1152000"/>
            <a:ext cx="5328000" cy="16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0000" y="1422000"/>
            <a:ext cx="49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放課後デイアプリ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4000" y="1872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0000" y="1854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児童の発達記録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2160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日々の支援データを自動で蓄積・分析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4000" y="3240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0000" y="3222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支援計画の作成サポート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3528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支援記録の蓄積をもとに、個別支援計画の作成をサポート・補助し書類作業を大幅軽減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4000" y="4608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0000" y="4590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保護者連携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0000" y="4896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今日のできた！をリアルタイムで保護者と共有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288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AIチャット機能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“相談相手”</a:t>
            </a:r>
            <a:r>
              <a:rPr lang="ja-JP" altLang="en-US" sz="2600" b="1">
                <a:solidFill>
                  <a:srgbClr val="F8FAFC"/>
                </a:solidFill>
              </a:rPr>
              <a:t>としての</a:t>
            </a:r>
            <a:r>
              <a:rPr lang="en-US" altLang="ja-JP" sz="2600" b="1">
                <a:solidFill>
                  <a:srgbClr val="F8FAFC"/>
                </a:solidFill>
              </a:rPr>
              <a:t>AI</a:t>
            </a:r>
            <a:endParaRPr sz="2600" b="1">
              <a:solidFill>
                <a:srgbClr val="F8FAF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000" y="1584000"/>
            <a:ext cx="3420000" cy="14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8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</a:rPr>
              <a:t>就労者向け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000" y="2484000"/>
            <a:ext cx="30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仕事の悩み・人間関係・体調の変化をチャットで打ち明けると、自分の特性に合ったアドバイスを返す。支援員がいない時間も孤立させない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2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2000" y="1584000"/>
            <a:ext cx="3420000" cy="14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</a:rPr>
              <a:t>放課後デイ
児童・保護者向け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484000"/>
            <a:ext cx="306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ゲーム感覚でAIキャラクターと会話しながら、自分の気持ちや得意を発見。保護者は家庭でできる関わり方のヒントをAIから得られる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6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6000" y="1584000"/>
            <a:ext cx="3420000" cy="144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6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</a:rPr>
              <a:t>支援員向け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6000" y="2484000"/>
            <a:ext cx="30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6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「この子にどう関わればいい？」をAIに聞ける
・支援の現場では、児童の行動に戸惑い・悩む場面が日々起きる
・「こんなとき、どうすればいいか」をAIアドバイザーに相談すると、特性に応じた関わり方のヒントを提案
・先輩や専門家に聞きにくい悩みも、AIなら気軽に相談できる
・経験の浅い支援員でも、自信を持って支援に臨める
※支援員の孤立・バーンアウト防止にも貢献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342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就労支援（大人向け）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「できない」を「できる」に変える、成長の地図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548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性格・特性診断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「得意なこと・苦手なこと」を可視化
本人も支援者も企業担当者も同じ地図を共有できる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000" y="1548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8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3ステップのロードマップ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仕事に必要なスキルを段階的に提示
「今日やること」が明確になり、迷わず前進できる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3924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達成記録で自信を育む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日々の小さな達成を記録し、モチベーションと自己肯定感を継続的に育む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2000" y="3924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8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支援者・企業ダッシュボード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本人の状況を支援者・企業担当者がリアルタイムで把握
ミスマッチを事前に防ぐ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2520000" cy="25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採用企業向け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企業が「採用してよかった」と思える仕組み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62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62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0000" y="190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000" y="192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本人の特性レポートで「どう配慮すれば良いか」が一目でわかる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06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0000" y="306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000" y="334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336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成長記録を共有することで、長期雇用につながる信頼関係を構築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50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450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000" y="478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480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法定雇用率の達成と定着率向上を同時に実現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12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</a:rPr>
              <a:t>障がい者雇用の「採用→定着→成長」を一つのアプリで完結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3600000" cy="25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放課後デイサービス向け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</a:rPr>
              <a:t>支援員が「本当にやりたい支援」に集中できる環境へ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548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音声入力＋AI効率化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日々の支援記録を音声入力＋AIで効率化・補助
書類作業を大幅削減し、子どもとの時間を最大化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000" y="1548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8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個別支援計画の作成サポート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支援記録のデータをもとに、個別支援計画の作成をサポート・補助
経験則に頼らない客観的な支援が実現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3924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保護者アプリと連携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「今日のできた！」をリアルタイムで保護者と共有
保護者の安心感と事業所への信頼が高まる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2000" y="3924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8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発達の見える化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発達の変化を時系列グラフで可視化
支援の成果が「エビデンス」として蓄積される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600" b="1">
                <a:solidFill>
                  <a:srgbClr val="F8FAFC"/>
                </a:solidFill>
              </a:rPr>
              <a:t>開発スケジュール</a:t>
            </a:r>
            <a:endParaRPr sz="2600" b="1">
              <a:solidFill>
                <a:srgbClr val="F8FAF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364000" cy="54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364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403999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746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〜3ヶ月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62000"/>
            <a:ext cx="50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基盤構築 + 主要機能 + 地域展開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250000"/>
            <a:ext cx="5004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000" y="257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953999" y="243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性格・特性診断とロードマップ機能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" y="293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953999" y="279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 err="1">
                <a:solidFill>
                  <a:srgbClr val="F8FAFC"/>
                </a:solidFill>
              </a:rPr>
              <a:t>日々の記録・成長の可視化</a:t>
            </a:r>
            <a:endParaRPr sz="1350" b="0" dirty="0">
              <a:solidFill>
                <a:srgbClr val="F8FAF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6000" y="329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953999" y="315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アバターによるAIチャット相談機能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000" y="365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953999" y="351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支援記録の音声入力・効率化サポート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000" y="401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953999" y="387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就労者向け・放課後デイ向け 基本機能すべてリリース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" y="437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953999" y="423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企業向けダッシュボード（特性レポート・定着サポート）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000" y="473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953999" y="459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保護者連携アプリ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5688000"/>
            <a:ext cx="5004000" cy="720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0000" y="5862082"/>
            <a:ext cx="493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全基本機能リリース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4000" y="1152000"/>
            <a:ext cx="5364000" cy="54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4000" y="1152000"/>
            <a:ext cx="5364000" cy="1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4000" y="1403999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Phase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4000" y="1746000"/>
            <a:ext cx="50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〜</a:t>
            </a:r>
            <a:r>
              <a:rPr lang="ja-JP" altLang="en-US" sz="1250" b="0">
                <a:solidFill>
                  <a:srgbClr val="94A3B8"/>
                </a:solidFill>
              </a:rPr>
              <a:t>数</a:t>
            </a:r>
            <a:r>
              <a:rPr sz="1250" b="0">
                <a:solidFill>
                  <a:srgbClr val="94A3B8"/>
                </a:solidFill>
              </a:rPr>
              <a:t>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4000" y="1962000"/>
            <a:ext cx="50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拡張・地域展開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4000" y="2250000"/>
            <a:ext cx="5004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80000" y="2574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7999" y="2430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企業向けダッシュボード
（特性レポート・定着サポート）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0" y="3240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7999" y="3096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保護者連携アプリ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0000" y="3906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7999" y="3762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地域企業・行政とのタイアップ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0" y="4572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7999" y="4428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他自治体へのライセンス展開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4000" y="5688000"/>
            <a:ext cx="5004000" cy="720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0000" y="5778000"/>
            <a:ext cx="49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地域展開・
ライセンス全国展開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解決すべき課題の大きさ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〜市場データが示すニーズ〜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684520" cy="50749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5720" cy="5074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" y="1097280"/>
            <a:ext cx="550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就労支援市場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481328"/>
            <a:ext cx="5455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dirty="0">
                <a:solidFill>
                  <a:srgbClr val="FFFFFF"/>
                </a:solidFill>
              </a:rPr>
              <a:t>• 全国の障がい者雇用者数：約</a:t>
            </a:r>
            <a:r>
              <a:rPr lang="en-US" sz="1350" dirty="0">
                <a:solidFill>
                  <a:srgbClr val="FFFFFF"/>
                </a:solidFill>
              </a:rPr>
              <a:t>70</a:t>
            </a:r>
            <a:r>
              <a:rPr sz="1350" dirty="0">
                <a:solidFill>
                  <a:srgbClr val="FFFFFF"/>
                </a:solidFill>
              </a:rPr>
              <a:t>万人（202</a:t>
            </a:r>
            <a:r>
              <a:rPr lang="en-US" sz="1350" dirty="0">
                <a:solidFill>
                  <a:srgbClr val="FFFFFF"/>
                </a:solidFill>
              </a:rPr>
              <a:t>5</a:t>
            </a:r>
            <a:r>
              <a:rPr sz="1350" dirty="0">
                <a:solidFill>
                  <a:srgbClr val="FFFFFF"/>
                </a:solidFill>
              </a:rPr>
              <a:t>年、厚労省）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法定雇用率（2.</a:t>
            </a:r>
            <a:r>
              <a:rPr lang="en-US" sz="1350" dirty="0">
                <a:solidFill>
                  <a:srgbClr val="FFFFFF"/>
                </a:solidFill>
              </a:rPr>
              <a:t>7</a:t>
            </a:r>
            <a:r>
              <a:rPr sz="1350" dirty="0">
                <a:solidFill>
                  <a:srgbClr val="FFFFFF"/>
                </a:solidFill>
              </a:rPr>
              <a:t>%）未達成企業：約</a:t>
            </a:r>
            <a:r>
              <a:rPr lang="en-US" sz="1350" dirty="0">
                <a:solidFill>
                  <a:srgbClr val="FFFFFF"/>
                </a:solidFill>
              </a:rPr>
              <a:t>54</a:t>
            </a:r>
            <a:r>
              <a:rPr sz="1350" dirty="0">
                <a:solidFill>
                  <a:srgbClr val="FFFFFF"/>
                </a:solidFill>
              </a:rPr>
              <a:t>%（</a:t>
            </a:r>
            <a:r>
              <a:rPr sz="1350" dirty="0" err="1">
                <a:solidFill>
                  <a:srgbClr val="FFFFFF"/>
                </a:solidFill>
              </a:rPr>
              <a:t>中小企業中心</a:t>
            </a:r>
            <a:r>
              <a:rPr sz="1350" dirty="0">
                <a:solidFill>
                  <a:srgbClr val="FFFFFF"/>
                </a:solidFill>
              </a:rPr>
              <a:t>）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障がい者の離職率：約30%が1年以内に離職（定着支援の需要大）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東濃地区の就労継続支援事業所：約40事業所以上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440" y="1005840"/>
            <a:ext cx="5684520" cy="50749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7440" y="1005840"/>
            <a:ext cx="45720" cy="5074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5456" y="1097280"/>
            <a:ext cx="550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放課後デイサービス市場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456" y="1481328"/>
            <a:ext cx="5455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dirty="0">
                <a:solidFill>
                  <a:srgbClr val="FFFFFF"/>
                </a:solidFill>
              </a:rPr>
              <a:t>• 全国の放課後デイサービス事業所数：約17,000箇所（年々増加中）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利用者数：約3</a:t>
            </a:r>
            <a:r>
              <a:rPr lang="en-US" sz="1350" dirty="0">
                <a:solidFill>
                  <a:srgbClr val="FFFFFF"/>
                </a:solidFill>
              </a:rPr>
              <a:t>7</a:t>
            </a:r>
            <a:r>
              <a:rPr sz="1350" dirty="0">
                <a:solidFill>
                  <a:srgbClr val="FFFFFF"/>
                </a:solidFill>
              </a:rPr>
              <a:t>万人（202</a:t>
            </a:r>
            <a:r>
              <a:rPr lang="en-US" sz="1350" dirty="0">
                <a:solidFill>
                  <a:srgbClr val="FFFFFF"/>
                </a:solidFill>
              </a:rPr>
              <a:t>6</a:t>
            </a:r>
            <a:r>
              <a:rPr sz="1350" dirty="0">
                <a:solidFill>
                  <a:srgbClr val="FFFFFF"/>
                </a:solidFill>
              </a:rPr>
              <a:t>年度、厚労省）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</a:t>
            </a:r>
            <a:r>
              <a:rPr sz="1350" dirty="0" err="1">
                <a:solidFill>
                  <a:srgbClr val="FFFFFF"/>
                </a:solidFill>
              </a:rPr>
              <a:t>支援員の離職・バーンアウトが業界課題</a:t>
            </a:r>
            <a:endParaRPr lang="en-US" sz="135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dirty="0">
              <a:solidFill>
                <a:srgbClr val="FFFFFF"/>
              </a:solidFill>
            </a:endParaRPr>
          </a:p>
          <a:p>
            <a:pPr algn="l"/>
            <a:r>
              <a:rPr sz="1350" dirty="0">
                <a:solidFill>
                  <a:srgbClr val="FFFFFF"/>
                </a:solidFill>
              </a:rPr>
              <a:t>• 岐阜県内の放課後デイ事業所：約400箇所以上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263640"/>
            <a:ext cx="1155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※出典：厚生労働省「障害者雇用状況の集計結果」「障害福祉サービス等の利用状況について」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クラファン後も続く、持続可能なビジネスモデル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881120" cy="5029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5720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051560"/>
            <a:ext cx="369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就労者・個人向け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435608"/>
            <a:ext cx="3625088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508760"/>
            <a:ext cx="369824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 err="1">
                <a:solidFill>
                  <a:srgbClr val="FFFFFF"/>
                </a:solidFill>
              </a:rPr>
              <a:t>月額サブスク（個人利用</a:t>
            </a:r>
            <a:r>
              <a:rPr sz="1350" b="0" dirty="0">
                <a:solidFill>
                  <a:srgbClr val="FFFFFF"/>
                </a:solidFill>
              </a:rPr>
              <a:t>）</a:t>
            </a:r>
          </a:p>
          <a:p>
            <a:pPr algn="l"/>
            <a:r>
              <a:rPr sz="1350" b="0" dirty="0">
                <a:solidFill>
                  <a:srgbClr val="FFFFFF"/>
                </a:solidFill>
              </a:rPr>
              <a:t>  月500〜1,000円</a:t>
            </a:r>
            <a:endParaRPr lang="en-US" sz="1350" b="0" dirty="0">
              <a:solidFill>
                <a:srgbClr val="FFFFFF"/>
              </a:solidFill>
            </a:endParaRPr>
          </a:p>
          <a:p>
            <a:pPr algn="l"/>
            <a:endParaRPr lang="en-US" sz="135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就労支援事業所向けライセンス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>
                <a:solidFill>
                  <a:srgbClr val="FFFFFF"/>
                </a:solidFill>
              </a:rPr>
              <a:t>  月5,000〜10,000円/</a:t>
            </a:r>
            <a:r>
              <a:rPr sz="1350" b="0" dirty="0" err="1">
                <a:solidFill>
                  <a:srgbClr val="FFFFFF"/>
                </a:solidFill>
              </a:rPr>
              <a:t>事業所</a:t>
            </a:r>
            <a:endParaRPr sz="1350" b="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46879" y="960120"/>
            <a:ext cx="3881120" cy="5029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46879" y="960120"/>
            <a:ext cx="45720" cy="502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4895" y="1051560"/>
            <a:ext cx="369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企業・事業所向け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895" y="1435608"/>
            <a:ext cx="3625088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4895" y="1508760"/>
            <a:ext cx="36982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 err="1">
                <a:solidFill>
                  <a:srgbClr val="FFFFFF"/>
                </a:solidFill>
              </a:rPr>
              <a:t>採用企業向けダッシュボード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>
                <a:solidFill>
                  <a:srgbClr val="FFFFFF"/>
                </a:solidFill>
              </a:rPr>
              <a:t>  月10,000〜30,000円/</a:t>
            </a:r>
            <a:r>
              <a:rPr sz="1350" b="0" dirty="0" err="1">
                <a:solidFill>
                  <a:srgbClr val="FFFFFF"/>
                </a:solidFill>
              </a:rPr>
              <a:t>社</a:t>
            </a:r>
            <a:endParaRPr lang="en-US"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放課後デイ事業所向けパック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>
                <a:solidFill>
                  <a:srgbClr val="FFFFFF"/>
                </a:solidFill>
              </a:rPr>
              <a:t>  月8,000〜15,000円/</a:t>
            </a:r>
            <a:r>
              <a:rPr sz="1350" b="0" dirty="0" err="1">
                <a:solidFill>
                  <a:srgbClr val="FFFFFF"/>
                </a:solidFill>
              </a:rPr>
              <a:t>事業所</a:t>
            </a:r>
            <a:endParaRPr lang="en-US"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初期導入支援費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>
                <a:solidFill>
                  <a:srgbClr val="FFFFFF"/>
                </a:solidFill>
              </a:rPr>
              <a:t>  50,000〜100,000円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9440" y="960120"/>
            <a:ext cx="3881120" cy="5029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9440" y="960120"/>
            <a:ext cx="45720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7456" y="1051560"/>
            <a:ext cx="369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行政・補助金連携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47456" y="1435608"/>
            <a:ext cx="3625088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7456" y="1508760"/>
            <a:ext cx="36982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 err="1">
                <a:solidFill>
                  <a:srgbClr val="FFFFFF"/>
                </a:solidFill>
              </a:rPr>
              <a:t>障害者就労支援関連の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補助金・助成金活用</a:t>
            </a:r>
            <a:endParaRPr lang="en-US"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自治体向けSaaS提供</a:t>
            </a:r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>
                <a:solidFill>
                  <a:srgbClr val="FFFFFF"/>
                </a:solidFill>
              </a:rPr>
              <a:t>（</a:t>
            </a:r>
            <a:r>
              <a:rPr sz="1350" b="0" dirty="0" err="1">
                <a:solidFill>
                  <a:srgbClr val="FFFFFF"/>
                </a:solidFill>
              </a:rPr>
              <a:t>ライセンス販売</a:t>
            </a:r>
            <a:r>
              <a:rPr sz="1350" b="0" dirty="0">
                <a:solidFill>
                  <a:srgbClr val="FFFFFF"/>
                </a:solidFill>
              </a:rPr>
              <a:t>）</a:t>
            </a:r>
            <a:endParaRPr lang="en-US"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endParaRPr sz="1350" b="0" dirty="0">
              <a:solidFill>
                <a:srgbClr val="FFFFFF"/>
              </a:solidFill>
            </a:endParaRP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社会的インパクト投資</a:t>
            </a:r>
            <a:r>
              <a:rPr sz="1350" b="0" dirty="0">
                <a:solidFill>
                  <a:srgbClr val="FFFFFF"/>
                </a:solidFill>
              </a:rPr>
              <a:t>・</a:t>
            </a:r>
          </a:p>
          <a:p>
            <a:pPr algn="l"/>
            <a:r>
              <a:rPr sz="1350" b="0" dirty="0" err="1">
                <a:solidFill>
                  <a:srgbClr val="FFFFFF"/>
                </a:solidFill>
              </a:rPr>
              <a:t>ESG資金の活用</a:t>
            </a:r>
            <a:endParaRPr sz="1350" b="0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6080760"/>
            <a:ext cx="11643360" cy="411480"/>
          </a:xfrm>
          <a:prstGeom prst="roundRect">
            <a:avLst>
              <a:gd name="adj" fmla="val 15000"/>
            </a:avLst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</a:rPr>
              <a:t>目標：リリース1年以内に月額収益30万円超・単月黒字化を目指す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既存サービスにはない、3つの独自価値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881120" cy="54406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881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365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当事者家族が作るUX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01368"/>
            <a:ext cx="365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使う人の気持ちが分かる設計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148840"/>
            <a:ext cx="3606800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2221991"/>
            <a:ext cx="3652520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開発者自身が障がい児の父親。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既存ツールの「難しくて使えない」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「現場感がない」という声に応え、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徹底した使いやすさを追求。</a:t>
            </a:r>
          </a:p>
          <a:p>
            <a:pPr algn="l"/>
            <a:endParaRPr sz="1000" b="0">
              <a:solidFill>
                <a:srgbClr val="94A3B8"/>
              </a:solidFill>
            </a:endParaRPr>
          </a:p>
          <a:p>
            <a:pPr algn="l"/>
            <a:r>
              <a:rPr sz="1000" b="0">
                <a:solidFill>
                  <a:srgbClr val="94A3B8"/>
                </a:solidFill>
              </a:rPr>
              <a:t>支援員・利用者・家族の三者が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自然に使えるUIを実現。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6879" y="960120"/>
            <a:ext cx="3881120" cy="54406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6879" y="960120"/>
            <a:ext cx="3881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4040" y="10515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4040" y="1463040"/>
            <a:ext cx="365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就労支援×放課後デイの一体化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4040" y="1801368"/>
            <a:ext cx="365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子どもから大人まで、切れ目のない支援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4040" y="2148840"/>
            <a:ext cx="3606800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4040" y="2221991"/>
            <a:ext cx="3652520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就労支援と放課後デイを一つの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プラットフォームで提供するサービスは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国内でも希少。</a:t>
            </a:r>
          </a:p>
          <a:p>
            <a:pPr algn="l"/>
            <a:endParaRPr sz="1000" b="0">
              <a:solidFill>
                <a:srgbClr val="94A3B8"/>
              </a:solidFill>
            </a:endParaRPr>
          </a:p>
          <a:p>
            <a:pPr algn="l"/>
            <a:r>
              <a:rPr sz="1000" b="0">
                <a:solidFill>
                  <a:srgbClr val="94A3B8"/>
                </a:solidFill>
              </a:rPr>
              <a:t>子ども時代の発達記録を大人の就労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支援につなげる「ライフステージを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超えた継続支援」が実現できる。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9440" y="960120"/>
            <a:ext cx="3881120" cy="54406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19440" y="960120"/>
            <a:ext cx="3881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6600" y="10515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600" y="1463040"/>
            <a:ext cx="365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AIアバターによる24時間サポート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1801368"/>
            <a:ext cx="365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支援員がいない時間も、孤立させない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6600" y="2148840"/>
            <a:ext cx="3606800" cy="9144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6600" y="2221991"/>
            <a:ext cx="3652520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自分に似たアバターとのAIチャットで、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悩みや不安をいつでも吐き出せる。</a:t>
            </a:r>
          </a:p>
          <a:p>
            <a:pPr algn="l"/>
            <a:endParaRPr sz="1000" b="0">
              <a:solidFill>
                <a:srgbClr val="94A3B8"/>
              </a:solidFill>
            </a:endParaRPr>
          </a:p>
          <a:p>
            <a:pPr algn="l"/>
            <a:r>
              <a:rPr sz="1000" b="0">
                <a:solidFill>
                  <a:srgbClr val="94A3B8"/>
                </a:solidFill>
              </a:rPr>
              <a:t>従来の支援ツールにはない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「感情的なサポート機能」が、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就労定着率向上に直結する。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クラウドファンディング 300万円の根拠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116000"/>
            <a:ext cx="10620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0B981"/>
                </a:solidFill>
              </a:rPr>
              <a:t>エンジニア単価 約8</a:t>
            </a:r>
            <a:r>
              <a:rPr lang="en-US" sz="1700" b="1">
                <a:solidFill>
                  <a:srgbClr val="10B981"/>
                </a:solidFill>
              </a:rPr>
              <a:t>0</a:t>
            </a:r>
            <a:r>
              <a:rPr sz="1700" b="1">
                <a:solidFill>
                  <a:srgbClr val="10B981"/>
                </a:solidFill>
              </a:rPr>
              <a:t>万円/月 × 3ヶ月 = 2</a:t>
            </a:r>
            <a:r>
              <a:rPr lang="en-US" sz="1700" b="1">
                <a:solidFill>
                  <a:srgbClr val="10B981"/>
                </a:solidFill>
              </a:rPr>
              <a:t>4</a:t>
            </a:r>
            <a:r>
              <a:rPr sz="1700" b="1">
                <a:solidFill>
                  <a:srgbClr val="10B981"/>
                </a:solidFill>
              </a:rPr>
              <a:t>0万円 ＋ 運営費</a:t>
            </a:r>
            <a:r>
              <a:rPr lang="en-US" sz="1700" b="1">
                <a:solidFill>
                  <a:srgbClr val="10B981"/>
                </a:solidFill>
              </a:rPr>
              <a:t>60</a:t>
            </a:r>
            <a:r>
              <a:rPr sz="1700" b="1">
                <a:solidFill>
                  <a:srgbClr val="10B981"/>
                </a:solidFill>
              </a:rPr>
              <a:t>万円 = 合計300万円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6660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4000" y="1458000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</a:rPr>
              <a:t>  項目                                金額        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02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1602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000" y="1656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開発人件費（約83万×3ヶ月）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1999" y="1656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  <a:r>
              <a:rPr lang="en-US" sz="1100" b="1">
                <a:solidFill>
                  <a:srgbClr val="10B981"/>
                </a:solidFill>
              </a:rPr>
              <a:t>4</a:t>
            </a:r>
            <a:r>
              <a:rPr sz="1100" b="1">
                <a:solidFill>
                  <a:srgbClr val="10B981"/>
                </a:solidFill>
              </a:rPr>
              <a:t>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1656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設計・実装・テスト・リリース・保守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034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" y="2034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2088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AWSインフラ費（3ヶ月分）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1999" y="2088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</a:t>
            </a:r>
            <a:r>
              <a:rPr lang="en-US" sz="1100" b="1">
                <a:solidFill>
                  <a:srgbClr val="10B981"/>
                </a:solidFill>
              </a:rPr>
              <a:t>6</a:t>
            </a:r>
            <a:r>
              <a:rPr sz="1100" b="1">
                <a:solidFill>
                  <a:srgbClr val="10B981"/>
                </a:solidFill>
              </a:rPr>
              <a:t>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2088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EC2・RDS・S3・CloudFront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466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000" y="2466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4000" y="2520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広報・PR費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1999" y="2520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20万円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0000" y="2520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SNS広告、プレスリリース、チラシ制作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2898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000" y="2898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4000" y="2952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デザイン・UX制作費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1999" y="2952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12万円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295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UI改善、アイコン、動画制作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3330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0000" y="3330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4000" y="3384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イベント・説明会開催費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1999" y="3384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</a:t>
            </a:r>
            <a:r>
              <a:rPr lang="en-US" sz="1100" b="1">
                <a:solidFill>
                  <a:srgbClr val="10B981"/>
                </a:solidFill>
              </a:rPr>
              <a:t>6</a:t>
            </a:r>
            <a:r>
              <a:rPr sz="1100" b="1">
                <a:solidFill>
                  <a:srgbClr val="10B981"/>
                </a:solidFill>
              </a:rPr>
              <a:t>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338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福祉事業所向け説明会、デモ展示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3762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0000" y="3762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4000" y="3816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福祉事業所導入サポート費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1999" y="3816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6万円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0000" y="3816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初期研修・マニュアル・問い合わせ対応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4230000"/>
            <a:ext cx="66600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4000" y="4284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</a:rPr>
              <a:t>合計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1999" y="4284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</a:rPr>
              <a:t>300万円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4698000"/>
            <a:ext cx="6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※AWSは月約1</a:t>
            </a:r>
            <a:r>
              <a:rPr lang="en-US" sz="900" b="0">
                <a:solidFill>
                  <a:srgbClr val="94A3B8"/>
                </a:solidFill>
              </a:rPr>
              <a:t>~2</a:t>
            </a:r>
            <a:r>
              <a:rPr sz="900" b="0">
                <a:solidFill>
                  <a:srgbClr val="94A3B8"/>
                </a:solidFill>
              </a:rPr>
              <a:t>万円〜のスモールスタート。利用者増加に応じてスケールアップ</a:t>
            </a:r>
            <a:r>
              <a:rPr lang="ja-JP" altLang="en-US" sz="900" b="0">
                <a:solidFill>
                  <a:srgbClr val="94A3B8"/>
                </a:solidFill>
              </a:rPr>
              <a:t>予定</a:t>
            </a:r>
            <a:r>
              <a:rPr sz="900" b="0">
                <a:solidFill>
                  <a:srgbClr val="94A3B8"/>
                </a:solidFill>
              </a:rPr>
              <a:t>。
※フリーランスエンジニア市場単価：月60〜120万円が相場。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60000" y="1440000"/>
            <a:ext cx="4320000" cy="320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60000" y="1440000"/>
            <a:ext cx="4320000" cy="14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68000" y="1638000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▼ 開発人件費 2</a:t>
            </a:r>
            <a:r>
              <a:rPr lang="en-US" sz="1200" b="1">
                <a:solidFill>
                  <a:srgbClr val="10B981"/>
                </a:solidFill>
              </a:rPr>
              <a:t>4</a:t>
            </a:r>
            <a:r>
              <a:rPr sz="1200" b="1">
                <a:solidFill>
                  <a:srgbClr val="10B981"/>
                </a:solidFill>
              </a:rPr>
              <a:t>0万円の内訳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00" y="1982509"/>
            <a:ext cx="4176000" cy="195492"/>
          </a:xfrm>
          <a:prstGeom prst="rect">
            <a:avLst/>
          </a:prstGeom>
          <a:solidFill>
            <a:srgbClr val="0A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5999" y="1975649"/>
            <a:ext cx="1296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工程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8000" y="1975649"/>
            <a:ext cx="684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</a:rPr>
              <a:t>期間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000" y="1975649"/>
            <a:ext cx="1980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内容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2000" y="22932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85999" y="23220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要件定義・設計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18000" y="23220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2週間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000" y="2322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システム設計、DB設計、UI/UXワイヤーフレーム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2000" y="2732400"/>
            <a:ext cx="4176000" cy="4248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85999" y="27612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バックエンド開発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18000" y="27612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4週間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000" y="276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Django/Python、API実装、AI連携（OpenAI）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2000" y="31716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85999" y="32004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フロントエンド開発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18000" y="32004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3週間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56000" y="32004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画面実装、レスポンシブ対応、アバター機能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2000" y="3610800"/>
            <a:ext cx="4176000" cy="4248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85999" y="36396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テスト・品質保証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18000" y="36396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2週間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56000" y="36396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単体テスト、結合テスト、セキュリティ確認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2000" y="40500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5999" y="40788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リリース・導入支援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8000" y="40788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1週間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6000" y="40788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本番環境構築、マニュアル作成、初期サポート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21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0260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>
                <a:solidFill>
                  <a:srgbClr val="F8FAFC"/>
                </a:solidFill>
              </a:rPr>
              <a:t>障がいのある人も、その家族も、支援する人も——
みんながもっと笑顔になれる社会を、多治見から作ります。
</a:t>
            </a:r>
            <a:r>
              <a:rPr lang="en-US" sz="1700">
                <a:solidFill>
                  <a:srgbClr val="F8FAFC"/>
                </a:solidFill>
              </a:rPr>
              <a:t>ご検討の程よろしくお願い致します。</a:t>
            </a:r>
            <a:endParaRPr sz="1700">
              <a:solidFill>
                <a:srgbClr val="F8FAF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522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特定非営利活動法人 思いやりの糸 / HIローズ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616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代表 廣瀬 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920</Words>
  <Application>Microsoft Macintosh PowerPoint</Application>
  <PresentationFormat>ワイド画面</PresentationFormat>
  <Paragraphs>217</Paragraphs>
  <Slides>13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Matsunaga Naoto (松永 直人)</cp:lastModifiedBy>
  <cp:revision>5</cp:revision>
  <dcterms:created xsi:type="dcterms:W3CDTF">2013-01-27T09:14:16Z</dcterms:created>
  <dcterms:modified xsi:type="dcterms:W3CDTF">2026-07-28T00:55:51Z</dcterms:modified>
  <cp:category/>
</cp:coreProperties>
</file>